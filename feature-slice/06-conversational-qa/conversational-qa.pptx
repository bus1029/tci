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1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39C"/>
    <a:srgbClr val="899197"/>
    <a:srgbClr val="BBDEF8"/>
    <a:srgbClr val="5CB5FE"/>
    <a:srgbClr val="6D757E"/>
    <a:srgbClr val="1A75D2"/>
    <a:srgbClr val="415B88"/>
    <a:srgbClr val="F8F9FA"/>
    <a:srgbClr val="51575C"/>
    <a:srgbClr val="EBF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457"/>
  </p:normalViewPr>
  <p:slideViewPr>
    <p:cSldViewPr snapToGrid="0">
      <p:cViewPr>
        <p:scale>
          <a:sx n="167" d="100"/>
          <a:sy n="167" d="100"/>
        </p:scale>
        <p:origin x="-832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2026. 4. 16.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9" r:id="rId3"/>
    <p:sldLayoutId id="2147483670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CCED3B5-6117-6C7E-273C-62C411C3E563}"/>
              </a:ext>
            </a:extLst>
          </p:cNvPr>
          <p:cNvSpPr/>
          <p:nvPr/>
        </p:nvSpPr>
        <p:spPr>
          <a:xfrm>
            <a:off x="790384" y="1592120"/>
            <a:ext cx="3153259" cy="2128462"/>
          </a:xfrm>
          <a:prstGeom prst="rect">
            <a:avLst/>
          </a:prstGeom>
          <a:solidFill>
            <a:srgbClr val="E8F4FD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>
                <a:latin typeface="+mn-ea"/>
              </a:rPr>
              <a:t>Web Application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02F4D657-C665-DD75-8F39-1C645DCA0328}"/>
              </a:ext>
            </a:extLst>
          </p:cNvPr>
          <p:cNvSpPr/>
          <p:nvPr/>
        </p:nvSpPr>
        <p:spPr>
          <a:xfrm>
            <a:off x="1794487" y="811694"/>
            <a:ext cx="1325880" cy="566928"/>
          </a:xfrm>
          <a:prstGeom prst="roundRect">
            <a:avLst/>
          </a:prstGeom>
          <a:solidFill>
            <a:srgbClr val="08427B"/>
          </a:solidFill>
          <a:ln w="12700">
            <a:solidFill>
              <a:srgbClr val="0842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PM / PO</a:t>
            </a:r>
            <a:endParaRPr dirty="0">
              <a:latin typeface="+mn-ea"/>
            </a:endParaRP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자연어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질의</a:t>
            </a:r>
            <a:r>
              <a:rPr lang="en-US" dirty="0">
                <a:latin typeface="+mn-ea"/>
              </a:rPr>
              <a:t>, </a:t>
            </a:r>
            <a:r>
              <a:rPr dirty="0" err="1">
                <a:latin typeface="+mn-ea"/>
              </a:rPr>
              <a:t>후속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질문</a:t>
            </a:r>
            <a:endParaRPr dirty="0">
              <a:latin typeface="+mn-ea"/>
            </a:endParaRP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답변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평가</a:t>
            </a:r>
            <a:r>
              <a:rPr lang="en-US" dirty="0">
                <a:latin typeface="+mn-ea"/>
              </a:rPr>
              <a:t>, </a:t>
            </a:r>
            <a:r>
              <a:rPr dirty="0" err="1">
                <a:latin typeface="+mn-ea"/>
              </a:rPr>
              <a:t>큐레이션</a:t>
            </a:r>
            <a:endParaRPr dirty="0">
              <a:latin typeface="+mn-ea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8209DAC-151A-89B1-DE48-1FEAAEABF2B6}"/>
              </a:ext>
            </a:extLst>
          </p:cNvPr>
          <p:cNvSpPr/>
          <p:nvPr/>
        </p:nvSpPr>
        <p:spPr>
          <a:xfrm>
            <a:off x="1785186" y="2063295"/>
            <a:ext cx="1166417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dirty="0">
                <a:latin typeface="+mn-ea"/>
              </a:rPr>
              <a:t>Conversation Gateway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대화</a:t>
            </a:r>
            <a:r>
              <a:rPr dirty="0">
                <a:latin typeface="+mn-ea"/>
              </a:rPr>
              <a:t> UI </a:t>
            </a:r>
            <a:r>
              <a:rPr dirty="0" err="1">
                <a:latin typeface="+mn-ea"/>
              </a:rPr>
              <a:t>진입점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세션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메시지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중계</a:t>
            </a:r>
            <a:endParaRPr dirty="0">
              <a:latin typeface="+mn-ea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7584A3E-974D-D31B-CE31-11AF40310C0D}"/>
              </a:ext>
            </a:extLst>
          </p:cNvPr>
          <p:cNvSpPr/>
          <p:nvPr/>
        </p:nvSpPr>
        <p:spPr>
          <a:xfrm>
            <a:off x="2870069" y="2952200"/>
            <a:ext cx="903808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Auth Gateway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권한 확인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접근 제어</a:t>
            </a:r>
            <a:endParaRPr dirty="0">
              <a:latin typeface="+mn-ea"/>
            </a:endParaRPr>
          </a:p>
        </p:txBody>
      </p:sp>
      <p:cxnSp>
        <p:nvCxnSpPr>
          <p:cNvPr id="7" name="직선 화살표 연결선 10">
            <a:extLst>
              <a:ext uri="{FF2B5EF4-FFF2-40B4-BE49-F238E27FC236}">
                <a16:creationId xmlns:a16="http://schemas.microsoft.com/office/drawing/2014/main" id="{B99E80E7-3FB0-9985-2B3B-8D0D7AA3A16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2684196" y="2314422"/>
            <a:ext cx="321977" cy="953578"/>
          </a:xfrm>
          <a:prstGeom prst="bentConnector3">
            <a:avLst>
              <a:gd name="adj1" fmla="val 65778"/>
            </a:avLst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4">
            <a:extLst>
              <a:ext uri="{FF2B5EF4-FFF2-40B4-BE49-F238E27FC236}">
                <a16:creationId xmlns:a16="http://schemas.microsoft.com/office/drawing/2014/main" id="{5008727C-5419-BD62-5539-926649818CF9}"/>
              </a:ext>
            </a:extLst>
          </p:cNvPr>
          <p:cNvSpPr/>
          <p:nvPr/>
        </p:nvSpPr>
        <p:spPr>
          <a:xfrm>
            <a:off x="4024479" y="839891"/>
            <a:ext cx="5510646" cy="2880691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>
                <a:latin typeface="+mn-ea"/>
              </a:rPr>
              <a:t>Interactive Assistant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1FF0CDB3-147F-B04F-581E-CD59B2D7072E}"/>
              </a:ext>
            </a:extLst>
          </p:cNvPr>
          <p:cNvSpPr/>
          <p:nvPr/>
        </p:nvSpPr>
        <p:spPr>
          <a:xfrm>
            <a:off x="6229005" y="1116432"/>
            <a:ext cx="1166417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Session Manager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세션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대화 이력 유지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후속 질문 컨텍스트 관리</a:t>
            </a:r>
            <a:endParaRPr dirty="0">
              <a:latin typeface="+mn-e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C77B56-DBB6-4544-B681-B8E9D9546596}"/>
              </a:ext>
            </a:extLst>
          </p:cNvPr>
          <p:cNvSpPr/>
          <p:nvPr/>
        </p:nvSpPr>
        <p:spPr>
          <a:xfrm>
            <a:off x="7830450" y="1610601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Query Router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질의 의도 분류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 err="1">
                <a:latin typeface="+mn-ea"/>
              </a:rPr>
              <a:t>핸들러</a:t>
            </a:r>
            <a:r>
              <a:rPr lang="ko-KR" altLang="en-US" dirty="0">
                <a:latin typeface="+mn-ea"/>
              </a:rPr>
              <a:t> 라우팅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컨텍스트 범위 적용</a:t>
            </a:r>
            <a:endParaRPr dirty="0">
              <a:latin typeface="+mn-ea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03C6FC1C-CC66-4201-10A4-E4125343D1AD}"/>
              </a:ext>
            </a:extLst>
          </p:cNvPr>
          <p:cNvSpPr/>
          <p:nvPr/>
        </p:nvSpPr>
        <p:spPr>
          <a:xfrm>
            <a:off x="7830450" y="2435631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QA Handler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근거 포함 답변 생성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en-US" altLang="ko-KR" dirty="0">
                <a:latin typeface="+mn-ea"/>
              </a:rPr>
              <a:t>LLM </a:t>
            </a:r>
            <a:r>
              <a:rPr lang="ko-KR" altLang="en-US" dirty="0">
                <a:latin typeface="+mn-ea"/>
              </a:rPr>
              <a:t>호출 근거 정합성 검증</a:t>
            </a:r>
            <a:endParaRPr dirty="0">
              <a:latin typeface="+mn-ea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9F51361-9ED6-8769-1DF8-AB5B0CB33B1C}"/>
              </a:ext>
            </a:extLst>
          </p:cNvPr>
          <p:cNvSpPr/>
          <p:nvPr/>
        </p:nvSpPr>
        <p:spPr>
          <a:xfrm>
            <a:off x="5869199" y="3059572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Context Assembler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하이브리드 컨텍스트 조립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근거 후보 수집</a:t>
            </a:r>
            <a:endParaRPr dirty="0">
              <a:latin typeface="+mn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51CDEC0-3EDE-B8BA-D0C1-A56DA388812B}"/>
              </a:ext>
            </a:extLst>
          </p:cNvPr>
          <p:cNvSpPr/>
          <p:nvPr/>
        </p:nvSpPr>
        <p:spPr>
          <a:xfrm>
            <a:off x="4280720" y="3060692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Response Renderer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응답 포맷 변환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근거 링크 부착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평가 수집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자산 적재</a:t>
            </a:r>
            <a:endParaRPr dirty="0">
              <a:latin typeface="+mn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F3E74BF-5BAC-1E82-824D-2D33A6720B05}"/>
              </a:ext>
            </a:extLst>
          </p:cNvPr>
          <p:cNvGrpSpPr/>
          <p:nvPr/>
        </p:nvGrpSpPr>
        <p:grpSpPr>
          <a:xfrm>
            <a:off x="9665847" y="3769814"/>
            <a:ext cx="1783080" cy="1005840"/>
            <a:chOff x="4237345" y="4954856"/>
            <a:chExt cx="1783080" cy="1005840"/>
          </a:xfrm>
        </p:grpSpPr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17F203C3-9C9C-74F3-5F52-1815819BD4D8}"/>
                </a:ext>
              </a:extLst>
            </p:cNvPr>
            <p:cNvSpPr/>
            <p:nvPr/>
          </p:nvSpPr>
          <p:spPr>
            <a:xfrm>
              <a:off x="4237345" y="4954856"/>
              <a:ext cx="1783080" cy="1005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B4C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27432" rtlCol="0" anchor="t"/>
            <a:lstStyle/>
            <a:p>
              <a:pPr algn="ctr">
                <a:defRPr sz="900" b="1">
                  <a:solidFill>
                    <a:srgbClr val="2D2D2D"/>
                  </a:solidFill>
                </a:defRPr>
              </a:pPr>
              <a:r>
                <a:rPr>
                  <a:latin typeface="+mn-ea"/>
                </a:rPr>
                <a:t>External</a:t>
              </a:r>
            </a:p>
          </p:txBody>
        </p:sp>
        <p:sp>
          <p:nvSpPr>
            <p:cNvPr id="16" name="Rectangle 21">
              <a:extLst>
                <a:ext uri="{FF2B5EF4-FFF2-40B4-BE49-F238E27FC236}">
                  <a16:creationId xmlns:a16="http://schemas.microsoft.com/office/drawing/2014/main" id="{06A95DFA-28A9-13BD-A5F2-775529D7BF8F}"/>
                </a:ext>
              </a:extLst>
            </p:cNvPr>
            <p:cNvSpPr/>
            <p:nvPr/>
          </p:nvSpPr>
          <p:spPr>
            <a:xfrm>
              <a:off x="4575673" y="5302328"/>
              <a:ext cx="1097280" cy="530352"/>
            </a:xfrm>
            <a:prstGeom prst="rect">
              <a:avLst/>
            </a:prstGeom>
            <a:solidFill>
              <a:srgbClr val="6B4C9A"/>
            </a:solidFill>
            <a:ln w="12700">
              <a:solidFill>
                <a:srgbClr val="6B4C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18288" rIns="45720" bIns="18288" rtlCol="0" anchor="ctr"/>
            <a:lstStyle/>
            <a:p>
              <a:pPr algn="ctr">
                <a:defRPr sz="710" b="1">
                  <a:solidFill>
                    <a:srgbClr val="FFFFFF"/>
                  </a:solidFill>
                </a:defRPr>
              </a:pPr>
              <a:r>
                <a:rPr>
                  <a:latin typeface="+mn-ea"/>
                </a:rPr>
                <a:t>LLM</a:t>
              </a:r>
            </a:p>
            <a:p>
              <a:pPr algn="ctr">
                <a:defRPr sz="710" b="0">
                  <a:solidFill>
                    <a:srgbClr val="FFFFFF"/>
                  </a:solidFill>
                </a:defRPr>
              </a:pPr>
              <a:r>
                <a:rPr>
                  <a:latin typeface="+mn-ea"/>
                </a:rPr>
                <a:t>외부 시스템</a:t>
              </a:r>
            </a:p>
            <a:p>
              <a:pPr algn="ctr">
                <a:defRPr sz="710" b="0">
                  <a:solidFill>
                    <a:srgbClr val="FFFFFF"/>
                  </a:solidFill>
                </a:defRPr>
              </a:pPr>
              <a:r>
                <a:rPr>
                  <a:latin typeface="+mn-ea"/>
                </a:rPr>
                <a:t>자연어 답변 합성</a:t>
              </a:r>
            </a:p>
          </p:txBody>
        </p:sp>
      </p:grpSp>
      <p:sp>
        <p:nvSpPr>
          <p:cNvPr id="17" name="Rectangle 6">
            <a:extLst>
              <a:ext uri="{FF2B5EF4-FFF2-40B4-BE49-F238E27FC236}">
                <a16:creationId xmlns:a16="http://schemas.microsoft.com/office/drawing/2014/main" id="{52D31143-1E9E-30B1-A737-E055F2D6E6C6}"/>
              </a:ext>
            </a:extLst>
          </p:cNvPr>
          <p:cNvSpPr/>
          <p:nvPr/>
        </p:nvSpPr>
        <p:spPr>
          <a:xfrm>
            <a:off x="4021314" y="3769814"/>
            <a:ext cx="5510646" cy="1697873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>
                <a:latin typeface="+mn-ea"/>
              </a:rPr>
              <a:t>Knowledge Base</a:t>
            </a:r>
          </a:p>
        </p:txBody>
      </p:sp>
      <p:sp>
        <p:nvSpPr>
          <p:cNvPr id="18" name="Can 18">
            <a:extLst>
              <a:ext uri="{FF2B5EF4-FFF2-40B4-BE49-F238E27FC236}">
                <a16:creationId xmlns:a16="http://schemas.microsoft.com/office/drawing/2014/main" id="{4CC94F05-E488-A1B6-29E2-B24125D98E02}"/>
              </a:ext>
            </a:extLst>
          </p:cNvPr>
          <p:cNvSpPr/>
          <p:nvPr/>
        </p:nvSpPr>
        <p:spPr>
          <a:xfrm>
            <a:off x="7970902" y="4826843"/>
            <a:ext cx="141732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구조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지식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그래프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코드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구조</a:t>
            </a:r>
            <a:r>
              <a:rPr lang="en-US" dirty="0">
                <a:latin typeface="+mn-ea"/>
              </a:rPr>
              <a:t>, </a:t>
            </a:r>
            <a:r>
              <a:rPr dirty="0" err="1">
                <a:latin typeface="+mn-ea"/>
              </a:rPr>
              <a:t>의존</a:t>
            </a:r>
            <a:r>
              <a:rPr lang="en-US" dirty="0">
                <a:latin typeface="+mn-ea"/>
              </a:rPr>
              <a:t>, </a:t>
            </a:r>
            <a:r>
              <a:rPr dirty="0" err="1">
                <a:latin typeface="+mn-ea"/>
              </a:rPr>
              <a:t>흐름</a:t>
            </a:r>
            <a:endParaRPr dirty="0">
              <a:latin typeface="+mn-ea"/>
            </a:endParaRPr>
          </a:p>
        </p:txBody>
      </p:sp>
      <p:sp>
        <p:nvSpPr>
          <p:cNvPr id="19" name="Can 19">
            <a:extLst>
              <a:ext uri="{FF2B5EF4-FFF2-40B4-BE49-F238E27FC236}">
                <a16:creationId xmlns:a16="http://schemas.microsoft.com/office/drawing/2014/main" id="{70B053CB-7D5A-BE5F-7874-0F2D086C332D}"/>
              </a:ext>
            </a:extLst>
          </p:cNvPr>
          <p:cNvSpPr/>
          <p:nvPr/>
        </p:nvSpPr>
        <p:spPr>
          <a:xfrm>
            <a:off x="6100156" y="4826843"/>
            <a:ext cx="169164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비즈니스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규칙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카탈로그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규칙</a:t>
            </a:r>
            <a:r>
              <a:rPr lang="en-US" dirty="0">
                <a:latin typeface="+mn-ea"/>
              </a:rPr>
              <a:t>, </a:t>
            </a:r>
            <a:r>
              <a:rPr dirty="0" err="1">
                <a:latin typeface="+mn-ea"/>
              </a:rPr>
              <a:t>규칙-코드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링크</a:t>
            </a:r>
            <a:endParaRPr dirty="0">
              <a:latin typeface="+mn-ea"/>
            </a:endParaRPr>
          </a:p>
        </p:txBody>
      </p:sp>
      <p:sp>
        <p:nvSpPr>
          <p:cNvPr id="20" name="Can 20">
            <a:extLst>
              <a:ext uri="{FF2B5EF4-FFF2-40B4-BE49-F238E27FC236}">
                <a16:creationId xmlns:a16="http://schemas.microsoft.com/office/drawing/2014/main" id="{D5CB02BF-A131-DBA4-5AC8-D5D781B9D2F0}"/>
              </a:ext>
            </a:extLst>
          </p:cNvPr>
          <p:cNvSpPr/>
          <p:nvPr/>
        </p:nvSpPr>
        <p:spPr>
          <a:xfrm>
            <a:off x="4183690" y="4826843"/>
            <a:ext cx="173736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>
                <a:latin typeface="+mn-ea"/>
              </a:rPr>
              <a:t>답변 지식 베이스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>
                <a:latin typeface="+mn-ea"/>
              </a:rPr>
              <a:t>근거 포함 답변 자산·평가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177ACBA-2202-B63E-0F64-AC7DCB2C035F}"/>
              </a:ext>
            </a:extLst>
          </p:cNvPr>
          <p:cNvSpPr/>
          <p:nvPr/>
        </p:nvSpPr>
        <p:spPr>
          <a:xfrm>
            <a:off x="6100156" y="4029543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Knowledge Query Facade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하이브리드 질의 단일 </a:t>
            </a:r>
            <a:r>
              <a:rPr lang="ko-KR" altLang="en-US" dirty="0" err="1">
                <a:latin typeface="+mn-ea"/>
              </a:rPr>
              <a:t>진입점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 err="1">
                <a:latin typeface="+mn-ea"/>
              </a:rPr>
              <a:t>캐싱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권한 필터</a:t>
            </a:r>
            <a:endParaRPr dirty="0">
              <a:latin typeface="+mn-ea"/>
            </a:endParaRP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C508CC57-A17C-EA79-D2D9-C9E30E780472}"/>
              </a:ext>
            </a:extLst>
          </p:cNvPr>
          <p:cNvSpPr/>
          <p:nvPr/>
        </p:nvSpPr>
        <p:spPr>
          <a:xfrm>
            <a:off x="959530" y="2952200"/>
            <a:ext cx="150727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Feedback Gateway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답변 평가 자산화 요청 중계</a:t>
            </a:r>
            <a:endParaRPr dirty="0">
              <a:latin typeface="+mn-ea"/>
            </a:endParaRPr>
          </a:p>
        </p:txBody>
      </p:sp>
      <p:cxnSp>
        <p:nvCxnSpPr>
          <p:cNvPr id="23" name="직선 화살표 연결선 8">
            <a:extLst>
              <a:ext uri="{FF2B5EF4-FFF2-40B4-BE49-F238E27FC236}">
                <a16:creationId xmlns:a16="http://schemas.microsoft.com/office/drawing/2014/main" id="{D5668B19-0889-9D72-FD72-07C713700748}"/>
              </a:ext>
            </a:extLst>
          </p:cNvPr>
          <p:cNvCxnSpPr>
            <a:cxnSpLocks/>
            <a:stCxn id="13" idx="2"/>
            <a:endCxn id="20" idx="1"/>
          </p:cNvCxnSpPr>
          <p:nvPr/>
        </p:nvCxnSpPr>
        <p:spPr>
          <a:xfrm>
            <a:off x="4993342" y="3627620"/>
            <a:ext cx="0" cy="1199223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8">
            <a:extLst>
              <a:ext uri="{FF2B5EF4-FFF2-40B4-BE49-F238E27FC236}">
                <a16:creationId xmlns:a16="http://schemas.microsoft.com/office/drawing/2014/main" id="{0057AACE-CED3-F90B-065E-357DA4379B70}"/>
              </a:ext>
            </a:extLst>
          </p:cNvPr>
          <p:cNvCxnSpPr>
            <a:cxnSpLocks/>
            <a:stCxn id="22" idx="2"/>
            <a:endCxn id="13" idx="1"/>
          </p:cNvCxnSpPr>
          <p:nvPr/>
        </p:nvCxnSpPr>
        <p:spPr>
          <a:xfrm rot="5400000" flipH="1" flipV="1">
            <a:off x="2909456" y="2147864"/>
            <a:ext cx="174972" cy="2567555"/>
          </a:xfrm>
          <a:prstGeom prst="bentConnector4">
            <a:avLst>
              <a:gd name="adj1" fmla="val -130649"/>
              <a:gd name="adj2" fmla="val 88418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8">
            <a:extLst>
              <a:ext uri="{FF2B5EF4-FFF2-40B4-BE49-F238E27FC236}">
                <a16:creationId xmlns:a16="http://schemas.microsoft.com/office/drawing/2014/main" id="{391C1A95-6FA2-8E35-9665-D6AE1DF61B29}"/>
              </a:ext>
            </a:extLst>
          </p:cNvPr>
          <p:cNvCxnSpPr>
            <a:cxnSpLocks/>
            <a:endCxn id="4" idx="1"/>
          </p:cNvCxnSpPr>
          <p:nvPr/>
        </p:nvCxnSpPr>
        <p:spPr>
          <a:xfrm rot="5400000">
            <a:off x="1169541" y="1731114"/>
            <a:ext cx="1231290" cy="12700"/>
          </a:xfrm>
          <a:prstGeom prst="bentConnector4">
            <a:avLst>
              <a:gd name="adj1" fmla="val -1393"/>
              <a:gd name="adj2" fmla="val 6166661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8">
            <a:extLst>
              <a:ext uri="{FF2B5EF4-FFF2-40B4-BE49-F238E27FC236}">
                <a16:creationId xmlns:a16="http://schemas.microsoft.com/office/drawing/2014/main" id="{3A2E837C-8483-958D-AAED-D752156D34A5}"/>
              </a:ext>
            </a:extLst>
          </p:cNvPr>
          <p:cNvCxnSpPr>
            <a:cxnSpLocks/>
            <a:endCxn id="3" idx="3"/>
          </p:cNvCxnSpPr>
          <p:nvPr/>
        </p:nvCxnSpPr>
        <p:spPr>
          <a:xfrm rot="5400000" flipH="1" flipV="1">
            <a:off x="2481390" y="1559022"/>
            <a:ext cx="1102841" cy="175114"/>
          </a:xfrm>
          <a:prstGeom prst="bentConnector4">
            <a:avLst>
              <a:gd name="adj1" fmla="val -1545"/>
              <a:gd name="adj2" fmla="val 230544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8">
            <a:extLst>
              <a:ext uri="{FF2B5EF4-FFF2-40B4-BE49-F238E27FC236}">
                <a16:creationId xmlns:a16="http://schemas.microsoft.com/office/drawing/2014/main" id="{E3FB966C-9B24-9321-6AAC-5E6301AB33C9}"/>
              </a:ext>
            </a:extLst>
          </p:cNvPr>
          <p:cNvCxnSpPr>
            <a:cxnSpLocks/>
            <a:endCxn id="22" idx="1"/>
          </p:cNvCxnSpPr>
          <p:nvPr/>
        </p:nvCxnSpPr>
        <p:spPr>
          <a:xfrm rot="5400000">
            <a:off x="217142" y="1661268"/>
            <a:ext cx="2316785" cy="832007"/>
          </a:xfrm>
          <a:prstGeom prst="bentConnector4">
            <a:avLst>
              <a:gd name="adj1" fmla="val 861"/>
              <a:gd name="adj2" fmla="val 145793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8">
            <a:extLst>
              <a:ext uri="{FF2B5EF4-FFF2-40B4-BE49-F238E27FC236}">
                <a16:creationId xmlns:a16="http://schemas.microsoft.com/office/drawing/2014/main" id="{BCC49FF2-3500-00B4-40EA-F6637F6D03E8}"/>
              </a:ext>
            </a:extLst>
          </p:cNvPr>
          <p:cNvCxnSpPr>
            <a:cxnSpLocks/>
          </p:cNvCxnSpPr>
          <p:nvPr/>
        </p:nvCxnSpPr>
        <p:spPr>
          <a:xfrm flipV="1">
            <a:off x="2945253" y="1264831"/>
            <a:ext cx="3277402" cy="1081928"/>
          </a:xfrm>
          <a:prstGeom prst="bentConnector3">
            <a:avLst>
              <a:gd name="adj1" fmla="val 45583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8">
            <a:extLst>
              <a:ext uri="{FF2B5EF4-FFF2-40B4-BE49-F238E27FC236}">
                <a16:creationId xmlns:a16="http://schemas.microsoft.com/office/drawing/2014/main" id="{3B933C4E-91C1-95A2-FE9E-3EB87665335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51603" y="1415128"/>
            <a:ext cx="3277404" cy="1061120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8">
            <a:extLst>
              <a:ext uri="{FF2B5EF4-FFF2-40B4-BE49-F238E27FC236}">
                <a16:creationId xmlns:a16="http://schemas.microsoft.com/office/drawing/2014/main" id="{5358E4B4-5260-7C0A-D754-9B3066E097FA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7395422" y="1399896"/>
            <a:ext cx="1147650" cy="210705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8">
            <a:extLst>
              <a:ext uri="{FF2B5EF4-FFF2-40B4-BE49-F238E27FC236}">
                <a16:creationId xmlns:a16="http://schemas.microsoft.com/office/drawing/2014/main" id="{5E1ED93F-1730-9743-75F5-292759CC18D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8543072" y="2177529"/>
            <a:ext cx="0" cy="25810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8">
            <a:extLst>
              <a:ext uri="{FF2B5EF4-FFF2-40B4-BE49-F238E27FC236}">
                <a16:creationId xmlns:a16="http://schemas.microsoft.com/office/drawing/2014/main" id="{73740EB1-B6F5-F825-F9FD-1B0D35B8915E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9255694" y="2719095"/>
            <a:ext cx="1644981" cy="1393882"/>
          </a:xfrm>
          <a:prstGeom prst="bentConnector3">
            <a:avLst>
              <a:gd name="adj1" fmla="val 99956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8">
            <a:extLst>
              <a:ext uri="{FF2B5EF4-FFF2-40B4-BE49-F238E27FC236}">
                <a16:creationId xmlns:a16="http://schemas.microsoft.com/office/drawing/2014/main" id="{17AC8C0D-E62C-7992-8E03-A459776E8A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9100656" y="3002068"/>
            <a:ext cx="1264465" cy="957353"/>
          </a:xfrm>
          <a:prstGeom prst="bentConnector3">
            <a:avLst>
              <a:gd name="adj1" fmla="val 99917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8">
            <a:extLst>
              <a:ext uri="{FF2B5EF4-FFF2-40B4-BE49-F238E27FC236}">
                <a16:creationId xmlns:a16="http://schemas.microsoft.com/office/drawing/2014/main" id="{3200DEEA-596B-BBF8-8F0D-7294FCD5A2AE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6581821" y="2883286"/>
            <a:ext cx="1248628" cy="176286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8">
            <a:extLst>
              <a:ext uri="{FF2B5EF4-FFF2-40B4-BE49-F238E27FC236}">
                <a16:creationId xmlns:a16="http://schemas.microsoft.com/office/drawing/2014/main" id="{471371B8-7127-60D0-D22F-F0EFAB654DF1}"/>
              </a:ext>
            </a:extLst>
          </p:cNvPr>
          <p:cNvCxnSpPr>
            <a:cxnSpLocks/>
            <a:stCxn id="12" idx="3"/>
            <a:endCxn id="11" idx="2"/>
          </p:cNvCxnSpPr>
          <p:nvPr/>
        </p:nvCxnSpPr>
        <p:spPr>
          <a:xfrm flipV="1">
            <a:off x="7294443" y="3002559"/>
            <a:ext cx="1248629" cy="340477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8">
            <a:extLst>
              <a:ext uri="{FF2B5EF4-FFF2-40B4-BE49-F238E27FC236}">
                <a16:creationId xmlns:a16="http://schemas.microsoft.com/office/drawing/2014/main" id="{379F0519-4B9B-60AE-8B06-E2B2F6FF1D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94122" y="2696357"/>
            <a:ext cx="2636330" cy="356824"/>
          </a:xfrm>
          <a:prstGeom prst="bentConnector3">
            <a:avLst>
              <a:gd name="adj1" fmla="val 100008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8">
            <a:extLst>
              <a:ext uri="{FF2B5EF4-FFF2-40B4-BE49-F238E27FC236}">
                <a16:creationId xmlns:a16="http://schemas.microsoft.com/office/drawing/2014/main" id="{FED936BB-CDC9-CD95-15BA-2144522E28FE}"/>
              </a:ext>
            </a:extLst>
          </p:cNvPr>
          <p:cNvCxnSpPr>
            <a:cxnSpLocks/>
            <a:endCxn id="13" idx="0"/>
          </p:cNvCxnSpPr>
          <p:nvPr/>
        </p:nvCxnSpPr>
        <p:spPr>
          <a:xfrm rot="5400000">
            <a:off x="4847544" y="1685754"/>
            <a:ext cx="1520737" cy="1229139"/>
          </a:xfrm>
          <a:prstGeom prst="bentConnector3">
            <a:avLst>
              <a:gd name="adj1" fmla="val -8"/>
            </a:avLst>
          </a:prstGeom>
          <a:ln w="3175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8">
            <a:extLst>
              <a:ext uri="{FF2B5EF4-FFF2-40B4-BE49-F238E27FC236}">
                <a16:creationId xmlns:a16="http://schemas.microsoft.com/office/drawing/2014/main" id="{393B425F-7301-CA85-990C-99E2CE6F8C26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 flipV="1">
            <a:off x="5390700" y="4313007"/>
            <a:ext cx="709457" cy="513836"/>
          </a:xfrm>
          <a:prstGeom prst="bentConnector3">
            <a:avLst>
              <a:gd name="adj1" fmla="val 100123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8">
            <a:extLst>
              <a:ext uri="{FF2B5EF4-FFF2-40B4-BE49-F238E27FC236}">
                <a16:creationId xmlns:a16="http://schemas.microsoft.com/office/drawing/2014/main" id="{2D6DF12D-A7D9-05EE-DD31-1455D4510953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6812778" y="4596471"/>
            <a:ext cx="0" cy="23037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8">
            <a:extLst>
              <a:ext uri="{FF2B5EF4-FFF2-40B4-BE49-F238E27FC236}">
                <a16:creationId xmlns:a16="http://schemas.microsoft.com/office/drawing/2014/main" id="{3A69B781-BFC2-CF6E-9D44-9711DBB80E77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523915" y="4434448"/>
            <a:ext cx="1155647" cy="392395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8">
            <a:extLst>
              <a:ext uri="{FF2B5EF4-FFF2-40B4-BE49-F238E27FC236}">
                <a16:creationId xmlns:a16="http://schemas.microsoft.com/office/drawing/2014/main" id="{0C97422E-D3B9-9CAF-179E-65CBE0308213}"/>
              </a:ext>
            </a:extLst>
          </p:cNvPr>
          <p:cNvCxnSpPr>
            <a:cxnSpLocks/>
            <a:stCxn id="12" idx="3"/>
            <a:endCxn id="21" idx="3"/>
          </p:cNvCxnSpPr>
          <p:nvPr/>
        </p:nvCxnSpPr>
        <p:spPr>
          <a:xfrm>
            <a:off x="7294443" y="3343036"/>
            <a:ext cx="230957" cy="969971"/>
          </a:xfrm>
          <a:prstGeom prst="bentConnector3">
            <a:avLst>
              <a:gd name="adj1" fmla="val 198979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8">
            <a:extLst>
              <a:ext uri="{FF2B5EF4-FFF2-40B4-BE49-F238E27FC236}">
                <a16:creationId xmlns:a16="http://schemas.microsoft.com/office/drawing/2014/main" id="{585282B2-E187-5210-675B-6E6A022AD8CD}"/>
              </a:ext>
            </a:extLst>
          </p:cNvPr>
          <p:cNvCxnSpPr>
            <a:cxnSpLocks/>
          </p:cNvCxnSpPr>
          <p:nvPr/>
        </p:nvCxnSpPr>
        <p:spPr>
          <a:xfrm flipH="1" flipV="1">
            <a:off x="6188975" y="3605129"/>
            <a:ext cx="1216" cy="42066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Key Feature">
            <a:extLst>
              <a:ext uri="{FF2B5EF4-FFF2-40B4-BE49-F238E27FC236}">
                <a16:creationId xmlns:a16="http://schemas.microsoft.com/office/drawing/2014/main" id="{7DA3FC60-128C-74F1-E3E4-9F5D7531AF83}"/>
              </a:ext>
            </a:extLst>
          </p:cNvPr>
          <p:cNvSpPr/>
          <p:nvPr/>
        </p:nvSpPr>
        <p:spPr>
          <a:xfrm>
            <a:off x="444499" y="285750"/>
            <a:ext cx="41121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333"/>
              </a:lnSpc>
            </a:pP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대화형 질의 응답</a:t>
            </a:r>
            <a:endParaRPr lang="en-US" altLang="ko-Kore-KR" sz="19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BB0C9E-B902-ABB4-1C5B-20464D25CB30}"/>
              </a:ext>
            </a:extLst>
          </p:cNvPr>
          <p:cNvSpPr txBox="1"/>
          <p:nvPr/>
        </p:nvSpPr>
        <p:spPr>
          <a:xfrm>
            <a:off x="523927" y="715576"/>
            <a:ext cx="13436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답변 평가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큐레이션 요청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6DB2FC-12E9-48C4-74FA-14B3BB8BE04A}"/>
              </a:ext>
            </a:extLst>
          </p:cNvPr>
          <p:cNvSpPr txBox="1"/>
          <p:nvPr/>
        </p:nvSpPr>
        <p:spPr>
          <a:xfrm>
            <a:off x="1019902" y="1121976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자연어 질의</a:t>
            </a:r>
            <a:br>
              <a:rPr kumimoji="1" lang="en-US" altLang="ko-KR" sz="800" dirty="0"/>
            </a:br>
            <a:r>
              <a:rPr kumimoji="1" lang="ko-KR" altLang="en-US" sz="800" dirty="0"/>
              <a:t>컨텍스트 범위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351CC7-2AD9-A230-B305-42F2B47AB341}"/>
              </a:ext>
            </a:extLst>
          </p:cNvPr>
          <p:cNvSpPr txBox="1"/>
          <p:nvPr/>
        </p:nvSpPr>
        <p:spPr>
          <a:xfrm>
            <a:off x="3300891" y="1719662"/>
            <a:ext cx="734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응답 렌더링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1DD31C-8886-6C12-82AB-FC8039213459}"/>
              </a:ext>
            </a:extLst>
          </p:cNvPr>
          <p:cNvSpPr txBox="1"/>
          <p:nvPr/>
        </p:nvSpPr>
        <p:spPr>
          <a:xfrm>
            <a:off x="2414021" y="2633066"/>
            <a:ext cx="8771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권한 확인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결과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0DFF99-9B52-F0E5-3893-8F2DB526D2B8}"/>
              </a:ext>
            </a:extLst>
          </p:cNvPr>
          <p:cNvSpPr txBox="1"/>
          <p:nvPr/>
        </p:nvSpPr>
        <p:spPr>
          <a:xfrm>
            <a:off x="2093165" y="3505138"/>
            <a:ext cx="10358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평가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자산화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95658E-16C3-0F8C-0BFD-09CF0B9DF203}"/>
              </a:ext>
            </a:extLst>
          </p:cNvPr>
          <p:cNvSpPr txBox="1"/>
          <p:nvPr/>
        </p:nvSpPr>
        <p:spPr>
          <a:xfrm>
            <a:off x="3355775" y="2494702"/>
            <a:ext cx="6319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응답 전달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64740F-F6BF-4949-2EDC-E54388ED3266}"/>
              </a:ext>
            </a:extLst>
          </p:cNvPr>
          <p:cNvSpPr txBox="1"/>
          <p:nvPr/>
        </p:nvSpPr>
        <p:spPr>
          <a:xfrm>
            <a:off x="4793218" y="1043183"/>
            <a:ext cx="10134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세션 메시지 전달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6B04DA-8AA7-E83A-8AAD-AE378B0516B6}"/>
              </a:ext>
            </a:extLst>
          </p:cNvPr>
          <p:cNvSpPr txBox="1"/>
          <p:nvPr/>
        </p:nvSpPr>
        <p:spPr>
          <a:xfrm>
            <a:off x="4994773" y="1611940"/>
            <a:ext cx="12618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이력 저장 </a:t>
            </a:r>
            <a:r>
              <a:rPr kumimoji="1" lang="en-US" altLang="ko-KR" sz="800" dirty="0"/>
              <a:t>+</a:t>
            </a:r>
            <a:r>
              <a:rPr kumimoji="1" lang="ko-KR" altLang="en-US" sz="800" dirty="0"/>
              <a:t> 응답 회신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0BCCDF-29A7-800B-939F-31B0F34B1ECA}"/>
              </a:ext>
            </a:extLst>
          </p:cNvPr>
          <p:cNvSpPr txBox="1"/>
          <p:nvPr/>
        </p:nvSpPr>
        <p:spPr>
          <a:xfrm>
            <a:off x="7356704" y="1176217"/>
            <a:ext cx="12779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의도 분류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라우팅 요청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AA9D91-AEBF-28EC-83FF-7DE28B0ECC91}"/>
              </a:ext>
            </a:extLst>
          </p:cNvPr>
          <p:cNvSpPr txBox="1"/>
          <p:nvPr/>
        </p:nvSpPr>
        <p:spPr>
          <a:xfrm>
            <a:off x="8460758" y="2180333"/>
            <a:ext cx="10390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800" dirty="0"/>
              <a:t>Q&amp;A </a:t>
            </a:r>
            <a:r>
              <a:rPr kumimoji="1" lang="ko-KR" altLang="en-US" sz="800" dirty="0"/>
              <a:t>의도 라우팅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C0E9E4-1298-17E3-7203-30F1CE2DD7E5}"/>
              </a:ext>
            </a:extLst>
          </p:cNvPr>
          <p:cNvSpPr txBox="1"/>
          <p:nvPr/>
        </p:nvSpPr>
        <p:spPr>
          <a:xfrm>
            <a:off x="5689276" y="2473123"/>
            <a:ext cx="1152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근거 포함 답변 전달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5D1D0AA-CBFE-2D6F-8557-7825E1A56ADD}"/>
              </a:ext>
            </a:extLst>
          </p:cNvPr>
          <p:cNvSpPr txBox="1"/>
          <p:nvPr/>
        </p:nvSpPr>
        <p:spPr>
          <a:xfrm>
            <a:off x="6527432" y="2688502"/>
            <a:ext cx="13580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근거 컨텍스트 조립 요청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184853A-AEFD-4448-2E25-40DCEBE9991C}"/>
              </a:ext>
            </a:extLst>
          </p:cNvPr>
          <p:cNvSpPr txBox="1"/>
          <p:nvPr/>
        </p:nvSpPr>
        <p:spPr>
          <a:xfrm>
            <a:off x="9499825" y="2386804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프롬프트 </a:t>
            </a:r>
            <a:r>
              <a:rPr kumimoji="1" lang="en-US" altLang="ko-KR" sz="800" dirty="0"/>
              <a:t>+</a:t>
            </a:r>
            <a:r>
              <a:rPr kumimoji="1" lang="ko-KR" altLang="en-US" sz="800" dirty="0"/>
              <a:t> 근거 링크 </a:t>
            </a:r>
            <a:br>
              <a:rPr kumimoji="1" lang="en-US" altLang="ko-KR" sz="800" dirty="0"/>
            </a:br>
            <a:r>
              <a:rPr kumimoji="1" lang="en-US" altLang="ko-KR" sz="800" dirty="0"/>
              <a:t>+</a:t>
            </a:r>
            <a:r>
              <a:rPr kumimoji="1" lang="ko-KR" altLang="en-US" sz="800" dirty="0"/>
              <a:t> 컨텍스트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C7BC63C-6287-D795-6B4F-844CBA22D20D}"/>
              </a:ext>
            </a:extLst>
          </p:cNvPr>
          <p:cNvSpPr txBox="1"/>
          <p:nvPr/>
        </p:nvSpPr>
        <p:spPr>
          <a:xfrm>
            <a:off x="9479542" y="2863748"/>
            <a:ext cx="734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자연어 답변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B736B5B-048B-09EC-342C-4EEC779D9B51}"/>
              </a:ext>
            </a:extLst>
          </p:cNvPr>
          <p:cNvSpPr txBox="1"/>
          <p:nvPr/>
        </p:nvSpPr>
        <p:spPr>
          <a:xfrm>
            <a:off x="7714464" y="3823418"/>
            <a:ext cx="1188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하이브리드 질의</a:t>
            </a:r>
            <a:br>
              <a:rPr kumimoji="1" lang="en-US" altLang="ko-KR" sz="800" dirty="0"/>
            </a:br>
            <a:r>
              <a:rPr kumimoji="1" lang="en-US" altLang="ko-KR" sz="800" dirty="0"/>
              <a:t>(</a:t>
            </a:r>
            <a:r>
              <a:rPr kumimoji="1" lang="ko-KR" altLang="en-US" sz="800" dirty="0" err="1"/>
              <a:t>백터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검색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카탈로그</a:t>
            </a:r>
            <a:r>
              <a:rPr kumimoji="1" lang="en-US" altLang="ko-KR" sz="800" dirty="0"/>
              <a:t>)</a:t>
            </a:r>
            <a:endParaRPr kumimoji="1" lang="ko-KR" altLang="en-US" sz="8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6DDBB9-5318-797F-48C3-65A826B1A2BF}"/>
              </a:ext>
            </a:extLst>
          </p:cNvPr>
          <p:cNvSpPr txBox="1"/>
          <p:nvPr/>
        </p:nvSpPr>
        <p:spPr>
          <a:xfrm>
            <a:off x="7264792" y="3011375"/>
            <a:ext cx="1181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근거 후보 </a:t>
            </a:r>
            <a:r>
              <a:rPr kumimoji="1" lang="en-US" altLang="ko-KR" sz="800" dirty="0"/>
              <a:t>+</a:t>
            </a:r>
            <a:r>
              <a:rPr kumimoji="1" lang="ko-KR" altLang="en-US" sz="800" dirty="0"/>
              <a:t> </a:t>
            </a:r>
            <a:br>
              <a:rPr kumimoji="1" lang="en-US" altLang="ko-KR" sz="800" dirty="0"/>
            </a:br>
            <a:r>
              <a:rPr kumimoji="1" lang="ko-KR" altLang="en-US" sz="800" dirty="0"/>
              <a:t>컨텍스트 패키지 반환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6C898CD-D61D-539C-84C1-3C7E1E42617A}"/>
              </a:ext>
            </a:extLst>
          </p:cNvPr>
          <p:cNvSpPr txBox="1"/>
          <p:nvPr/>
        </p:nvSpPr>
        <p:spPr>
          <a:xfrm>
            <a:off x="4080389" y="4162824"/>
            <a:ext cx="1019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답변 자산 적재 </a:t>
            </a:r>
            <a:r>
              <a:rPr kumimoji="1" lang="en-US" altLang="ko-KR" sz="800" dirty="0"/>
              <a:t>+</a:t>
            </a:r>
            <a:r>
              <a:rPr kumimoji="1" lang="ko-KR" altLang="en-US" sz="800" dirty="0"/>
              <a:t> </a:t>
            </a:r>
            <a:br>
              <a:rPr kumimoji="1" lang="en-US" altLang="ko-KR" sz="800" dirty="0"/>
            </a:br>
            <a:r>
              <a:rPr kumimoji="1" lang="ko-KR" altLang="en-US" sz="800" dirty="0"/>
              <a:t>평가 저장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466F4C2-3502-909F-BF40-4049BEC5BB5F}"/>
              </a:ext>
            </a:extLst>
          </p:cNvPr>
          <p:cNvSpPr txBox="1"/>
          <p:nvPr/>
        </p:nvSpPr>
        <p:spPr>
          <a:xfrm>
            <a:off x="5388940" y="4311887"/>
            <a:ext cx="668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기존 답변 </a:t>
            </a:r>
            <a:br>
              <a:rPr kumimoji="1" lang="en-US" altLang="ko-KR" sz="800" dirty="0"/>
            </a:br>
            <a:r>
              <a:rPr kumimoji="1" lang="ko-KR" altLang="en-US" sz="800" dirty="0"/>
              <a:t>자산 조회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BFFC00C-DDCC-2AD3-BB2E-682FB44D8CA5}"/>
              </a:ext>
            </a:extLst>
          </p:cNvPr>
          <p:cNvSpPr txBox="1"/>
          <p:nvPr/>
        </p:nvSpPr>
        <p:spPr>
          <a:xfrm>
            <a:off x="5395059" y="3777524"/>
            <a:ext cx="873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결합 결과 반환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6F09C59-EE98-7A43-D25E-61391B9C3AB9}"/>
              </a:ext>
            </a:extLst>
          </p:cNvPr>
          <p:cNvSpPr txBox="1"/>
          <p:nvPr/>
        </p:nvSpPr>
        <p:spPr>
          <a:xfrm>
            <a:off x="6784089" y="4600220"/>
            <a:ext cx="8963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규칙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링크 조회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71074C3-A561-6AD4-8E93-042386E0374E}"/>
              </a:ext>
            </a:extLst>
          </p:cNvPr>
          <p:cNvSpPr txBox="1"/>
          <p:nvPr/>
        </p:nvSpPr>
        <p:spPr>
          <a:xfrm>
            <a:off x="7783163" y="4451363"/>
            <a:ext cx="8963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/>
              <a:t>구조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의존 조회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491A7EA-B1CF-AE8A-211C-D29CE7B23726}"/>
              </a:ext>
            </a:extLst>
          </p:cNvPr>
          <p:cNvSpPr/>
          <p:nvPr/>
        </p:nvSpPr>
        <p:spPr>
          <a:xfrm>
            <a:off x="2251916" y="5540709"/>
            <a:ext cx="78262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/>
              <a:t>구조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비즈니스 규칙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영향 분석 산출물을 자연어 대화로 처리하는 질의응답 기능 제공</a:t>
            </a:r>
            <a:endParaRPr lang="en-US" altLang="ko-KR" sz="1400" b="1" dirty="0"/>
          </a:p>
          <a:p>
            <a:pPr algn="ctr"/>
            <a:r>
              <a:rPr lang="en" altLang="ko-KR" sz="1400" b="1" dirty="0"/>
              <a:t>RAG Hybrid Search</a:t>
            </a:r>
            <a:r>
              <a:rPr lang="ko-KR" altLang="en-US" sz="1400" b="1" dirty="0"/>
              <a:t>로 근거 링크가 포함된 답변 반환</a:t>
            </a:r>
            <a:endParaRPr lang="en-US" altLang="ko-KR" sz="1400" b="1" dirty="0"/>
          </a:p>
          <a:p>
            <a:pPr algn="ctr"/>
            <a:r>
              <a:rPr lang="en" altLang="ko-KR" sz="1400" b="1" dirty="0"/>
              <a:t>Feedback loop</a:t>
            </a:r>
            <a:r>
              <a:rPr lang="ko-KR" altLang="en-US" sz="1400" b="1" dirty="0"/>
              <a:t>로 검증된 답변을 </a:t>
            </a:r>
            <a:r>
              <a:rPr lang="ko-KR" altLang="en-US" sz="1400" b="1" dirty="0" err="1"/>
              <a:t>자산화하여</a:t>
            </a:r>
            <a:r>
              <a:rPr lang="ko-KR" altLang="en-US" sz="1400" b="1" dirty="0"/>
              <a:t> 재사용 가능하게 함</a:t>
            </a:r>
          </a:p>
        </p:txBody>
      </p:sp>
    </p:spTree>
    <p:extLst>
      <p:ext uri="{BB962C8B-B14F-4D97-AF65-F5344CB8AC3E}">
        <p14:creationId xmlns:p14="http://schemas.microsoft.com/office/powerpoint/2010/main" val="1614876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10577</TotalTime>
  <Words>271</Words>
  <Application>Microsoft Macintosh PowerPoint</Application>
  <PresentationFormat>와이드스크린</PresentationFormat>
  <Paragraphs>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Pretendard SemiBold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배 석현</cp:lastModifiedBy>
  <cp:revision>267</cp:revision>
  <cp:lastPrinted>2026-01-09T08:14:09Z</cp:lastPrinted>
  <dcterms:created xsi:type="dcterms:W3CDTF">2022-09-15T01:21:24Z</dcterms:created>
  <dcterms:modified xsi:type="dcterms:W3CDTF">2026-04-16T04:47:56Z</dcterms:modified>
</cp:coreProperties>
</file>