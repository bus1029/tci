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BBF0"/>
    <a:srgbClr val="0F439C"/>
    <a:srgbClr val="899197"/>
    <a:srgbClr val="BBDEF8"/>
    <a:srgbClr val="5CB5FE"/>
    <a:srgbClr val="6D757E"/>
    <a:srgbClr val="1A75D2"/>
    <a:srgbClr val="415B88"/>
    <a:srgbClr val="F8F9FA"/>
    <a:srgbClr val="515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 autoAdjust="0"/>
    <p:restoredTop sz="94432"/>
  </p:normalViewPr>
  <p:slideViewPr>
    <p:cSldViewPr snapToGrid="0">
      <p:cViewPr varScale="1">
        <p:scale>
          <a:sx n="87" d="100"/>
          <a:sy n="87" d="100"/>
        </p:scale>
        <p:origin x="22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2026. 4. 13.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7E00-134E-787A-19B4-D2AD7C940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>
            <a:extLst>
              <a:ext uri="{FF2B5EF4-FFF2-40B4-BE49-F238E27FC236}">
                <a16:creationId xmlns:a16="http://schemas.microsoft.com/office/drawing/2014/main" id="{421DF301-5322-6F11-20F4-3DCBCF891E6C}"/>
              </a:ext>
            </a:extLst>
          </p:cNvPr>
          <p:cNvSpPr/>
          <p:nvPr/>
        </p:nvSpPr>
        <p:spPr>
          <a:xfrm>
            <a:off x="3643480" y="872066"/>
            <a:ext cx="4365139" cy="5303405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Workflow &amp; Integration</a:t>
            </a:r>
            <a:endParaRPr dirty="0">
              <a:latin typeface="+mn-ea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F13DA4-AB9B-B63E-2DD8-5BADA1F71A44}"/>
              </a:ext>
            </a:extLst>
          </p:cNvPr>
          <p:cNvSpPr/>
          <p:nvPr/>
        </p:nvSpPr>
        <p:spPr>
          <a:xfrm>
            <a:off x="1835496" y="2885088"/>
            <a:ext cx="1468580" cy="114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Web Application</a:t>
            </a:r>
            <a:endParaRPr dirty="0">
              <a:latin typeface="+mn-ea"/>
            </a:endParaRP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9B2647CE-44FA-DE25-8F46-FA3D78533F66}"/>
              </a:ext>
            </a:extLst>
          </p:cNvPr>
          <p:cNvSpPr/>
          <p:nvPr/>
        </p:nvSpPr>
        <p:spPr>
          <a:xfrm>
            <a:off x="118309" y="3306119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PM / PO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문서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리포트 생성 요청</a:t>
            </a:r>
            <a:endParaRPr lang="en-US" altLang="ko-KR" dirty="0">
              <a:latin typeface="+mn-ea"/>
            </a:endParaRPr>
          </a:p>
        </p:txBody>
      </p:sp>
      <p:sp>
        <p:nvSpPr>
          <p:cNvPr id="3" name="Key Feature">
            <a:extLst>
              <a:ext uri="{FF2B5EF4-FFF2-40B4-BE49-F238E27FC236}">
                <a16:creationId xmlns:a16="http://schemas.microsoft.com/office/drawing/2014/main" id="{96D29B66-2507-2438-2A54-F61262BF23A2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문서</a:t>
            </a:r>
            <a:r>
              <a:rPr lang="en-US" altLang="ko-KR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</a:t>
            </a:r>
            <a:r>
              <a:rPr lang="ko-KR" altLang="en-US" sz="19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리포트 생성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5411D9E-A8A0-0711-CE3E-2630A0D50C67}"/>
              </a:ext>
            </a:extLst>
          </p:cNvPr>
          <p:cNvSpPr/>
          <p:nvPr/>
        </p:nvSpPr>
        <p:spPr>
          <a:xfrm>
            <a:off x="2045456" y="3307666"/>
            <a:ext cx="108082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Web Console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사용자 요청 수신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전달</a:t>
            </a:r>
            <a:endParaRPr dirty="0">
              <a:latin typeface="+mn-ea"/>
            </a:endParaRPr>
          </a:p>
        </p:txBody>
      </p:sp>
      <p:cxnSp>
        <p:nvCxnSpPr>
          <p:cNvPr id="17" name="직선 화살표 연결선 8">
            <a:extLst>
              <a:ext uri="{FF2B5EF4-FFF2-40B4-BE49-F238E27FC236}">
                <a16:creationId xmlns:a16="http://schemas.microsoft.com/office/drawing/2014/main" id="{44FB9F17-A265-2C25-5390-BBA5357848F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1444189" y="3589583"/>
            <a:ext cx="601267" cy="1547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89836E4-5A34-C7DC-D2E6-3B793F1A0BF9}"/>
              </a:ext>
            </a:extLst>
          </p:cNvPr>
          <p:cNvSpPr txBox="1"/>
          <p:nvPr/>
        </p:nvSpPr>
        <p:spPr>
          <a:xfrm>
            <a:off x="1626113" y="2213929"/>
            <a:ext cx="877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발행 완료 알림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7FCBE249-7ACE-D321-C5A6-5CAD6ACA5380}"/>
              </a:ext>
            </a:extLst>
          </p:cNvPr>
          <p:cNvSpPr/>
          <p:nvPr/>
        </p:nvSpPr>
        <p:spPr>
          <a:xfrm>
            <a:off x="8078526" y="2269067"/>
            <a:ext cx="3995165" cy="3906404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Knowledge Base</a:t>
            </a:r>
            <a:endParaRPr dirty="0">
              <a:latin typeface="+mn-ea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6207F3B-ED8E-F66C-6676-5AD6BEA95DEC}"/>
              </a:ext>
            </a:extLst>
          </p:cNvPr>
          <p:cNvSpPr/>
          <p:nvPr/>
        </p:nvSpPr>
        <p:spPr>
          <a:xfrm>
            <a:off x="9235806" y="877512"/>
            <a:ext cx="160045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External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78BD52C5-963E-194D-2F90-B5BDC615DA77}"/>
              </a:ext>
            </a:extLst>
          </p:cNvPr>
          <p:cNvSpPr/>
          <p:nvPr/>
        </p:nvSpPr>
        <p:spPr>
          <a:xfrm>
            <a:off x="9414405" y="1211071"/>
            <a:ext cx="1243251" cy="530352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1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Collaboration Tools</a:t>
            </a:r>
            <a:endParaRPr dirty="0">
              <a:latin typeface="+mn-ea"/>
            </a:endParaRPr>
          </a:p>
          <a:p>
            <a:pPr algn="ctr">
              <a:defRPr sz="710" b="0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Slack, Confluence, Email</a:t>
            </a:r>
            <a:endParaRPr dirty="0">
              <a:latin typeface="+mn-ea"/>
            </a:endParaRP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4A3ED087-F9A1-53ED-FB0E-3AD92B49FEE9}"/>
              </a:ext>
            </a:extLst>
          </p:cNvPr>
          <p:cNvSpPr/>
          <p:nvPr/>
        </p:nvSpPr>
        <p:spPr>
          <a:xfrm>
            <a:off x="3695383" y="3193599"/>
            <a:ext cx="1414168" cy="791967"/>
          </a:xfrm>
          <a:prstGeom prst="rect">
            <a:avLst/>
          </a:prstGeom>
          <a:solidFill>
            <a:srgbClr val="85BBF0"/>
          </a:solidFill>
          <a:ln w="12700">
            <a:solidFill>
              <a:srgbClr val="85B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Docs Studio Engine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AI </a:t>
            </a:r>
            <a:r>
              <a:rPr lang="ko-KR" altLang="en-US" dirty="0">
                <a:latin typeface="+mn-ea"/>
              </a:rPr>
              <a:t>문서 초안 생성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템플릿 적용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승인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버전 관리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발행 제어</a:t>
            </a:r>
            <a:endParaRPr dirty="0">
              <a:latin typeface="+mn-ea"/>
            </a:endParaRPr>
          </a:p>
        </p:txBody>
      </p:sp>
      <p:cxnSp>
        <p:nvCxnSpPr>
          <p:cNvPr id="31" name="직선 화살표 연결선 8">
            <a:extLst>
              <a:ext uri="{FF2B5EF4-FFF2-40B4-BE49-F238E27FC236}">
                <a16:creationId xmlns:a16="http://schemas.microsoft.com/office/drawing/2014/main" id="{B36AAE12-81B2-A92F-3D2F-A985A2524FD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 flipV="1">
            <a:off x="3126276" y="3589583"/>
            <a:ext cx="569107" cy="1547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030CE3-8B29-AB65-4395-41AC713DC90A}"/>
              </a:ext>
            </a:extLst>
          </p:cNvPr>
          <p:cNvSpPr txBox="1"/>
          <p:nvPr/>
        </p:nvSpPr>
        <p:spPr>
          <a:xfrm>
            <a:off x="2992700" y="3259945"/>
            <a:ext cx="836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생성 요청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전달</a:t>
            </a:r>
          </a:p>
        </p:txBody>
      </p:sp>
      <p:sp>
        <p:nvSpPr>
          <p:cNvPr id="45" name="Rectangle 9">
            <a:extLst>
              <a:ext uri="{FF2B5EF4-FFF2-40B4-BE49-F238E27FC236}">
                <a16:creationId xmlns:a16="http://schemas.microsoft.com/office/drawing/2014/main" id="{8AF75072-B704-3A86-75B0-EDD983AFB8B2}"/>
              </a:ext>
            </a:extLst>
          </p:cNvPr>
          <p:cNvSpPr/>
          <p:nvPr/>
        </p:nvSpPr>
        <p:spPr>
          <a:xfrm>
            <a:off x="3695383" y="2185416"/>
            <a:ext cx="1414168" cy="491006"/>
          </a:xfrm>
          <a:prstGeom prst="rect">
            <a:avLst/>
          </a:prstGeom>
          <a:solidFill>
            <a:srgbClr val="85BBF0"/>
          </a:solidFill>
          <a:ln w="12700">
            <a:solidFill>
              <a:srgbClr val="85B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Notification Dispatcher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대상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채널 결정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알림 발송</a:t>
            </a:r>
          </a:p>
        </p:txBody>
      </p:sp>
      <p:cxnSp>
        <p:nvCxnSpPr>
          <p:cNvPr id="46" name="직선 화살표 연결선 8">
            <a:extLst>
              <a:ext uri="{FF2B5EF4-FFF2-40B4-BE49-F238E27FC236}">
                <a16:creationId xmlns:a16="http://schemas.microsoft.com/office/drawing/2014/main" id="{13880EDF-09D3-6938-DB82-586A12BA28F1}"/>
              </a:ext>
            </a:extLst>
          </p:cNvPr>
          <p:cNvCxnSpPr>
            <a:cxnSpLocks/>
            <a:stCxn id="28" idx="0"/>
            <a:endCxn id="45" idx="2"/>
          </p:cNvCxnSpPr>
          <p:nvPr/>
        </p:nvCxnSpPr>
        <p:spPr>
          <a:xfrm flipV="1">
            <a:off x="4402467" y="2676422"/>
            <a:ext cx="0" cy="517177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78B7AA4-363A-7E74-A4CE-2D9011C5991A}"/>
              </a:ext>
            </a:extLst>
          </p:cNvPr>
          <p:cNvSpPr txBox="1"/>
          <p:nvPr/>
        </p:nvSpPr>
        <p:spPr>
          <a:xfrm>
            <a:off x="4272533" y="2766726"/>
            <a:ext cx="836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알림 발송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요청 </a:t>
            </a:r>
          </a:p>
        </p:txBody>
      </p:sp>
      <p:cxnSp>
        <p:nvCxnSpPr>
          <p:cNvPr id="50" name="직선 화살표 연결선 8">
            <a:extLst>
              <a:ext uri="{FF2B5EF4-FFF2-40B4-BE49-F238E27FC236}">
                <a16:creationId xmlns:a16="http://schemas.microsoft.com/office/drawing/2014/main" id="{E4649E3F-3EE9-EF0B-27C0-423D9417DD23}"/>
              </a:ext>
            </a:extLst>
          </p:cNvPr>
          <p:cNvCxnSpPr>
            <a:cxnSpLocks/>
            <a:stCxn id="45" idx="1"/>
            <a:endCxn id="2" idx="0"/>
          </p:cNvCxnSpPr>
          <p:nvPr/>
        </p:nvCxnSpPr>
        <p:spPr>
          <a:xfrm rot="10800000" flipV="1">
            <a:off x="781249" y="2430919"/>
            <a:ext cx="2914134" cy="875200"/>
          </a:xfrm>
          <a:prstGeom prst="bentConnector2">
            <a:avLst/>
          </a:prstGeom>
          <a:ln w="3175">
            <a:solidFill>
              <a:schemeClr val="tx1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69119D3-05CE-9567-20F2-74679C1476FE}"/>
              </a:ext>
            </a:extLst>
          </p:cNvPr>
          <p:cNvSpPr txBox="1"/>
          <p:nvPr/>
        </p:nvSpPr>
        <p:spPr>
          <a:xfrm>
            <a:off x="1338372" y="3259945"/>
            <a:ext cx="836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문서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리포트 생성 요청</a:t>
            </a:r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67F40AB0-8B30-2D46-7C64-795B2F9E51CC}"/>
              </a:ext>
            </a:extLst>
          </p:cNvPr>
          <p:cNvSpPr/>
          <p:nvPr/>
        </p:nvSpPr>
        <p:spPr>
          <a:xfrm>
            <a:off x="6536981" y="1241889"/>
            <a:ext cx="1414168" cy="491006"/>
          </a:xfrm>
          <a:prstGeom prst="rect">
            <a:avLst/>
          </a:prstGeom>
          <a:solidFill>
            <a:srgbClr val="85BBF0"/>
          </a:solidFill>
          <a:ln w="12700">
            <a:solidFill>
              <a:srgbClr val="85B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ChatOps Connector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채팅 채널 알림 발송</a:t>
            </a:r>
          </a:p>
        </p:txBody>
      </p:sp>
      <p:sp>
        <p:nvSpPr>
          <p:cNvPr id="59" name="Rectangle 9">
            <a:extLst>
              <a:ext uri="{FF2B5EF4-FFF2-40B4-BE49-F238E27FC236}">
                <a16:creationId xmlns:a16="http://schemas.microsoft.com/office/drawing/2014/main" id="{0F83C5FF-DA2A-4F7A-05D4-37CEFD61780C}"/>
              </a:ext>
            </a:extLst>
          </p:cNvPr>
          <p:cNvSpPr/>
          <p:nvPr/>
        </p:nvSpPr>
        <p:spPr>
          <a:xfrm>
            <a:off x="6536981" y="1800444"/>
            <a:ext cx="1414168" cy="491006"/>
          </a:xfrm>
          <a:prstGeom prst="rect">
            <a:avLst/>
          </a:prstGeom>
          <a:solidFill>
            <a:srgbClr val="85BBF0"/>
          </a:solidFill>
          <a:ln w="12700">
            <a:solidFill>
              <a:srgbClr val="85B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Collaboration Connector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외부 협업 도구 문서 발행</a:t>
            </a:r>
          </a:p>
        </p:txBody>
      </p:sp>
      <p:cxnSp>
        <p:nvCxnSpPr>
          <p:cNvPr id="60" name="직선 화살표 연결선 8">
            <a:extLst>
              <a:ext uri="{FF2B5EF4-FFF2-40B4-BE49-F238E27FC236}">
                <a16:creationId xmlns:a16="http://schemas.microsoft.com/office/drawing/2014/main" id="{E1AACF4B-D051-BE7B-14D9-10E3D64524AB}"/>
              </a:ext>
            </a:extLst>
          </p:cNvPr>
          <p:cNvCxnSpPr>
            <a:cxnSpLocks/>
            <a:stCxn id="58" idx="3"/>
            <a:endCxn id="24" idx="1"/>
          </p:cNvCxnSpPr>
          <p:nvPr/>
        </p:nvCxnSpPr>
        <p:spPr>
          <a:xfrm flipV="1">
            <a:off x="7951149" y="1476247"/>
            <a:ext cx="1463256" cy="11145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8">
            <a:extLst>
              <a:ext uri="{FF2B5EF4-FFF2-40B4-BE49-F238E27FC236}">
                <a16:creationId xmlns:a16="http://schemas.microsoft.com/office/drawing/2014/main" id="{3F679F47-4FA4-40C0-F75B-3EB506CC54FE}"/>
              </a:ext>
            </a:extLst>
          </p:cNvPr>
          <p:cNvCxnSpPr>
            <a:cxnSpLocks/>
            <a:stCxn id="59" idx="3"/>
            <a:endCxn id="24" idx="1"/>
          </p:cNvCxnSpPr>
          <p:nvPr/>
        </p:nvCxnSpPr>
        <p:spPr>
          <a:xfrm flipV="1">
            <a:off x="7951149" y="1476247"/>
            <a:ext cx="1463256" cy="569700"/>
          </a:xfrm>
          <a:prstGeom prst="bentConnector3">
            <a:avLst>
              <a:gd name="adj1" fmla="val 65623"/>
            </a:avLst>
          </a:prstGeom>
          <a:ln w="3175">
            <a:solidFill>
              <a:schemeClr val="tx1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C75F858-691D-8B65-17BC-F75DFEBB0429}"/>
              </a:ext>
            </a:extLst>
          </p:cNvPr>
          <p:cNvSpPr txBox="1"/>
          <p:nvPr/>
        </p:nvSpPr>
        <p:spPr>
          <a:xfrm>
            <a:off x="7956857" y="1261878"/>
            <a:ext cx="877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채널 알림 발송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8159FE-B197-2CB1-DEAC-F8CAE7E5DEE3}"/>
              </a:ext>
            </a:extLst>
          </p:cNvPr>
          <p:cNvSpPr txBox="1"/>
          <p:nvPr/>
        </p:nvSpPr>
        <p:spPr>
          <a:xfrm>
            <a:off x="7952361" y="1827844"/>
            <a:ext cx="9932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문서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리포트 발행</a:t>
            </a:r>
          </a:p>
        </p:txBody>
      </p:sp>
      <p:cxnSp>
        <p:nvCxnSpPr>
          <p:cNvPr id="74" name="직선 화살표 연결선 8">
            <a:extLst>
              <a:ext uri="{FF2B5EF4-FFF2-40B4-BE49-F238E27FC236}">
                <a16:creationId xmlns:a16="http://schemas.microsoft.com/office/drawing/2014/main" id="{974D4AE1-EC4D-4EC0-691A-96A40620DE3E}"/>
              </a:ext>
            </a:extLst>
          </p:cNvPr>
          <p:cNvCxnSpPr>
            <a:cxnSpLocks/>
            <a:endCxn id="58" idx="1"/>
          </p:cNvCxnSpPr>
          <p:nvPr/>
        </p:nvCxnSpPr>
        <p:spPr>
          <a:xfrm rot="5400000" flipH="1" flipV="1">
            <a:off x="5272394" y="2041533"/>
            <a:ext cx="1818727" cy="710447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8">
            <a:extLst>
              <a:ext uri="{FF2B5EF4-FFF2-40B4-BE49-F238E27FC236}">
                <a16:creationId xmlns:a16="http://schemas.microsoft.com/office/drawing/2014/main" id="{4FAAFE40-05F7-9238-9E1B-14DDD98257C3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5109551" y="2045947"/>
            <a:ext cx="1427430" cy="126017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7548D17-6262-93C4-EA21-7B9E46067A8B}"/>
              </a:ext>
            </a:extLst>
          </p:cNvPr>
          <p:cNvSpPr txBox="1"/>
          <p:nvPr/>
        </p:nvSpPr>
        <p:spPr>
          <a:xfrm>
            <a:off x="5659271" y="1271707"/>
            <a:ext cx="877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채팅 알림 요청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C495F53-CA28-7BEF-845F-AC5F3B9BF19F}"/>
              </a:ext>
            </a:extLst>
          </p:cNvPr>
          <p:cNvSpPr txBox="1"/>
          <p:nvPr/>
        </p:nvSpPr>
        <p:spPr>
          <a:xfrm>
            <a:off x="5742903" y="1708629"/>
            <a:ext cx="877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문서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리포트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발행 요청</a:t>
            </a:r>
          </a:p>
        </p:txBody>
      </p:sp>
      <p:sp>
        <p:nvSpPr>
          <p:cNvPr id="94" name="Rectangle 9">
            <a:extLst>
              <a:ext uri="{FF2B5EF4-FFF2-40B4-BE49-F238E27FC236}">
                <a16:creationId xmlns:a16="http://schemas.microsoft.com/office/drawing/2014/main" id="{809B932C-6BAF-A494-318B-29FF2A1D1CF4}"/>
              </a:ext>
            </a:extLst>
          </p:cNvPr>
          <p:cNvSpPr/>
          <p:nvPr/>
        </p:nvSpPr>
        <p:spPr>
          <a:xfrm>
            <a:off x="6597816" y="4439660"/>
            <a:ext cx="1280593" cy="680651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Business Translator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기술</a:t>
            </a:r>
            <a:r>
              <a:rPr lang="en-US" altLang="ko-KR" dirty="0">
                <a:latin typeface="+mn-ea"/>
              </a:rPr>
              <a:t>-&gt;</a:t>
            </a:r>
            <a:r>
              <a:rPr lang="ko-KR" altLang="en-US" dirty="0">
                <a:latin typeface="+mn-ea"/>
              </a:rPr>
              <a:t>비즈니스 언어 변환 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altLang="ko-KR" dirty="0">
                <a:latin typeface="+mn-ea"/>
              </a:rPr>
              <a:t>(LLM </a:t>
            </a:r>
            <a:r>
              <a:rPr lang="ko-KR" altLang="en-US" dirty="0">
                <a:latin typeface="+mn-ea"/>
              </a:rPr>
              <a:t>기반</a:t>
            </a:r>
            <a:r>
              <a:rPr lang="en-US" altLang="ko-KR" dirty="0">
                <a:latin typeface="+mn-ea"/>
              </a:rPr>
              <a:t>)</a:t>
            </a:r>
            <a:endParaRPr dirty="0">
              <a:latin typeface="+mn-ea"/>
            </a:endParaRPr>
          </a:p>
        </p:txBody>
      </p:sp>
      <p:sp>
        <p:nvSpPr>
          <p:cNvPr id="97" name="Rectangle 9">
            <a:extLst>
              <a:ext uri="{FF2B5EF4-FFF2-40B4-BE49-F238E27FC236}">
                <a16:creationId xmlns:a16="http://schemas.microsoft.com/office/drawing/2014/main" id="{A9D3FCFD-78D4-51B7-9D22-0FBBDBC39B54}"/>
              </a:ext>
            </a:extLst>
          </p:cNvPr>
          <p:cNvSpPr/>
          <p:nvPr/>
        </p:nvSpPr>
        <p:spPr>
          <a:xfrm>
            <a:off x="6597816" y="5297376"/>
            <a:ext cx="1280593" cy="680650"/>
          </a:xfrm>
          <a:prstGeom prst="rect">
            <a:avLst/>
          </a:prstGeom>
          <a:solidFill>
            <a:srgbClr val="85BBF0"/>
          </a:solidFill>
          <a:ln w="12700">
            <a:solidFill>
              <a:srgbClr val="85B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Report Formatter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비즈니스 리포트 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 err="1">
                <a:latin typeface="+mn-ea"/>
              </a:rPr>
              <a:t>포맷팅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커스터마이징</a:t>
            </a:r>
          </a:p>
        </p:txBody>
      </p:sp>
      <p:cxnSp>
        <p:nvCxnSpPr>
          <p:cNvPr id="104" name="직선 화살표 연결선 8">
            <a:extLst>
              <a:ext uri="{FF2B5EF4-FFF2-40B4-BE49-F238E27FC236}">
                <a16:creationId xmlns:a16="http://schemas.microsoft.com/office/drawing/2014/main" id="{BD4B14FA-EC9F-0AA0-AAC4-2C90B9E9E445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4823460" y="3983798"/>
            <a:ext cx="1774356" cy="796188"/>
          </a:xfrm>
          <a:prstGeom prst="bentConnector3">
            <a:avLst>
              <a:gd name="adj1" fmla="val 184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7517709-EB38-40C6-538D-7568FE28E0F2}"/>
              </a:ext>
            </a:extLst>
          </p:cNvPr>
          <p:cNvSpPr txBox="1"/>
          <p:nvPr/>
        </p:nvSpPr>
        <p:spPr>
          <a:xfrm>
            <a:off x="5222036" y="4320090"/>
            <a:ext cx="927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기술</a:t>
            </a:r>
            <a:r>
              <a:rPr kumimoji="1" lang="en-US" altLang="ko-KR" sz="800" dirty="0"/>
              <a:t>-&gt;</a:t>
            </a:r>
            <a:r>
              <a:rPr kumimoji="1" lang="ko-KR" altLang="en-US" sz="800" dirty="0"/>
              <a:t>비즈니스 언어 변환 요청 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 결과</a:t>
            </a:r>
          </a:p>
        </p:txBody>
      </p:sp>
      <p:cxnSp>
        <p:nvCxnSpPr>
          <p:cNvPr id="109" name="직선 화살표 연결선 8">
            <a:extLst>
              <a:ext uri="{FF2B5EF4-FFF2-40B4-BE49-F238E27FC236}">
                <a16:creationId xmlns:a16="http://schemas.microsoft.com/office/drawing/2014/main" id="{A32C635C-D483-5F4A-CB57-6FD266C66E39}"/>
              </a:ext>
            </a:extLst>
          </p:cNvPr>
          <p:cNvCxnSpPr>
            <a:cxnSpLocks/>
          </p:cNvCxnSpPr>
          <p:nvPr/>
        </p:nvCxnSpPr>
        <p:spPr>
          <a:xfrm>
            <a:off x="4596867" y="3983798"/>
            <a:ext cx="2000948" cy="1498149"/>
          </a:xfrm>
          <a:prstGeom prst="bentConnector3">
            <a:avLst>
              <a:gd name="adj1" fmla="val 113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8">
            <a:extLst>
              <a:ext uri="{FF2B5EF4-FFF2-40B4-BE49-F238E27FC236}">
                <a16:creationId xmlns:a16="http://schemas.microsoft.com/office/drawing/2014/main" id="{9806C9BF-B579-20A9-707A-0886736866C7}"/>
              </a:ext>
            </a:extLst>
          </p:cNvPr>
          <p:cNvCxnSpPr>
            <a:cxnSpLocks/>
            <a:stCxn id="97" idx="1"/>
            <a:endCxn id="28" idx="2"/>
          </p:cNvCxnSpPr>
          <p:nvPr/>
        </p:nvCxnSpPr>
        <p:spPr>
          <a:xfrm rot="10800000">
            <a:off x="4402468" y="3985567"/>
            <a:ext cx="2195349" cy="1652135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6027536-7D13-ACA6-C87A-37D8D920DF0B}"/>
              </a:ext>
            </a:extLst>
          </p:cNvPr>
          <p:cNvSpPr txBox="1"/>
          <p:nvPr/>
        </p:nvSpPr>
        <p:spPr>
          <a:xfrm>
            <a:off x="5187141" y="5143393"/>
            <a:ext cx="1057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리포트 </a:t>
            </a:r>
            <a:r>
              <a:rPr kumimoji="1" lang="ko-KR" altLang="en-US" sz="800" dirty="0" err="1"/>
              <a:t>포맷팅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커스터마이징 요청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BB68E4D-1692-E31F-1EF0-37A2C9DCA6EC}"/>
              </a:ext>
            </a:extLst>
          </p:cNvPr>
          <p:cNvSpPr txBox="1"/>
          <p:nvPr/>
        </p:nvSpPr>
        <p:spPr>
          <a:xfrm>
            <a:off x="5187141" y="5639472"/>
            <a:ext cx="1057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 err="1"/>
              <a:t>포맷팅된</a:t>
            </a:r>
            <a:r>
              <a:rPr kumimoji="1" lang="ko-KR" altLang="en-US" sz="800" dirty="0"/>
              <a:t> 비즈니스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리포트</a:t>
            </a:r>
            <a:endParaRPr kumimoji="1" lang="en-US" altLang="ko-KR" sz="800" dirty="0"/>
          </a:p>
        </p:txBody>
      </p:sp>
      <p:sp>
        <p:nvSpPr>
          <p:cNvPr id="134" name="Rectangle 9">
            <a:extLst>
              <a:ext uri="{FF2B5EF4-FFF2-40B4-BE49-F238E27FC236}">
                <a16:creationId xmlns:a16="http://schemas.microsoft.com/office/drawing/2014/main" id="{39497B86-756F-4084-98BF-C9A26144E29E}"/>
              </a:ext>
            </a:extLst>
          </p:cNvPr>
          <p:cNvSpPr/>
          <p:nvPr/>
        </p:nvSpPr>
        <p:spPr>
          <a:xfrm>
            <a:off x="8175882" y="3264060"/>
            <a:ext cx="1686538" cy="680651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Knowledge Query Facade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구조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규칙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영향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갭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리뷰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문서 자산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통합 읽기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적재</a:t>
            </a:r>
            <a:endParaRPr dirty="0">
              <a:latin typeface="+mn-ea"/>
            </a:endParaRPr>
          </a:p>
        </p:txBody>
      </p:sp>
      <p:sp>
        <p:nvSpPr>
          <p:cNvPr id="135" name="Can 18">
            <a:extLst>
              <a:ext uri="{FF2B5EF4-FFF2-40B4-BE49-F238E27FC236}">
                <a16:creationId xmlns:a16="http://schemas.microsoft.com/office/drawing/2014/main" id="{1C742523-7760-0F57-6BF6-0CB898676C75}"/>
              </a:ext>
            </a:extLst>
          </p:cNvPr>
          <p:cNvSpPr/>
          <p:nvPr/>
        </p:nvSpPr>
        <p:spPr>
          <a:xfrm>
            <a:off x="10484698" y="2626068"/>
            <a:ext cx="1499294" cy="617883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구조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지식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그래프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코드 구조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의존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호출 경로</a:t>
            </a:r>
            <a:endParaRPr dirty="0">
              <a:latin typeface="+mn-ea"/>
            </a:endParaRPr>
          </a:p>
        </p:txBody>
      </p:sp>
      <p:sp>
        <p:nvSpPr>
          <p:cNvPr id="136" name="Can 18">
            <a:extLst>
              <a:ext uri="{FF2B5EF4-FFF2-40B4-BE49-F238E27FC236}">
                <a16:creationId xmlns:a16="http://schemas.microsoft.com/office/drawing/2014/main" id="{ECC0BC8C-DFAB-975E-CFDE-CC6C689F0B4D}"/>
              </a:ext>
            </a:extLst>
          </p:cNvPr>
          <p:cNvSpPr/>
          <p:nvPr/>
        </p:nvSpPr>
        <p:spPr>
          <a:xfrm>
            <a:off x="10484698" y="3944711"/>
            <a:ext cx="1499294" cy="617883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문서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리포트 자산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문서 초안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승인 문서</a:t>
            </a:r>
            <a:endParaRPr lang="en-US" altLang="ko-KR"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비즈니스 리포트</a:t>
            </a:r>
            <a:endParaRPr dirty="0">
              <a:latin typeface="+mn-ea"/>
            </a:endParaRPr>
          </a:p>
        </p:txBody>
      </p:sp>
      <p:sp>
        <p:nvSpPr>
          <p:cNvPr id="137" name="Can 18">
            <a:extLst>
              <a:ext uri="{FF2B5EF4-FFF2-40B4-BE49-F238E27FC236}">
                <a16:creationId xmlns:a16="http://schemas.microsoft.com/office/drawing/2014/main" id="{871AB917-5311-A897-3B15-0D20B7ACD2D3}"/>
              </a:ext>
            </a:extLst>
          </p:cNvPr>
          <p:cNvSpPr/>
          <p:nvPr/>
        </p:nvSpPr>
        <p:spPr>
          <a:xfrm>
            <a:off x="10484698" y="5368051"/>
            <a:ext cx="1499294" cy="617883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비즈니스 규칙 카탈로그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규칙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규칙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코드 링크</a:t>
            </a:r>
            <a:endParaRPr dirty="0">
              <a:latin typeface="+mn-ea"/>
            </a:endParaRPr>
          </a:p>
        </p:txBody>
      </p:sp>
      <p:cxnSp>
        <p:nvCxnSpPr>
          <p:cNvPr id="138" name="직선 화살표 연결선 8">
            <a:extLst>
              <a:ext uri="{FF2B5EF4-FFF2-40B4-BE49-F238E27FC236}">
                <a16:creationId xmlns:a16="http://schemas.microsoft.com/office/drawing/2014/main" id="{5000C08C-A71E-CDED-BE59-015E9ECB8153}"/>
              </a:ext>
            </a:extLst>
          </p:cNvPr>
          <p:cNvCxnSpPr>
            <a:cxnSpLocks/>
          </p:cNvCxnSpPr>
          <p:nvPr/>
        </p:nvCxnSpPr>
        <p:spPr>
          <a:xfrm>
            <a:off x="5109551" y="3466567"/>
            <a:ext cx="3066331" cy="0"/>
          </a:xfrm>
          <a:prstGeom prst="straightConnector1">
            <a:avLst/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4665C9F4-8A1A-2FFB-C4AA-385CE93569A4}"/>
              </a:ext>
            </a:extLst>
          </p:cNvPr>
          <p:cNvSpPr txBox="1"/>
          <p:nvPr/>
        </p:nvSpPr>
        <p:spPr>
          <a:xfrm>
            <a:off x="6057717" y="3006995"/>
            <a:ext cx="1125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문서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리포트 패키지 적재 요청 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결합 자산 반환</a:t>
            </a:r>
          </a:p>
        </p:txBody>
      </p:sp>
      <p:cxnSp>
        <p:nvCxnSpPr>
          <p:cNvPr id="142" name="직선 화살표 연결선 8">
            <a:extLst>
              <a:ext uri="{FF2B5EF4-FFF2-40B4-BE49-F238E27FC236}">
                <a16:creationId xmlns:a16="http://schemas.microsoft.com/office/drawing/2014/main" id="{CF6C7E38-2547-F333-7EB9-6B63D97D0968}"/>
              </a:ext>
            </a:extLst>
          </p:cNvPr>
          <p:cNvCxnSpPr>
            <a:cxnSpLocks/>
          </p:cNvCxnSpPr>
          <p:nvPr/>
        </p:nvCxnSpPr>
        <p:spPr>
          <a:xfrm>
            <a:off x="5109551" y="3756127"/>
            <a:ext cx="3066331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4D4A51DD-C3B0-DF8B-4676-F7E3269EA914}"/>
              </a:ext>
            </a:extLst>
          </p:cNvPr>
          <p:cNvSpPr txBox="1"/>
          <p:nvPr/>
        </p:nvSpPr>
        <p:spPr>
          <a:xfrm>
            <a:off x="5597341" y="3761357"/>
            <a:ext cx="1890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구조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규칙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영향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갭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리뷰 자산 조회</a:t>
            </a:r>
          </a:p>
        </p:txBody>
      </p:sp>
      <p:cxnSp>
        <p:nvCxnSpPr>
          <p:cNvPr id="145" name="직선 화살표 연결선 8">
            <a:extLst>
              <a:ext uri="{FF2B5EF4-FFF2-40B4-BE49-F238E27FC236}">
                <a16:creationId xmlns:a16="http://schemas.microsoft.com/office/drawing/2014/main" id="{0B4A9E14-4A6E-DADF-68F4-FBC90F663A07}"/>
              </a:ext>
            </a:extLst>
          </p:cNvPr>
          <p:cNvCxnSpPr>
            <a:cxnSpLocks/>
            <a:stCxn id="134" idx="0"/>
            <a:endCxn id="135" idx="2"/>
          </p:cNvCxnSpPr>
          <p:nvPr/>
        </p:nvCxnSpPr>
        <p:spPr>
          <a:xfrm rot="5400000" flipH="1" flipV="1">
            <a:off x="9587399" y="2366762"/>
            <a:ext cx="329050" cy="1465547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8">
            <a:extLst>
              <a:ext uri="{FF2B5EF4-FFF2-40B4-BE49-F238E27FC236}">
                <a16:creationId xmlns:a16="http://schemas.microsoft.com/office/drawing/2014/main" id="{98A73CA2-8B71-A8BD-129F-3F6E4C67507F}"/>
              </a:ext>
            </a:extLst>
          </p:cNvPr>
          <p:cNvCxnSpPr>
            <a:cxnSpLocks/>
            <a:stCxn id="134" idx="2"/>
            <a:endCxn id="136" idx="2"/>
          </p:cNvCxnSpPr>
          <p:nvPr/>
        </p:nvCxnSpPr>
        <p:spPr>
          <a:xfrm rot="16200000" flipH="1">
            <a:off x="9597453" y="3366408"/>
            <a:ext cx="308942" cy="1465547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8">
            <a:extLst>
              <a:ext uri="{FF2B5EF4-FFF2-40B4-BE49-F238E27FC236}">
                <a16:creationId xmlns:a16="http://schemas.microsoft.com/office/drawing/2014/main" id="{C14E1CFA-A41E-6124-4EF8-DA2297B1682B}"/>
              </a:ext>
            </a:extLst>
          </p:cNvPr>
          <p:cNvCxnSpPr>
            <a:cxnSpLocks/>
            <a:stCxn id="134" idx="2"/>
            <a:endCxn id="137" idx="2"/>
          </p:cNvCxnSpPr>
          <p:nvPr/>
        </p:nvCxnSpPr>
        <p:spPr>
          <a:xfrm rot="16200000" flipH="1">
            <a:off x="8885783" y="4078078"/>
            <a:ext cx="1732282" cy="1465547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BFE462A1-84BC-1B54-B36E-99F53CE7A2E2}"/>
              </a:ext>
            </a:extLst>
          </p:cNvPr>
          <p:cNvSpPr txBox="1"/>
          <p:nvPr/>
        </p:nvSpPr>
        <p:spPr>
          <a:xfrm>
            <a:off x="9052651" y="2719565"/>
            <a:ext cx="1398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구조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의존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호출 경로 조회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90E9CB3-5DE8-CAE0-A49B-D711AA798C7B}"/>
              </a:ext>
            </a:extLst>
          </p:cNvPr>
          <p:cNvSpPr txBox="1"/>
          <p:nvPr/>
        </p:nvSpPr>
        <p:spPr>
          <a:xfrm>
            <a:off x="9029238" y="5461548"/>
            <a:ext cx="1398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규칙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규칙</a:t>
            </a:r>
            <a:r>
              <a:rPr kumimoji="1" lang="en-US" altLang="ko-KR" sz="800" dirty="0"/>
              <a:t>-</a:t>
            </a:r>
            <a:r>
              <a:rPr kumimoji="1" lang="ko-KR" altLang="en-US" sz="800" dirty="0"/>
              <a:t>코드 링크 조회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D965F43-5BDF-AA49-633F-1B1E660A2850}"/>
              </a:ext>
            </a:extLst>
          </p:cNvPr>
          <p:cNvSpPr txBox="1"/>
          <p:nvPr/>
        </p:nvSpPr>
        <p:spPr>
          <a:xfrm>
            <a:off x="9029237" y="4264099"/>
            <a:ext cx="1398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문서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리포트 영구 저장</a:t>
            </a:r>
          </a:p>
        </p:txBody>
      </p:sp>
    </p:spTree>
    <p:extLst>
      <p:ext uri="{BB962C8B-B14F-4D97-AF65-F5344CB8AC3E}">
        <p14:creationId xmlns:p14="http://schemas.microsoft.com/office/powerpoint/2010/main" val="197578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10729</TotalTime>
  <Words>225</Words>
  <Application>Microsoft Macintosh PowerPoint</Application>
  <PresentationFormat>와이드스크린</PresentationFormat>
  <Paragraphs>58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Pretendard SemiBold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배 석현</cp:lastModifiedBy>
  <cp:revision>327</cp:revision>
  <cp:lastPrinted>2026-01-09T08:14:09Z</cp:lastPrinted>
  <dcterms:created xsi:type="dcterms:W3CDTF">2022-09-15T01:21:24Z</dcterms:created>
  <dcterms:modified xsi:type="dcterms:W3CDTF">2026-04-13T08:30:41Z</dcterms:modified>
</cp:coreProperties>
</file>