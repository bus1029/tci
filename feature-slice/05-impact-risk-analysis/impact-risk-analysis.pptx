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315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439C"/>
    <a:srgbClr val="899197"/>
    <a:srgbClr val="BBDEF8"/>
    <a:srgbClr val="5CB5FE"/>
    <a:srgbClr val="6D757E"/>
    <a:srgbClr val="1A75D2"/>
    <a:srgbClr val="415B88"/>
    <a:srgbClr val="F8F9FA"/>
    <a:srgbClr val="51575C"/>
    <a:srgbClr val="EBF7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62" autoAdjust="0"/>
    <p:restoredTop sz="94346"/>
  </p:normalViewPr>
  <p:slideViewPr>
    <p:cSldViewPr snapToGrid="0">
      <p:cViewPr varScale="1">
        <p:scale>
          <a:sx n="150" d="100"/>
          <a:sy n="150" d="100"/>
        </p:scale>
        <p:origin x="256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37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E36D4-B224-4D49-A73E-0BF1A210728E}" type="datetimeFigureOut">
              <a:rPr lang="ko-KR" altLang="en-US" smtClean="0"/>
              <a:t>2026. 4. 16.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661C5-6DF4-4E77-80CD-DCF64012D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04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7304B-F283-4E41-A8FA-EB923FFBA2A0}" type="datetimeFigureOut">
              <a:rPr lang="ko-KR" altLang="en-US" smtClean="0"/>
              <a:t>2026. 4. 16.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92502-E94D-4E8D-8986-81BE15697A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331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 txBox="1">
            <a:spLocks/>
          </p:cNvSpPr>
          <p:nvPr userDrawn="1"/>
        </p:nvSpPr>
        <p:spPr>
          <a:xfrm>
            <a:off x="11560552" y="6504396"/>
            <a:ext cx="490526" cy="233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8418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218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9321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10775568" y="6262414"/>
            <a:ext cx="959232" cy="595586"/>
          </a:xfrm>
          <a:prstGeom prst="rect">
            <a:avLst/>
          </a:prstGeom>
        </p:spPr>
        <p:txBody>
          <a:bodyPr vert="horz" lIns="91447" tIns="45725" rIns="91447" bIns="45725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50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50" charset="-127"/>
              </a:rPr>
              <a:pPr marL="0" marR="0" lvl="0" indent="0" algn="r" defTabSz="91450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5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" name="object 8"/>
          <p:cNvSpPr/>
          <p:nvPr userDrawn="1"/>
        </p:nvSpPr>
        <p:spPr>
          <a:xfrm>
            <a:off x="580644" y="6318503"/>
            <a:ext cx="11057890" cy="0"/>
          </a:xfrm>
          <a:custGeom>
            <a:avLst/>
            <a:gdLst/>
            <a:ahLst/>
            <a:cxnLst/>
            <a:rect l="l" t="t" r="r" b="b"/>
            <a:pathLst>
              <a:path w="11057890">
                <a:moveTo>
                  <a:pt x="0" y="0"/>
                </a:moveTo>
                <a:lnTo>
                  <a:pt x="11057509" y="0"/>
                </a:lnTo>
              </a:path>
            </a:pathLst>
          </a:custGeom>
          <a:ln w="6350">
            <a:solidFill>
              <a:srgbClr val="DBDB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직사각형 12"/>
          <p:cNvSpPr/>
          <p:nvPr userDrawn="1"/>
        </p:nvSpPr>
        <p:spPr>
          <a:xfrm>
            <a:off x="491124" y="6428173"/>
            <a:ext cx="247215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Copyrightⓒ 2025 </a:t>
            </a:r>
            <a:r>
              <a:rPr lang="en-US" altLang="ko-KR" sz="800" dirty="0" err="1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TmaxSoft</a:t>
            </a:r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  All Rights Reserved.</a:t>
            </a:r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1317" y="338424"/>
            <a:ext cx="1157417" cy="11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568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393CA-1A98-4091-B4F8-8CF82E62BE0C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F8EB2-BEDB-4375-BAD0-E61FA200F7A6}" type="datetimeFigureOut">
              <a:rPr lang="ko-KR" altLang="en-US" smtClean="0"/>
              <a:pPr/>
              <a:t>2026. 4. 16.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646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8" r:id="rId2"/>
    <p:sldLayoutId id="2147483669" r:id="rId3"/>
    <p:sldLayoutId id="2147483670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4">
            <a:extLst>
              <a:ext uri="{FF2B5EF4-FFF2-40B4-BE49-F238E27FC236}">
                <a16:creationId xmlns:a16="http://schemas.microsoft.com/office/drawing/2014/main" id="{7D272850-49B8-8298-34BD-F3F0F99D9812}"/>
              </a:ext>
            </a:extLst>
          </p:cNvPr>
          <p:cNvSpPr/>
          <p:nvPr/>
        </p:nvSpPr>
        <p:spPr>
          <a:xfrm>
            <a:off x="10169361" y="1798219"/>
            <a:ext cx="1712866" cy="2036992"/>
          </a:xfrm>
          <a:prstGeom prst="rect">
            <a:avLst/>
          </a:prstGeom>
          <a:solidFill>
            <a:srgbClr val="FFFFFF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" rtlCol="0" anchor="t"/>
          <a:lstStyle/>
          <a:p>
            <a:pPr algn="ctr">
              <a:defRPr sz="900" b="1">
                <a:solidFill>
                  <a:srgbClr val="2D2D2D"/>
                </a:solidFill>
              </a:defRPr>
            </a:pPr>
            <a:r>
              <a:rPr lang="en-US" dirty="0">
                <a:latin typeface="+mn-ea"/>
              </a:rPr>
              <a:t>Knowledge Base</a:t>
            </a:r>
            <a:endParaRPr dirty="0">
              <a:latin typeface="+mn-ea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F4100FF6-FAC1-1C81-0AF5-90657169CC24}"/>
              </a:ext>
            </a:extLst>
          </p:cNvPr>
          <p:cNvSpPr/>
          <p:nvPr/>
        </p:nvSpPr>
        <p:spPr>
          <a:xfrm>
            <a:off x="3826641" y="886683"/>
            <a:ext cx="6274092" cy="3967024"/>
          </a:xfrm>
          <a:prstGeom prst="rect">
            <a:avLst/>
          </a:prstGeom>
          <a:solidFill>
            <a:srgbClr val="FFFFFF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" rtlCol="0" anchor="t"/>
          <a:lstStyle/>
          <a:p>
            <a:pPr algn="ctr">
              <a:defRPr sz="900" b="1">
                <a:solidFill>
                  <a:srgbClr val="2D2D2D"/>
                </a:solidFill>
              </a:defRPr>
            </a:pPr>
            <a:r>
              <a:rPr lang="en-US" dirty="0">
                <a:latin typeface="+mn-ea"/>
              </a:rPr>
              <a:t>Analysis Engine</a:t>
            </a:r>
            <a:endParaRPr dirty="0">
              <a:latin typeface="+mn-ea"/>
            </a:endParaRPr>
          </a:p>
        </p:txBody>
      </p:sp>
      <p:sp>
        <p:nvSpPr>
          <p:cNvPr id="2" name="Rounded Rectangle 8">
            <a:extLst>
              <a:ext uri="{FF2B5EF4-FFF2-40B4-BE49-F238E27FC236}">
                <a16:creationId xmlns:a16="http://schemas.microsoft.com/office/drawing/2014/main" id="{DA3707AE-6F76-9848-32F5-8CA74FF349A9}"/>
              </a:ext>
            </a:extLst>
          </p:cNvPr>
          <p:cNvSpPr/>
          <p:nvPr/>
        </p:nvSpPr>
        <p:spPr>
          <a:xfrm>
            <a:off x="220392" y="2533251"/>
            <a:ext cx="1325880" cy="566928"/>
          </a:xfrm>
          <a:prstGeom prst="roundRect">
            <a:avLst/>
          </a:prstGeom>
          <a:solidFill>
            <a:srgbClr val="08427B"/>
          </a:solidFill>
          <a:ln w="12700">
            <a:solidFill>
              <a:srgbClr val="0842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8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Dev / Reviewer</a:t>
            </a:r>
            <a:endParaRPr dirty="0">
              <a:latin typeface="+mn-ea"/>
            </a:endParaRPr>
          </a:p>
          <a:p>
            <a:pPr algn="ctr">
              <a:defRPr sz="78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변경 영향 분석 요청</a:t>
            </a:r>
            <a:endParaRPr dirty="0">
              <a:latin typeface="+mn-ea"/>
            </a:endParaRPr>
          </a:p>
        </p:txBody>
      </p:sp>
      <p:sp>
        <p:nvSpPr>
          <p:cNvPr id="3" name="Rounded Rectangle 8">
            <a:extLst>
              <a:ext uri="{FF2B5EF4-FFF2-40B4-BE49-F238E27FC236}">
                <a16:creationId xmlns:a16="http://schemas.microsoft.com/office/drawing/2014/main" id="{24E690A8-CB4B-FDC6-5EB3-F4AD3524CAAC}"/>
              </a:ext>
            </a:extLst>
          </p:cNvPr>
          <p:cNvSpPr/>
          <p:nvPr/>
        </p:nvSpPr>
        <p:spPr>
          <a:xfrm>
            <a:off x="220392" y="3241911"/>
            <a:ext cx="1325880" cy="566928"/>
          </a:xfrm>
          <a:prstGeom prst="roundRect">
            <a:avLst/>
          </a:prstGeom>
          <a:solidFill>
            <a:srgbClr val="08427B"/>
          </a:solidFill>
          <a:ln w="12700">
            <a:solidFill>
              <a:srgbClr val="0842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8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Local Change Collector</a:t>
            </a:r>
            <a:endParaRPr dirty="0">
              <a:latin typeface="+mn-ea"/>
            </a:endParaRPr>
          </a:p>
          <a:p>
            <a:pPr algn="ctr">
              <a:defRPr sz="780" b="0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IDE </a:t>
            </a:r>
            <a:r>
              <a:rPr lang="ko-KR" altLang="en-US" dirty="0">
                <a:latin typeface="+mn-ea"/>
              </a:rPr>
              <a:t>로컬 변경 수집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전달</a:t>
            </a:r>
            <a:endParaRPr dirty="0">
              <a:latin typeface="+mn-ea"/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969FC3D1-A2B2-68E8-40C3-B651DE4DDF67}"/>
              </a:ext>
            </a:extLst>
          </p:cNvPr>
          <p:cNvSpPr/>
          <p:nvPr/>
        </p:nvSpPr>
        <p:spPr>
          <a:xfrm>
            <a:off x="1932821" y="2036756"/>
            <a:ext cx="1507270" cy="566928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Interaction Gateway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사용자 </a:t>
            </a:r>
            <a:r>
              <a:rPr lang="en-US" altLang="ko-KR" dirty="0">
                <a:latin typeface="+mn-ea"/>
              </a:rPr>
              <a:t>UI </a:t>
            </a:r>
            <a:r>
              <a:rPr lang="ko-KR" altLang="en-US" dirty="0" err="1">
                <a:latin typeface="+mn-ea"/>
              </a:rPr>
              <a:t>진입점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결과 렌더링</a:t>
            </a:r>
            <a:endParaRPr dirty="0">
              <a:latin typeface="+mn-ea"/>
            </a:endParaRP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0D09C080-EDDD-2C8D-6505-C29AB38BF0D5}"/>
              </a:ext>
            </a:extLst>
          </p:cNvPr>
          <p:cNvSpPr/>
          <p:nvPr/>
        </p:nvSpPr>
        <p:spPr>
          <a:xfrm>
            <a:off x="3984098" y="2533251"/>
            <a:ext cx="1507270" cy="566928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Analysis Coordinator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Diff, </a:t>
            </a:r>
            <a:r>
              <a:rPr lang="ko-KR" altLang="en-US" dirty="0">
                <a:latin typeface="+mn-ea"/>
              </a:rPr>
              <a:t>객체 진입 경로 통합</a:t>
            </a:r>
            <a:endParaRPr lang="en-US" altLang="ko-KR"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분석 범위 확정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오케스트레이션</a:t>
            </a:r>
            <a:endParaRPr dirty="0">
              <a:latin typeface="+mn-ea"/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C0CB98D-09B2-C88B-741A-B07B90DF6F55}"/>
              </a:ext>
            </a:extLst>
          </p:cNvPr>
          <p:cNvSpPr/>
          <p:nvPr/>
        </p:nvSpPr>
        <p:spPr>
          <a:xfrm>
            <a:off x="1928666" y="3764084"/>
            <a:ext cx="150727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4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" rtlCol="0" anchor="t"/>
          <a:lstStyle/>
          <a:p>
            <a:pPr algn="ctr">
              <a:defRPr sz="900" b="1">
                <a:solidFill>
                  <a:srgbClr val="2D2D2D"/>
                </a:solidFill>
              </a:defRPr>
            </a:pPr>
            <a:r>
              <a:rPr>
                <a:latin typeface="+mn-ea"/>
              </a:rPr>
              <a:t>External</a:t>
            </a:r>
          </a:p>
        </p:txBody>
      </p:sp>
      <p:sp>
        <p:nvSpPr>
          <p:cNvPr id="8" name="Rectangle 21">
            <a:extLst>
              <a:ext uri="{FF2B5EF4-FFF2-40B4-BE49-F238E27FC236}">
                <a16:creationId xmlns:a16="http://schemas.microsoft.com/office/drawing/2014/main" id="{4CA490D9-E397-09F3-A1F1-CF6CD3AD2C46}"/>
              </a:ext>
            </a:extLst>
          </p:cNvPr>
          <p:cNvSpPr/>
          <p:nvPr/>
        </p:nvSpPr>
        <p:spPr>
          <a:xfrm>
            <a:off x="2133661" y="4111556"/>
            <a:ext cx="1097280" cy="530352"/>
          </a:xfrm>
          <a:prstGeom prst="rect">
            <a:avLst/>
          </a:prstGeom>
          <a:solidFill>
            <a:srgbClr val="6B4C9A"/>
          </a:solidFill>
          <a:ln w="12700">
            <a:solidFill>
              <a:srgbClr val="6B4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10" b="1">
                <a:solidFill>
                  <a:srgbClr val="FFFFFF"/>
                </a:solidFill>
              </a:defRPr>
            </a:pPr>
            <a:r>
              <a:rPr dirty="0">
                <a:latin typeface="+mn-ea"/>
              </a:rPr>
              <a:t>LLM</a:t>
            </a:r>
          </a:p>
          <a:p>
            <a:pPr algn="ctr">
              <a:defRPr sz="710" b="0">
                <a:solidFill>
                  <a:srgbClr val="FFFFFF"/>
                </a:solidFill>
              </a:defRPr>
            </a:pPr>
            <a:r>
              <a:rPr dirty="0" err="1">
                <a:latin typeface="+mn-ea"/>
              </a:rPr>
              <a:t>외부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시스템</a:t>
            </a:r>
            <a:endParaRPr dirty="0">
              <a:latin typeface="+mn-ea"/>
            </a:endParaRPr>
          </a:p>
          <a:p>
            <a:pPr algn="ctr">
              <a:defRPr sz="71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자연어 답변 합성</a:t>
            </a:r>
            <a:endParaRPr dirty="0">
              <a:latin typeface="+mn-ea"/>
            </a:endParaRPr>
          </a:p>
        </p:txBody>
      </p:sp>
      <p:sp>
        <p:nvSpPr>
          <p:cNvPr id="9" name="Key Feature">
            <a:extLst>
              <a:ext uri="{FF2B5EF4-FFF2-40B4-BE49-F238E27FC236}">
                <a16:creationId xmlns:a16="http://schemas.microsoft.com/office/drawing/2014/main" id="{36F6D973-91CE-328B-16F2-9472513CEF9C}"/>
              </a:ext>
            </a:extLst>
          </p:cNvPr>
          <p:cNvSpPr/>
          <p:nvPr/>
        </p:nvSpPr>
        <p:spPr>
          <a:xfrm>
            <a:off x="444499" y="285750"/>
            <a:ext cx="4112163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333"/>
              </a:lnSpc>
            </a:pPr>
            <a:r>
              <a:rPr lang="ko-KR" altLang="en-US" sz="19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영향</a:t>
            </a:r>
            <a:r>
              <a:rPr lang="en-US" altLang="ko-KR" sz="19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/</a:t>
            </a:r>
            <a:r>
              <a:rPr lang="ko-KR" altLang="en-US" sz="19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리스크 분석</a:t>
            </a:r>
            <a:endParaRPr lang="en-US" altLang="ko-Kore-KR" sz="19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B2ABB89-4F70-20C6-F386-07CF48B928EE}"/>
              </a:ext>
            </a:extLst>
          </p:cNvPr>
          <p:cNvSpPr/>
          <p:nvPr/>
        </p:nvSpPr>
        <p:spPr>
          <a:xfrm>
            <a:off x="6622476" y="1234155"/>
            <a:ext cx="1679404" cy="566928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Dependency Impact Analyzer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의존 그래프 탐색</a:t>
            </a:r>
            <a:endParaRPr lang="en-US" altLang="ko-KR"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직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간접 영향 경로 도출</a:t>
            </a:r>
            <a:endParaRPr dirty="0">
              <a:latin typeface="+mn-ea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9443E075-A581-D95A-9122-0EDEA0C414C3}"/>
              </a:ext>
            </a:extLst>
          </p:cNvPr>
          <p:cNvSpPr/>
          <p:nvPr/>
        </p:nvSpPr>
        <p:spPr>
          <a:xfrm>
            <a:off x="6622475" y="1927295"/>
            <a:ext cx="1679405" cy="566928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Boundary &amp; Test Impact Analyzer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시스템 경계 전파 영향 탐색</a:t>
            </a:r>
            <a:endParaRPr lang="en-US" altLang="ko-KR"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영향 테스트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우선순위 도출</a:t>
            </a:r>
            <a:endParaRPr dirty="0">
              <a:latin typeface="+mn-ea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C235517A-426A-ACDE-A7C6-D952717EA1FD}"/>
              </a:ext>
            </a:extLst>
          </p:cNvPr>
          <p:cNvSpPr/>
          <p:nvPr/>
        </p:nvSpPr>
        <p:spPr>
          <a:xfrm>
            <a:off x="6622475" y="2620435"/>
            <a:ext cx="1679405" cy="566928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Risk Scorer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리스크 점수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등급 계산</a:t>
            </a:r>
            <a:endParaRPr lang="en-US" altLang="ko-KR"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핫스팟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우선 점검 추천</a:t>
            </a:r>
            <a:endParaRPr dirty="0">
              <a:latin typeface="+mn-ea"/>
            </a:endParaRP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8CF07475-EFB7-D3E6-0CFC-39865566BBDE}"/>
              </a:ext>
            </a:extLst>
          </p:cNvPr>
          <p:cNvSpPr/>
          <p:nvPr/>
        </p:nvSpPr>
        <p:spPr>
          <a:xfrm>
            <a:off x="6622475" y="3313575"/>
            <a:ext cx="1679405" cy="566928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Rule Impact Analyzer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비즈니스 규칙 영향 탐지</a:t>
            </a:r>
            <a:endParaRPr lang="en-US" altLang="ko-KR"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트랜잭션 의미 변화 분석</a:t>
            </a:r>
            <a:endParaRPr dirty="0">
              <a:latin typeface="+mn-ea"/>
            </a:endParaRPr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2B3052E0-FCC4-7F3D-0729-A945E40C23C6}"/>
              </a:ext>
            </a:extLst>
          </p:cNvPr>
          <p:cNvSpPr/>
          <p:nvPr/>
        </p:nvSpPr>
        <p:spPr>
          <a:xfrm>
            <a:off x="6228912" y="4006715"/>
            <a:ext cx="1679405" cy="566928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Insight Generator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LLM </a:t>
            </a:r>
            <a:r>
              <a:rPr lang="ko-KR" altLang="en-US" dirty="0">
                <a:latin typeface="+mn-ea"/>
              </a:rPr>
              <a:t>호출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응답 정합성 검증</a:t>
            </a:r>
            <a:endParaRPr lang="en-US" altLang="ko-KR"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리스크 서사</a:t>
            </a:r>
            <a:r>
              <a:rPr lang="en-US" altLang="ko-KR" dirty="0">
                <a:latin typeface="+mn-ea"/>
              </a:rPr>
              <a:t>(?),</a:t>
            </a:r>
            <a:r>
              <a:rPr lang="ko-KR" altLang="en-US" dirty="0">
                <a:latin typeface="+mn-ea"/>
              </a:rPr>
              <a:t> 비즈니스 번역</a:t>
            </a:r>
            <a:r>
              <a:rPr lang="en-US" altLang="ko-KR" dirty="0">
                <a:latin typeface="+mn-ea"/>
              </a:rPr>
              <a:t>(?)</a:t>
            </a:r>
            <a:endParaRPr dirty="0">
              <a:latin typeface="+mn-ea"/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4C1867F8-1C22-F52C-691C-D19DF456F893}"/>
              </a:ext>
            </a:extLst>
          </p:cNvPr>
          <p:cNvSpPr/>
          <p:nvPr/>
        </p:nvSpPr>
        <p:spPr>
          <a:xfrm>
            <a:off x="8873242" y="4156405"/>
            <a:ext cx="1137540" cy="566928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Report Assembler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시각화 레이아웃</a:t>
            </a:r>
            <a:endParaRPr lang="en-US" altLang="ko-KR"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리포트 원본 조립</a:t>
            </a:r>
            <a:endParaRPr dirty="0">
              <a:latin typeface="+mn-ea"/>
            </a:endParaRPr>
          </a:p>
        </p:txBody>
      </p:sp>
      <p:sp>
        <p:nvSpPr>
          <p:cNvPr id="19" name="Can 18">
            <a:extLst>
              <a:ext uri="{FF2B5EF4-FFF2-40B4-BE49-F238E27FC236}">
                <a16:creationId xmlns:a16="http://schemas.microsoft.com/office/drawing/2014/main" id="{BC8D108A-9131-B29B-7670-A061D8ADA184}"/>
              </a:ext>
            </a:extLst>
          </p:cNvPr>
          <p:cNvSpPr/>
          <p:nvPr/>
        </p:nvSpPr>
        <p:spPr>
          <a:xfrm>
            <a:off x="10317134" y="2252311"/>
            <a:ext cx="1417320" cy="617883"/>
          </a:xfrm>
          <a:prstGeom prst="can">
            <a:avLst/>
          </a:prstGeom>
          <a:solidFill>
            <a:srgbClr val="7A9EC8"/>
          </a:solidFill>
          <a:ln w="12700">
            <a:solidFill>
              <a:srgbClr val="7A9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rPr dirty="0" err="1">
                <a:latin typeface="+mn-ea"/>
              </a:rPr>
              <a:t>구조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지식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그래프</a:t>
            </a:r>
            <a:endParaRPr dirty="0">
              <a:latin typeface="+mn-ea"/>
            </a:endParaRPr>
          </a:p>
          <a:p>
            <a:pPr algn="ctr">
              <a:defRPr sz="800" b="0">
                <a:solidFill>
                  <a:srgbClr val="FFFFFF"/>
                </a:solidFill>
              </a:defRPr>
            </a:pPr>
            <a:r>
              <a:rPr dirty="0" err="1">
                <a:latin typeface="+mn-ea"/>
              </a:rPr>
              <a:t>코드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구조·의존·흐름</a:t>
            </a:r>
            <a:endParaRPr dirty="0">
              <a:latin typeface="+mn-ea"/>
            </a:endParaRPr>
          </a:p>
        </p:txBody>
      </p:sp>
      <p:sp>
        <p:nvSpPr>
          <p:cNvPr id="20" name="Can 19">
            <a:extLst>
              <a:ext uri="{FF2B5EF4-FFF2-40B4-BE49-F238E27FC236}">
                <a16:creationId xmlns:a16="http://schemas.microsoft.com/office/drawing/2014/main" id="{1128E6D7-9093-85E3-8780-33CE8B87C7F2}"/>
              </a:ext>
            </a:extLst>
          </p:cNvPr>
          <p:cNvSpPr/>
          <p:nvPr/>
        </p:nvSpPr>
        <p:spPr>
          <a:xfrm>
            <a:off x="10317134" y="3043761"/>
            <a:ext cx="1417320" cy="617882"/>
          </a:xfrm>
          <a:prstGeom prst="can">
            <a:avLst/>
          </a:prstGeom>
          <a:solidFill>
            <a:srgbClr val="7A9EC8"/>
          </a:solidFill>
          <a:ln w="12700">
            <a:solidFill>
              <a:srgbClr val="7A9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rPr dirty="0" err="1">
                <a:latin typeface="+mn-ea"/>
              </a:rPr>
              <a:t>비즈니스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규칙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카탈로그</a:t>
            </a:r>
            <a:endParaRPr dirty="0">
              <a:latin typeface="+mn-ea"/>
            </a:endParaRPr>
          </a:p>
          <a:p>
            <a:pPr algn="ctr">
              <a:defRPr sz="800" b="0">
                <a:solidFill>
                  <a:srgbClr val="FFFFFF"/>
                </a:solidFill>
              </a:defRPr>
            </a:pPr>
            <a:r>
              <a:rPr dirty="0" err="1">
                <a:latin typeface="+mn-ea"/>
              </a:rPr>
              <a:t>규칙·규칙-코드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링크</a:t>
            </a:r>
            <a:endParaRPr dirty="0">
              <a:latin typeface="+mn-ea"/>
            </a:endParaRPr>
          </a:p>
        </p:txBody>
      </p:sp>
      <p:cxnSp>
        <p:nvCxnSpPr>
          <p:cNvPr id="6" name="직선 화살표 연결선 8">
            <a:extLst>
              <a:ext uri="{FF2B5EF4-FFF2-40B4-BE49-F238E27FC236}">
                <a16:creationId xmlns:a16="http://schemas.microsoft.com/office/drawing/2014/main" id="{D5286AD5-3F46-3E43-6D56-44F567C89A06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 flipV="1">
            <a:off x="5491368" y="1517619"/>
            <a:ext cx="1131108" cy="1299096"/>
          </a:xfrm>
          <a:prstGeom prst="bentConnector3">
            <a:avLst>
              <a:gd name="adj1" fmla="val 19484"/>
            </a:avLst>
          </a:prstGeom>
          <a:ln w="3175">
            <a:solidFill>
              <a:schemeClr val="tx1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8">
            <a:extLst>
              <a:ext uri="{FF2B5EF4-FFF2-40B4-BE49-F238E27FC236}">
                <a16:creationId xmlns:a16="http://schemas.microsoft.com/office/drawing/2014/main" id="{C5E7A604-C1CB-1290-EFD8-524E70DB1328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 flipV="1">
            <a:off x="5491368" y="2210759"/>
            <a:ext cx="1131107" cy="605956"/>
          </a:xfrm>
          <a:prstGeom prst="bentConnector3">
            <a:avLst>
              <a:gd name="adj1" fmla="val 19484"/>
            </a:avLst>
          </a:prstGeom>
          <a:ln w="3175">
            <a:solidFill>
              <a:schemeClr val="tx1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8">
            <a:extLst>
              <a:ext uri="{FF2B5EF4-FFF2-40B4-BE49-F238E27FC236}">
                <a16:creationId xmlns:a16="http://schemas.microsoft.com/office/drawing/2014/main" id="{34D2B510-C50D-F23D-3AB9-7732F414B582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>
            <a:off x="5491368" y="2816715"/>
            <a:ext cx="1131107" cy="87184"/>
          </a:xfrm>
          <a:prstGeom prst="bentConnector3">
            <a:avLst>
              <a:gd name="adj1" fmla="val 19484"/>
            </a:avLst>
          </a:prstGeom>
          <a:ln w="3175">
            <a:solidFill>
              <a:schemeClr val="tx1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8">
            <a:extLst>
              <a:ext uri="{FF2B5EF4-FFF2-40B4-BE49-F238E27FC236}">
                <a16:creationId xmlns:a16="http://schemas.microsoft.com/office/drawing/2014/main" id="{CC3239DD-36A1-2942-1B17-ACC754D98872}"/>
              </a:ext>
            </a:extLst>
          </p:cNvPr>
          <p:cNvCxnSpPr>
            <a:cxnSpLocks/>
            <a:stCxn id="5" idx="3"/>
            <a:endCxn id="14" idx="1"/>
          </p:cNvCxnSpPr>
          <p:nvPr/>
        </p:nvCxnSpPr>
        <p:spPr>
          <a:xfrm>
            <a:off x="5491368" y="2816715"/>
            <a:ext cx="1131107" cy="780324"/>
          </a:xfrm>
          <a:prstGeom prst="bentConnector3">
            <a:avLst>
              <a:gd name="adj1" fmla="val 19484"/>
            </a:avLst>
          </a:prstGeom>
          <a:ln w="3175">
            <a:solidFill>
              <a:schemeClr val="tx1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8">
            <a:extLst>
              <a:ext uri="{FF2B5EF4-FFF2-40B4-BE49-F238E27FC236}">
                <a16:creationId xmlns:a16="http://schemas.microsoft.com/office/drawing/2014/main" id="{FDE6814A-A42A-5785-8F52-9B038C3F10B5}"/>
              </a:ext>
            </a:extLst>
          </p:cNvPr>
          <p:cNvCxnSpPr>
            <a:cxnSpLocks/>
          </p:cNvCxnSpPr>
          <p:nvPr/>
        </p:nvCxnSpPr>
        <p:spPr>
          <a:xfrm>
            <a:off x="4895190" y="3097626"/>
            <a:ext cx="1326764" cy="1038340"/>
          </a:xfrm>
          <a:prstGeom prst="bentConnector3">
            <a:avLst>
              <a:gd name="adj1" fmla="val 999"/>
            </a:avLst>
          </a:prstGeom>
          <a:ln w="317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8">
            <a:extLst>
              <a:ext uri="{FF2B5EF4-FFF2-40B4-BE49-F238E27FC236}">
                <a16:creationId xmlns:a16="http://schemas.microsoft.com/office/drawing/2014/main" id="{02853A0E-4F89-83A4-C7A8-EA08B3262A4A}"/>
              </a:ext>
            </a:extLst>
          </p:cNvPr>
          <p:cNvCxnSpPr>
            <a:cxnSpLocks/>
            <a:endCxn id="5" idx="2"/>
          </p:cNvCxnSpPr>
          <p:nvPr/>
        </p:nvCxnSpPr>
        <p:spPr>
          <a:xfrm rot="10800000">
            <a:off x="4737733" y="3100180"/>
            <a:ext cx="4135508" cy="1540495"/>
          </a:xfrm>
          <a:prstGeom prst="bentConnector2">
            <a:avLst/>
          </a:prstGeom>
          <a:ln w="317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8">
            <a:extLst>
              <a:ext uri="{FF2B5EF4-FFF2-40B4-BE49-F238E27FC236}">
                <a16:creationId xmlns:a16="http://schemas.microsoft.com/office/drawing/2014/main" id="{43F6C8C5-21DA-3F47-52A4-AF44C0D58368}"/>
              </a:ext>
            </a:extLst>
          </p:cNvPr>
          <p:cNvCxnSpPr>
            <a:cxnSpLocks/>
            <a:stCxn id="5" idx="0"/>
            <a:endCxn id="4" idx="1"/>
          </p:cNvCxnSpPr>
          <p:nvPr/>
        </p:nvCxnSpPr>
        <p:spPr>
          <a:xfrm rot="16200000" flipV="1">
            <a:off x="3228762" y="1024280"/>
            <a:ext cx="213031" cy="2804912"/>
          </a:xfrm>
          <a:prstGeom prst="bentConnector4">
            <a:avLst>
              <a:gd name="adj1" fmla="val 352069"/>
              <a:gd name="adj2" fmla="val 108150"/>
            </a:avLst>
          </a:prstGeom>
          <a:ln w="317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8">
            <a:extLst>
              <a:ext uri="{FF2B5EF4-FFF2-40B4-BE49-F238E27FC236}">
                <a16:creationId xmlns:a16="http://schemas.microsoft.com/office/drawing/2014/main" id="{8447F4C0-4DF6-39E4-34BB-196F0C33C575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440091" y="2320220"/>
            <a:ext cx="544007" cy="496495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8">
            <a:extLst>
              <a:ext uri="{FF2B5EF4-FFF2-40B4-BE49-F238E27FC236}">
                <a16:creationId xmlns:a16="http://schemas.microsoft.com/office/drawing/2014/main" id="{C46F12AD-223E-C9C2-80EF-24D378AB4C61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 flipV="1">
            <a:off x="1546272" y="2816715"/>
            <a:ext cx="2437826" cy="708660"/>
          </a:xfrm>
          <a:prstGeom prst="bentConnector3">
            <a:avLst>
              <a:gd name="adj1" fmla="val 88810"/>
            </a:avLst>
          </a:prstGeom>
          <a:ln w="317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8">
            <a:extLst>
              <a:ext uri="{FF2B5EF4-FFF2-40B4-BE49-F238E27FC236}">
                <a16:creationId xmlns:a16="http://schemas.microsoft.com/office/drawing/2014/main" id="{CC66E4FF-21F8-1637-1CAF-60A3367C2A10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230941" y="4376732"/>
            <a:ext cx="2991014" cy="0"/>
          </a:xfrm>
          <a:prstGeom prst="straightConnector1">
            <a:avLst/>
          </a:prstGeom>
          <a:ln w="317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8">
            <a:extLst>
              <a:ext uri="{FF2B5EF4-FFF2-40B4-BE49-F238E27FC236}">
                <a16:creationId xmlns:a16="http://schemas.microsoft.com/office/drawing/2014/main" id="{28327E26-6EED-BA2D-E90B-303F46F17A1B}"/>
              </a:ext>
            </a:extLst>
          </p:cNvPr>
          <p:cNvCxnSpPr>
            <a:cxnSpLocks/>
            <a:stCxn id="2" idx="3"/>
            <a:endCxn id="4" idx="2"/>
          </p:cNvCxnSpPr>
          <p:nvPr/>
        </p:nvCxnSpPr>
        <p:spPr>
          <a:xfrm flipV="1">
            <a:off x="1546272" y="2603684"/>
            <a:ext cx="1140184" cy="213031"/>
          </a:xfrm>
          <a:prstGeom prst="bentConnector2">
            <a:avLst/>
          </a:prstGeom>
          <a:ln w="317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8">
            <a:extLst>
              <a:ext uri="{FF2B5EF4-FFF2-40B4-BE49-F238E27FC236}">
                <a16:creationId xmlns:a16="http://schemas.microsoft.com/office/drawing/2014/main" id="{291DDC75-6D74-64EE-FD70-25A68B52E3DD}"/>
              </a:ext>
            </a:extLst>
          </p:cNvPr>
          <p:cNvCxnSpPr>
            <a:cxnSpLocks/>
            <a:stCxn id="15" idx="2"/>
            <a:endCxn id="8" idx="1"/>
          </p:cNvCxnSpPr>
          <p:nvPr/>
        </p:nvCxnSpPr>
        <p:spPr>
          <a:xfrm rot="5400000" flipH="1">
            <a:off x="4502682" y="2007711"/>
            <a:ext cx="196911" cy="4934954"/>
          </a:xfrm>
          <a:prstGeom prst="bentConnector4">
            <a:avLst>
              <a:gd name="adj1" fmla="val -206117"/>
              <a:gd name="adj2" fmla="val 106963"/>
            </a:avLst>
          </a:prstGeom>
          <a:ln w="317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8">
            <a:extLst>
              <a:ext uri="{FF2B5EF4-FFF2-40B4-BE49-F238E27FC236}">
                <a16:creationId xmlns:a16="http://schemas.microsoft.com/office/drawing/2014/main" id="{343995A5-39CC-87E2-DDA7-7EAC6A5EEA00}"/>
              </a:ext>
            </a:extLst>
          </p:cNvPr>
          <p:cNvCxnSpPr>
            <a:cxnSpLocks/>
          </p:cNvCxnSpPr>
          <p:nvPr/>
        </p:nvCxnSpPr>
        <p:spPr>
          <a:xfrm>
            <a:off x="7908317" y="4485363"/>
            <a:ext cx="964924" cy="0"/>
          </a:xfrm>
          <a:prstGeom prst="straightConnector1">
            <a:avLst/>
          </a:prstGeom>
          <a:ln w="317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">
            <a:extLst>
              <a:ext uri="{FF2B5EF4-FFF2-40B4-BE49-F238E27FC236}">
                <a16:creationId xmlns:a16="http://schemas.microsoft.com/office/drawing/2014/main" id="{41F6C68D-630B-3F35-6BF4-0A0FFD75E5A3}"/>
              </a:ext>
            </a:extLst>
          </p:cNvPr>
          <p:cNvCxnSpPr>
            <a:cxnSpLocks/>
            <a:stCxn id="11" idx="3"/>
            <a:endCxn id="19" idx="2"/>
          </p:cNvCxnSpPr>
          <p:nvPr/>
        </p:nvCxnSpPr>
        <p:spPr>
          <a:xfrm>
            <a:off x="8301880" y="1517619"/>
            <a:ext cx="2015254" cy="1043634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">
            <a:extLst>
              <a:ext uri="{FF2B5EF4-FFF2-40B4-BE49-F238E27FC236}">
                <a16:creationId xmlns:a16="http://schemas.microsoft.com/office/drawing/2014/main" id="{478AACFD-8386-D84A-35D2-3A9275EA1736}"/>
              </a:ext>
            </a:extLst>
          </p:cNvPr>
          <p:cNvCxnSpPr>
            <a:cxnSpLocks/>
            <a:stCxn id="12" idx="3"/>
            <a:endCxn id="19" idx="2"/>
          </p:cNvCxnSpPr>
          <p:nvPr/>
        </p:nvCxnSpPr>
        <p:spPr>
          <a:xfrm>
            <a:off x="8301880" y="2210759"/>
            <a:ext cx="2015254" cy="350494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8">
            <a:extLst>
              <a:ext uri="{FF2B5EF4-FFF2-40B4-BE49-F238E27FC236}">
                <a16:creationId xmlns:a16="http://schemas.microsoft.com/office/drawing/2014/main" id="{77C05BD0-FEA6-1184-6848-8282523727FF}"/>
              </a:ext>
            </a:extLst>
          </p:cNvPr>
          <p:cNvCxnSpPr>
            <a:cxnSpLocks/>
            <a:endCxn id="19" idx="2"/>
          </p:cNvCxnSpPr>
          <p:nvPr/>
        </p:nvCxnSpPr>
        <p:spPr>
          <a:xfrm flipV="1">
            <a:off x="8293471" y="2561253"/>
            <a:ext cx="2023663" cy="905357"/>
          </a:xfrm>
          <a:prstGeom prst="bentConnector3">
            <a:avLst>
              <a:gd name="adj1" fmla="val 50209"/>
            </a:avLst>
          </a:prstGeom>
          <a:ln w="317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8">
            <a:extLst>
              <a:ext uri="{FF2B5EF4-FFF2-40B4-BE49-F238E27FC236}">
                <a16:creationId xmlns:a16="http://schemas.microsoft.com/office/drawing/2014/main" id="{195AC619-644F-3470-4AF7-440D27C27D81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8293471" y="3352702"/>
            <a:ext cx="2023663" cy="396398"/>
          </a:xfrm>
          <a:prstGeom prst="bentConnector3">
            <a:avLst>
              <a:gd name="adj1" fmla="val 67057"/>
            </a:avLst>
          </a:prstGeom>
          <a:ln w="317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8">
            <a:extLst>
              <a:ext uri="{FF2B5EF4-FFF2-40B4-BE49-F238E27FC236}">
                <a16:creationId xmlns:a16="http://schemas.microsoft.com/office/drawing/2014/main" id="{65145FAE-50B2-033C-F596-F1E2FBE65A47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7908317" y="3352702"/>
            <a:ext cx="2408817" cy="748815"/>
          </a:xfrm>
          <a:prstGeom prst="bentConnector3">
            <a:avLst>
              <a:gd name="adj1" fmla="val 72374"/>
            </a:avLst>
          </a:prstGeom>
          <a:ln w="317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7B2A2B63-78B3-AC58-B205-482AF551BAE0}"/>
              </a:ext>
            </a:extLst>
          </p:cNvPr>
          <p:cNvSpPr txBox="1"/>
          <p:nvPr/>
        </p:nvSpPr>
        <p:spPr>
          <a:xfrm>
            <a:off x="8285135" y="1311757"/>
            <a:ext cx="10156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의존 그래프 조회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C3E4BB4-7685-C69D-2BB5-16BDABF1D530}"/>
              </a:ext>
            </a:extLst>
          </p:cNvPr>
          <p:cNvSpPr txBox="1"/>
          <p:nvPr/>
        </p:nvSpPr>
        <p:spPr>
          <a:xfrm>
            <a:off x="8301879" y="1878175"/>
            <a:ext cx="946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경계</a:t>
            </a:r>
            <a:r>
              <a:rPr kumimoji="1" lang="en-US" altLang="ko-KR" sz="800" dirty="0"/>
              <a:t>,</a:t>
            </a:r>
            <a:r>
              <a:rPr kumimoji="1" lang="ko-KR" altLang="en-US" sz="800" dirty="0"/>
              <a:t> 테스트</a:t>
            </a:r>
            <a:r>
              <a:rPr kumimoji="1" lang="en-US" altLang="ko-KR" sz="800" dirty="0"/>
              <a:t>,</a:t>
            </a:r>
            <a:r>
              <a:rPr kumimoji="1" lang="ko-KR" altLang="en-US" sz="800" dirty="0"/>
              <a:t> </a:t>
            </a:r>
            <a:br>
              <a:rPr kumimoji="1" lang="en-US" altLang="ko-KR" sz="800" dirty="0"/>
            </a:br>
            <a:r>
              <a:rPr kumimoji="1" lang="ko-KR" altLang="en-US" sz="800" dirty="0"/>
              <a:t>코드 매핑 조회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DD3B80B-AB92-8A6F-D1AF-8AB6E1808890}"/>
              </a:ext>
            </a:extLst>
          </p:cNvPr>
          <p:cNvSpPr txBox="1"/>
          <p:nvPr/>
        </p:nvSpPr>
        <p:spPr>
          <a:xfrm>
            <a:off x="8293471" y="3240182"/>
            <a:ext cx="9802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데이터 흐름 조회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127AFD05-6282-78C1-9B40-C64B2B995D00}"/>
              </a:ext>
            </a:extLst>
          </p:cNvPr>
          <p:cNvSpPr txBox="1"/>
          <p:nvPr/>
        </p:nvSpPr>
        <p:spPr>
          <a:xfrm>
            <a:off x="8322932" y="3533640"/>
            <a:ext cx="13842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규칙</a:t>
            </a:r>
            <a:r>
              <a:rPr kumimoji="1" lang="en-US" altLang="ko-KR" sz="800" dirty="0"/>
              <a:t>,</a:t>
            </a:r>
            <a:r>
              <a:rPr kumimoji="1" lang="ko-KR" altLang="en-US" sz="800" dirty="0"/>
              <a:t> 코드 매핑 조회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8BD2C091-EAEB-A890-596A-1C04FA5662D5}"/>
              </a:ext>
            </a:extLst>
          </p:cNvPr>
          <p:cNvSpPr txBox="1"/>
          <p:nvPr/>
        </p:nvSpPr>
        <p:spPr>
          <a:xfrm>
            <a:off x="8206309" y="3867458"/>
            <a:ext cx="160569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카탈로그 컨텍스트 조회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DFF06A46-3954-F59A-9F26-1DFD3A4F5D37}"/>
              </a:ext>
            </a:extLst>
          </p:cNvPr>
          <p:cNvSpPr txBox="1"/>
          <p:nvPr/>
        </p:nvSpPr>
        <p:spPr>
          <a:xfrm>
            <a:off x="7856211" y="4155682"/>
            <a:ext cx="10701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분석</a:t>
            </a:r>
            <a:r>
              <a:rPr kumimoji="1" lang="en-US" altLang="ko-KR" sz="800" dirty="0"/>
              <a:t>,</a:t>
            </a:r>
            <a:r>
              <a:rPr kumimoji="1" lang="ko-KR" altLang="en-US" sz="800" dirty="0"/>
              <a:t> 서사 결합 </a:t>
            </a:r>
            <a:br>
              <a:rPr kumimoji="1" lang="en-US" altLang="ko-KR" sz="800" dirty="0"/>
            </a:br>
            <a:r>
              <a:rPr kumimoji="1" lang="ko-KR" altLang="en-US" sz="800" dirty="0"/>
              <a:t>결과 전달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349A7803-CF88-0791-3141-7637F0F9EC54}"/>
              </a:ext>
            </a:extLst>
          </p:cNvPr>
          <p:cNvSpPr txBox="1"/>
          <p:nvPr/>
        </p:nvSpPr>
        <p:spPr>
          <a:xfrm>
            <a:off x="4805941" y="4652007"/>
            <a:ext cx="22095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완성된 </a:t>
            </a:r>
            <a:r>
              <a:rPr kumimoji="1" lang="ko-KR" altLang="en-US" sz="800" dirty="0" err="1"/>
              <a:t>영항</a:t>
            </a:r>
            <a:r>
              <a:rPr kumimoji="1" lang="en-US" altLang="ko-KR" sz="800" dirty="0"/>
              <a:t>,</a:t>
            </a:r>
            <a:r>
              <a:rPr kumimoji="1" lang="ko-KR" altLang="en-US" sz="800" dirty="0"/>
              <a:t> 리스크 패키지 반환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B5D4327E-1E88-AF6A-C9C1-C7E52892BA71}"/>
              </a:ext>
            </a:extLst>
          </p:cNvPr>
          <p:cNvSpPr txBox="1"/>
          <p:nvPr/>
        </p:nvSpPr>
        <p:spPr>
          <a:xfrm>
            <a:off x="3641110" y="4999445"/>
            <a:ext cx="11838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자연어 합성 요청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EEFB6FCD-8F47-7768-57A6-2EA8C52380AE}"/>
              </a:ext>
            </a:extLst>
          </p:cNvPr>
          <p:cNvSpPr txBox="1"/>
          <p:nvPr/>
        </p:nvSpPr>
        <p:spPr>
          <a:xfrm>
            <a:off x="1833864" y="3313288"/>
            <a:ext cx="13918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로컬 변경 내역 전달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5D1E2BF-88F8-2D6A-F5FC-233B011F7359}"/>
              </a:ext>
            </a:extLst>
          </p:cNvPr>
          <p:cNvSpPr txBox="1"/>
          <p:nvPr/>
        </p:nvSpPr>
        <p:spPr>
          <a:xfrm>
            <a:off x="2168921" y="1558053"/>
            <a:ext cx="16190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영향</a:t>
            </a:r>
            <a:r>
              <a:rPr kumimoji="1" lang="en-US" altLang="ko-KR" sz="800" dirty="0"/>
              <a:t>,</a:t>
            </a:r>
            <a:r>
              <a:rPr kumimoji="1" lang="ko-KR" altLang="en-US" sz="800" dirty="0"/>
              <a:t> 리스크 패키지 반환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6160F702-C7E2-C904-7E37-27C1DF642644}"/>
              </a:ext>
            </a:extLst>
          </p:cNvPr>
          <p:cNvSpPr txBox="1"/>
          <p:nvPr/>
        </p:nvSpPr>
        <p:spPr>
          <a:xfrm>
            <a:off x="3802024" y="4179820"/>
            <a:ext cx="10229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인사이트 응답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0FFFE8CA-981F-5FE4-838C-BBB1B76D4AA2}"/>
              </a:ext>
            </a:extLst>
          </p:cNvPr>
          <p:cNvSpPr txBox="1"/>
          <p:nvPr/>
        </p:nvSpPr>
        <p:spPr>
          <a:xfrm>
            <a:off x="4920158" y="3802482"/>
            <a:ext cx="16336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분석 결과 </a:t>
            </a:r>
            <a:r>
              <a:rPr kumimoji="1" lang="en-US" altLang="ko-KR" sz="800" dirty="0"/>
              <a:t>+</a:t>
            </a:r>
            <a:r>
              <a:rPr kumimoji="1" lang="ko-KR" altLang="en-US" sz="800" dirty="0"/>
              <a:t> 카탈로그 컨텍스트</a:t>
            </a:r>
            <a:br>
              <a:rPr kumimoji="1" lang="en-US" altLang="ko-KR" sz="800" dirty="0"/>
            </a:br>
            <a:r>
              <a:rPr kumimoji="1" lang="ko-KR" altLang="en-US" sz="800" dirty="0"/>
              <a:t>인사이트 합성 요청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F5507CC1-F520-1DD9-A661-3570140C3927}"/>
              </a:ext>
            </a:extLst>
          </p:cNvPr>
          <p:cNvSpPr txBox="1"/>
          <p:nvPr/>
        </p:nvSpPr>
        <p:spPr>
          <a:xfrm>
            <a:off x="5787523" y="1199466"/>
            <a:ext cx="705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영향 경로 </a:t>
            </a:r>
            <a:br>
              <a:rPr kumimoji="1" lang="en-US" altLang="ko-KR" sz="800" dirty="0"/>
            </a:br>
            <a:r>
              <a:rPr kumimoji="1" lang="ko-KR" altLang="en-US" sz="800" dirty="0"/>
              <a:t>탐색</a:t>
            </a:r>
            <a:r>
              <a:rPr kumimoji="1" lang="en-US" altLang="ko-KR" sz="800" dirty="0"/>
              <a:t>/</a:t>
            </a:r>
            <a:r>
              <a:rPr kumimoji="1" lang="ko-KR" altLang="en-US" sz="800" dirty="0"/>
              <a:t>결과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46453BFD-BB43-4D94-941E-2DC0F90C74B9}"/>
              </a:ext>
            </a:extLst>
          </p:cNvPr>
          <p:cNvSpPr txBox="1"/>
          <p:nvPr/>
        </p:nvSpPr>
        <p:spPr>
          <a:xfrm>
            <a:off x="5769931" y="1884590"/>
            <a:ext cx="741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경계 테스트 </a:t>
            </a:r>
            <a:br>
              <a:rPr kumimoji="1" lang="en-US" altLang="ko-KR" sz="800" dirty="0"/>
            </a:br>
            <a:r>
              <a:rPr kumimoji="1" lang="ko-KR" altLang="en-US" sz="800" dirty="0"/>
              <a:t>영향</a:t>
            </a:r>
            <a:r>
              <a:rPr kumimoji="1" lang="en-US" altLang="ko-KR" sz="800" dirty="0"/>
              <a:t>/</a:t>
            </a:r>
            <a:r>
              <a:rPr kumimoji="1" lang="ko-KR" altLang="en-US" sz="800" dirty="0"/>
              <a:t>결과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ED85DE83-8BB7-916A-ECC1-38FB63D00AEC}"/>
              </a:ext>
            </a:extLst>
          </p:cNvPr>
          <p:cNvSpPr txBox="1"/>
          <p:nvPr/>
        </p:nvSpPr>
        <p:spPr>
          <a:xfrm>
            <a:off x="5769931" y="2556187"/>
            <a:ext cx="741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리스크 계산</a:t>
            </a:r>
            <a:br>
              <a:rPr kumimoji="1" lang="en-US" altLang="ko-KR" sz="800" dirty="0"/>
            </a:br>
            <a:r>
              <a:rPr kumimoji="1" lang="ko-KR" altLang="en-US" sz="800" dirty="0"/>
              <a:t>요청</a:t>
            </a:r>
            <a:r>
              <a:rPr kumimoji="1" lang="en-US" altLang="ko-KR" sz="800" dirty="0"/>
              <a:t>/</a:t>
            </a:r>
            <a:r>
              <a:rPr kumimoji="1" lang="ko-KR" altLang="en-US" sz="800" dirty="0"/>
              <a:t>결과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28DE90F6-6399-EBEE-421D-F3E9E5313F7E}"/>
              </a:ext>
            </a:extLst>
          </p:cNvPr>
          <p:cNvSpPr txBox="1"/>
          <p:nvPr/>
        </p:nvSpPr>
        <p:spPr>
          <a:xfrm>
            <a:off x="5766481" y="3248345"/>
            <a:ext cx="741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규칙 영향 </a:t>
            </a:r>
            <a:br>
              <a:rPr kumimoji="1" lang="en-US" altLang="ko-KR" sz="800" dirty="0"/>
            </a:br>
            <a:r>
              <a:rPr kumimoji="1" lang="ko-KR" altLang="en-US" sz="800" dirty="0"/>
              <a:t>분석</a:t>
            </a:r>
            <a:r>
              <a:rPr kumimoji="1" lang="en-US" altLang="ko-KR" sz="800" dirty="0"/>
              <a:t>/</a:t>
            </a:r>
            <a:r>
              <a:rPr kumimoji="1" lang="ko-KR" altLang="en-US" sz="800" dirty="0"/>
              <a:t>결과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48DDAD-B807-C688-3CE9-502648FD1379}"/>
              </a:ext>
            </a:extLst>
          </p:cNvPr>
          <p:cNvSpPr txBox="1"/>
          <p:nvPr/>
        </p:nvSpPr>
        <p:spPr>
          <a:xfrm>
            <a:off x="3374810" y="2105983"/>
            <a:ext cx="9314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분석 요청 전달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3AA3F3-4DB0-D5BC-FAF0-3F34D238663B}"/>
              </a:ext>
            </a:extLst>
          </p:cNvPr>
          <p:cNvSpPr txBox="1"/>
          <p:nvPr/>
        </p:nvSpPr>
        <p:spPr>
          <a:xfrm>
            <a:off x="1555350" y="2836623"/>
            <a:ext cx="11401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/>
              <a:t>변경 영향 분석 요청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D01F672-EC06-827F-F4AA-9A34948A266A}"/>
              </a:ext>
            </a:extLst>
          </p:cNvPr>
          <p:cNvSpPr/>
          <p:nvPr/>
        </p:nvSpPr>
        <p:spPr>
          <a:xfrm>
            <a:off x="1343815" y="5492032"/>
            <a:ext cx="942621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/>
              <a:t>Diff(PR, </a:t>
            </a:r>
            <a:r>
              <a:rPr lang="ko-KR" altLang="en-US" sz="1400" b="1" dirty="0" err="1"/>
              <a:t>브랜치</a:t>
            </a:r>
            <a:r>
              <a:rPr lang="en-US" altLang="ko-KR" sz="1400" b="1" dirty="0"/>
              <a:t>,</a:t>
            </a:r>
            <a:r>
              <a:rPr lang="ko-KR" altLang="en-US" sz="1400" b="1" dirty="0"/>
              <a:t> </a:t>
            </a:r>
            <a:r>
              <a:rPr lang="ko-KR" altLang="en-US" sz="1400" b="1" dirty="0" err="1"/>
              <a:t>커밋</a:t>
            </a:r>
            <a:r>
              <a:rPr lang="en-US" altLang="ko-KR" sz="1400" b="1" dirty="0"/>
              <a:t>)</a:t>
            </a:r>
            <a:r>
              <a:rPr lang="ko-KR" altLang="en-US" sz="1400" b="1" dirty="0"/>
              <a:t> 또는 객체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서비스</a:t>
            </a:r>
            <a:r>
              <a:rPr lang="en-US" altLang="ko-KR" sz="1400" b="1" dirty="0"/>
              <a:t>,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API, DB)</a:t>
            </a:r>
            <a:r>
              <a:rPr lang="ko-KR" altLang="en-US" sz="1400" b="1" dirty="0"/>
              <a:t> 기준 의존성</a:t>
            </a:r>
            <a:r>
              <a:rPr lang="en-US" altLang="ko-KR" sz="1400" b="1" dirty="0"/>
              <a:t>,</a:t>
            </a:r>
            <a:r>
              <a:rPr lang="ko-KR" altLang="en-US" sz="1400" b="1" dirty="0"/>
              <a:t> 비즈니스 규칙</a:t>
            </a:r>
            <a:r>
              <a:rPr lang="en-US" altLang="ko-KR" sz="1400" b="1" dirty="0"/>
              <a:t>,</a:t>
            </a:r>
            <a:r>
              <a:rPr lang="ko-KR" altLang="en-US" sz="1400" b="1" dirty="0"/>
              <a:t> 시스템 경계</a:t>
            </a:r>
            <a:r>
              <a:rPr lang="en-US" altLang="ko-KR" sz="1400" b="1" dirty="0"/>
              <a:t>,</a:t>
            </a:r>
            <a:r>
              <a:rPr lang="ko-KR" altLang="en-US" sz="1400" b="1" dirty="0"/>
              <a:t> 테스트 영향도 분석</a:t>
            </a:r>
            <a:endParaRPr lang="en-US" altLang="ko-KR" sz="1400" b="1" dirty="0"/>
          </a:p>
          <a:p>
            <a:pPr algn="ctr"/>
            <a:r>
              <a:rPr lang="ko-KR" altLang="en-US" sz="1400" b="1" dirty="0"/>
              <a:t>정량적인 리스크</a:t>
            </a:r>
            <a:r>
              <a:rPr lang="en-US" altLang="ko-KR" sz="1400" b="1" dirty="0"/>
              <a:t>,</a:t>
            </a:r>
            <a:r>
              <a:rPr lang="ko-KR" altLang="en-US" sz="1400" b="1" dirty="0"/>
              <a:t> 자연어로 된 리스크 설명</a:t>
            </a:r>
            <a:r>
              <a:rPr lang="en-US" altLang="ko-KR" sz="1400" b="1" dirty="0"/>
              <a:t>,</a:t>
            </a:r>
            <a:r>
              <a:rPr lang="ko-KR" altLang="en-US" sz="1400" b="1" dirty="0"/>
              <a:t> 비즈니스 임팩트 해석 제공</a:t>
            </a: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1163625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10709</TotalTime>
  <Words>271</Words>
  <Application>Microsoft Macintosh PowerPoint</Application>
  <PresentationFormat>와이드스크린</PresentationFormat>
  <Paragraphs>58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Pretendard SemiBold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Tmax</dc:creator>
  <cp:lastModifiedBy>배 석현</cp:lastModifiedBy>
  <cp:revision>281</cp:revision>
  <cp:lastPrinted>2026-01-09T08:14:09Z</cp:lastPrinted>
  <dcterms:created xsi:type="dcterms:W3CDTF">2022-09-15T01:21:24Z</dcterms:created>
  <dcterms:modified xsi:type="dcterms:W3CDTF">2026-04-16T04:54:59Z</dcterms:modified>
</cp:coreProperties>
</file>