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13" r:id="rId2"/>
    <p:sldId id="314" r:id="rId3"/>
    <p:sldId id="315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39C"/>
    <a:srgbClr val="899197"/>
    <a:srgbClr val="BBDEF8"/>
    <a:srgbClr val="5CB5FE"/>
    <a:srgbClr val="6D757E"/>
    <a:srgbClr val="1A75D2"/>
    <a:srgbClr val="415B88"/>
    <a:srgbClr val="F8F9FA"/>
    <a:srgbClr val="51575C"/>
    <a:srgbClr val="EBF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6" autoAdjust="0"/>
    <p:restoredTop sz="94346"/>
  </p:normalViewPr>
  <p:slideViewPr>
    <p:cSldViewPr snapToGrid="0">
      <p:cViewPr>
        <p:scale>
          <a:sx n="160" d="100"/>
          <a:sy n="160" d="100"/>
        </p:scale>
        <p:origin x="144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ICD"/>
          <p:cNvSpPr/>
          <p:nvPr/>
        </p:nvSpPr>
        <p:spPr>
          <a:xfrm>
            <a:off x="2406650" y="5462356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333"/>
              </a:lnSpc>
            </a:pP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CICD"/>
          <p:cNvSpPr/>
          <p:nvPr/>
        </p:nvSpPr>
        <p:spPr>
          <a:xfrm>
            <a:off x="2406650" y="5427865"/>
            <a:ext cx="7378700" cy="885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73C09A-468D-E7AE-9696-83405B30E197}"/>
              </a:ext>
            </a:extLst>
          </p:cNvPr>
          <p:cNvGrpSpPr/>
          <p:nvPr/>
        </p:nvGrpSpPr>
        <p:grpSpPr>
          <a:xfrm>
            <a:off x="2680643" y="913922"/>
            <a:ext cx="6830715" cy="4230599"/>
            <a:chOff x="2686508" y="976066"/>
            <a:chExt cx="6830715" cy="4230599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99BA65-5DAF-7FC6-3F27-EB805F92AC1E}"/>
                </a:ext>
              </a:extLst>
            </p:cNvPr>
            <p:cNvSpPr/>
            <p:nvPr/>
          </p:nvSpPr>
          <p:spPr>
            <a:xfrm>
              <a:off x="2686508" y="976066"/>
              <a:ext cx="6830715" cy="4230599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CORE</a:t>
              </a:r>
              <a:endPara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3587630"/>
              <a:ext cx="3139749" cy="1470580"/>
            </a:xfrm>
            <a:prstGeom prst="rect">
              <a:avLst/>
            </a:prstGeom>
            <a:solidFill>
              <a:schemeClr val="bg2">
                <a:lumMod val="9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System Meta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1358914"/>
              <a:ext cx="3139749" cy="2086255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Patch Manager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08C6C3-9339-FB27-D784-3BDF80F90D2D}"/>
                </a:ext>
              </a:extLst>
            </p:cNvPr>
            <p:cNvSpPr/>
            <p:nvPr/>
          </p:nvSpPr>
          <p:spPr>
            <a:xfrm>
              <a:off x="3427082" y="1379126"/>
              <a:ext cx="1331225" cy="205490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Client</a:t>
              </a:r>
              <a:endParaRPr lang="ko-KR" altLang="en-US" sz="11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8A7CCDD-3C0C-5A56-9F28-C6D98BE1145B}"/>
                </a:ext>
              </a:extLst>
            </p:cNvPr>
            <p:cNvSpPr/>
            <p:nvPr/>
          </p:nvSpPr>
          <p:spPr>
            <a:xfrm>
              <a:off x="3602246" y="2230488"/>
              <a:ext cx="992468" cy="47140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>
              <a:solidFill>
                <a:schemeClr val="tx1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Web Console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2" name="원통 11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030713" y="4041269"/>
              <a:ext cx="709127" cy="6707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Meta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576670" y="2221643"/>
              <a:ext cx="2590027" cy="4714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Service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4" name="원통 13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995224" y="4048769"/>
              <a:ext cx="709127" cy="674277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Status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>
              <a:off x="4594714" y="2415076"/>
              <a:ext cx="1008627" cy="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/>
            <p:nvPr/>
          </p:nvCxnSpPr>
          <p:spPr>
            <a:xfrm>
              <a:off x="4594714" y="2535404"/>
              <a:ext cx="1008627" cy="0"/>
            </a:xfrm>
            <a:prstGeom prst="straightConnector1">
              <a:avLst/>
            </a:prstGeom>
            <a:ln w="5080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 flipH="1">
              <a:off x="6331783" y="2688862"/>
              <a:ext cx="2" cy="13393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화살표 연결선 17"/>
            <p:cNvCxnSpPr/>
            <p:nvPr/>
          </p:nvCxnSpPr>
          <p:spPr>
            <a:xfrm flipH="1">
              <a:off x="7389919" y="2701897"/>
              <a:ext cx="36" cy="13468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743713" y="2133033"/>
              <a:ext cx="1098356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조회 요청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06478" y="2963361"/>
              <a:ext cx="1098356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메타 정보와 상태 정보 조합</a:t>
              </a:r>
            </a:p>
          </p:txBody>
        </p:sp>
      </p:grpSp>
      <p:sp>
        <p:nvSpPr>
          <p:cNvPr id="21" name="CICD">
            <a:extLst>
              <a:ext uri="{FF2B5EF4-FFF2-40B4-BE49-F238E27FC236}">
                <a16:creationId xmlns:a16="http://schemas.microsoft.com/office/drawing/2014/main" id="{762B2A58-EB2E-992F-01DA-15C50B338CB6}"/>
              </a:ext>
            </a:extLst>
          </p:cNvPr>
          <p:cNvSpPr/>
          <p:nvPr/>
        </p:nvSpPr>
        <p:spPr>
          <a:xfrm>
            <a:off x="2406650" y="5476377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작업의 계획과 현재 패치 진행 상황을 별도의 대조 작업 없이 조회 가능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Key Feature">
            <a:extLst>
              <a:ext uri="{FF2B5EF4-FFF2-40B4-BE49-F238E27FC236}">
                <a16:creationId xmlns:a16="http://schemas.microsoft.com/office/drawing/2014/main" id="{047F6C8F-C776-7F0F-DAFE-29B85ACC1B0A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 조회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9141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7CCED3B5-6117-6C7E-273C-62C411C3E563}"/>
              </a:ext>
            </a:extLst>
          </p:cNvPr>
          <p:cNvSpPr/>
          <p:nvPr/>
        </p:nvSpPr>
        <p:spPr>
          <a:xfrm>
            <a:off x="1120209" y="2095390"/>
            <a:ext cx="3153259" cy="2100034"/>
          </a:xfrm>
          <a:prstGeom prst="rect">
            <a:avLst/>
          </a:prstGeom>
          <a:solidFill>
            <a:srgbClr val="E8F4FD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Web Application</a:t>
            </a: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02F4D657-C665-DD75-8F39-1C645DCA0328}"/>
              </a:ext>
            </a:extLst>
          </p:cNvPr>
          <p:cNvSpPr/>
          <p:nvPr/>
        </p:nvSpPr>
        <p:spPr>
          <a:xfrm>
            <a:off x="2115011" y="1165602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박피엠</a:t>
            </a:r>
            <a:r>
              <a:rPr dirty="0">
                <a:latin typeface="+mn-ea"/>
              </a:rPr>
              <a:t> (PM/PO)</a:t>
            </a: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자연어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질의·후속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질문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평가·큐레이션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F8209DAC-151A-89B1-DE48-1FEAAEABF2B6}"/>
              </a:ext>
            </a:extLst>
          </p:cNvPr>
          <p:cNvSpPr/>
          <p:nvPr/>
        </p:nvSpPr>
        <p:spPr>
          <a:xfrm>
            <a:off x="2115011" y="2566565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Conversation Gateway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대화</a:t>
            </a:r>
            <a:r>
              <a:rPr dirty="0">
                <a:latin typeface="+mn-ea"/>
              </a:rPr>
              <a:t> UI </a:t>
            </a:r>
            <a:r>
              <a:rPr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세션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메시지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중계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87584A3E-974D-D31B-CE31-11AF40310C0D}"/>
              </a:ext>
            </a:extLst>
          </p:cNvPr>
          <p:cNvSpPr/>
          <p:nvPr/>
        </p:nvSpPr>
        <p:spPr>
          <a:xfrm>
            <a:off x="3199894" y="3455470"/>
            <a:ext cx="903808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Auth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권한 확인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접근 제어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CD5BE9C-2ECC-F3E1-3CA1-6858CBFC975D}"/>
              </a:ext>
            </a:extLst>
          </p:cNvPr>
          <p:cNvSpPr/>
          <p:nvPr/>
        </p:nvSpPr>
        <p:spPr>
          <a:xfrm>
            <a:off x="4432686" y="1486117"/>
            <a:ext cx="1596763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Feedback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자산화 요청 중계</a:t>
            </a:r>
            <a:endParaRPr dirty="0">
              <a:latin typeface="+mn-ea"/>
            </a:endParaRPr>
          </a:p>
        </p:txBody>
      </p:sp>
      <p:cxnSp>
        <p:nvCxnSpPr>
          <p:cNvPr id="7" name="직선 화살표 연결선 10">
            <a:extLst>
              <a:ext uri="{FF2B5EF4-FFF2-40B4-BE49-F238E27FC236}">
                <a16:creationId xmlns:a16="http://schemas.microsoft.com/office/drawing/2014/main" id="{B99E80E7-3FB0-9985-2B3B-8D0D7AA3A16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rot="16200000" flipH="1">
            <a:off x="3014021" y="2817692"/>
            <a:ext cx="321977" cy="95357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5008727C-5419-BD62-5539-926649818CF9}"/>
              </a:ext>
            </a:extLst>
          </p:cNvPr>
          <p:cNvSpPr/>
          <p:nvPr/>
        </p:nvSpPr>
        <p:spPr>
          <a:xfrm>
            <a:off x="4366165" y="1193799"/>
            <a:ext cx="5974033" cy="30016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Interactive Assistant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1FF0CDB3-147F-B04F-581E-CD59B2D7072E}"/>
              </a:ext>
            </a:extLst>
          </p:cNvPr>
          <p:cNvSpPr/>
          <p:nvPr/>
        </p:nvSpPr>
        <p:spPr>
          <a:xfrm>
            <a:off x="6740029" y="1470340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Session Manager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세션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대화 이력 유지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후속 질문 컨텍스트 관리</a:t>
            </a:r>
            <a:endParaRPr dirty="0">
              <a:latin typeface="+mn-e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C77B56-DBB6-4544-B681-B8E9D9546596}"/>
              </a:ext>
            </a:extLst>
          </p:cNvPr>
          <p:cNvSpPr/>
          <p:nvPr/>
        </p:nvSpPr>
        <p:spPr>
          <a:xfrm>
            <a:off x="8341474" y="1964509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Query Router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질의 의도 분류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 err="1">
                <a:latin typeface="+mn-ea"/>
              </a:rPr>
              <a:t>핸들러</a:t>
            </a:r>
            <a:r>
              <a:rPr lang="ko-KR" altLang="en-US" dirty="0">
                <a:latin typeface="+mn-ea"/>
              </a:rPr>
              <a:t> 라우팅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컨텍스트 범위 적용</a:t>
            </a:r>
            <a:endParaRPr dirty="0">
              <a:latin typeface="+mn-ea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03C6FC1C-CC66-4201-10A4-E4125343D1AD}"/>
              </a:ext>
            </a:extLst>
          </p:cNvPr>
          <p:cNvSpPr/>
          <p:nvPr/>
        </p:nvSpPr>
        <p:spPr>
          <a:xfrm>
            <a:off x="8341474" y="2891143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QA Handler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포함 답변 생성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 근거 정합성 검증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9F51361-9ED6-8769-1DF8-AB5B0CB33B1C}"/>
              </a:ext>
            </a:extLst>
          </p:cNvPr>
          <p:cNvSpPr/>
          <p:nvPr/>
        </p:nvSpPr>
        <p:spPr>
          <a:xfrm>
            <a:off x="6640558" y="3497264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Context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컨텍스트 조립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후보 수집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51CDEC0-3EDE-B8BA-D0C1-A56DA388812B}"/>
              </a:ext>
            </a:extLst>
          </p:cNvPr>
          <p:cNvSpPr/>
          <p:nvPr/>
        </p:nvSpPr>
        <p:spPr>
          <a:xfrm>
            <a:off x="4790740" y="3485246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Response Renderer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응답 포맷 변환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근거 링크 부착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평가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자산 적재</a:t>
            </a:r>
            <a:endParaRPr dirty="0">
              <a:latin typeface="+mn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F3E74BF-5BAC-1E82-824D-2D33A6720B05}"/>
              </a:ext>
            </a:extLst>
          </p:cNvPr>
          <p:cNvGrpSpPr/>
          <p:nvPr/>
        </p:nvGrpSpPr>
        <p:grpSpPr>
          <a:xfrm>
            <a:off x="9284958" y="4288569"/>
            <a:ext cx="1783080" cy="1005840"/>
            <a:chOff x="4237345" y="4954856"/>
            <a:chExt cx="1783080" cy="1005840"/>
          </a:xfrm>
        </p:grpSpPr>
        <p:sp>
          <p:nvSpPr>
            <p:cNvPr id="15" name="Rectangle 7">
              <a:extLst>
                <a:ext uri="{FF2B5EF4-FFF2-40B4-BE49-F238E27FC236}">
                  <a16:creationId xmlns:a16="http://schemas.microsoft.com/office/drawing/2014/main" id="{17F203C3-9C9C-74F3-5F52-1815819BD4D8}"/>
                </a:ext>
              </a:extLst>
            </p:cNvPr>
            <p:cNvSpPr/>
            <p:nvPr/>
          </p:nvSpPr>
          <p:spPr>
            <a:xfrm>
              <a:off x="4237345" y="4954856"/>
              <a:ext cx="1783080" cy="1005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27432" rtlCol="0" anchor="t"/>
            <a:lstStyle/>
            <a:p>
              <a:pPr algn="ctr">
                <a:defRPr sz="900" b="1">
                  <a:solidFill>
                    <a:srgbClr val="2D2D2D"/>
                  </a:solidFill>
                </a:defRPr>
              </a:pPr>
              <a:r>
                <a:rPr>
                  <a:latin typeface="+mn-ea"/>
                </a:rPr>
                <a:t>External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06A95DFA-28A9-13BD-A5F2-775529D7BF8F}"/>
                </a:ext>
              </a:extLst>
            </p:cNvPr>
            <p:cNvSpPr/>
            <p:nvPr/>
          </p:nvSpPr>
          <p:spPr>
            <a:xfrm>
              <a:off x="4575673" y="5302328"/>
              <a:ext cx="1097280" cy="530352"/>
            </a:xfrm>
            <a:prstGeom prst="rect">
              <a:avLst/>
            </a:prstGeom>
            <a:solidFill>
              <a:srgbClr val="6B4C9A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18288" rIns="45720" bIns="18288" rtlCol="0" anchor="ctr"/>
            <a:lstStyle/>
            <a:p>
              <a:pPr algn="ctr">
                <a:defRPr sz="710" b="1">
                  <a:solidFill>
                    <a:srgbClr val="FFFFFF"/>
                  </a:solidFill>
                </a:defRPr>
              </a:pPr>
              <a:r>
                <a:rPr dirty="0">
                  <a:latin typeface="+mn-ea"/>
                </a:rPr>
                <a:t>LLM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 dirty="0" err="1">
                  <a:latin typeface="+mn-ea"/>
                </a:rPr>
                <a:t>외부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시스템</a:t>
              </a:r>
              <a:endParaRPr dirty="0">
                <a:latin typeface="+mn-ea"/>
              </a:endParaRP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 dirty="0" err="1">
                  <a:latin typeface="+mn-ea"/>
                </a:rPr>
                <a:t>자연어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답변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합성</a:t>
              </a:r>
              <a:endParaRPr dirty="0">
                <a:latin typeface="+mn-ea"/>
              </a:endParaRPr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2D31143-1E9E-30B1-A737-E055F2D6E6C6}"/>
              </a:ext>
            </a:extLst>
          </p:cNvPr>
          <p:cNvSpPr/>
          <p:nvPr/>
        </p:nvSpPr>
        <p:spPr>
          <a:xfrm>
            <a:off x="3512324" y="4288569"/>
            <a:ext cx="5616388" cy="1941331"/>
          </a:xfrm>
          <a:prstGeom prst="rect">
            <a:avLst/>
          </a:prstGeom>
          <a:solidFill>
            <a:srgbClr val="FFFFFF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Knowledge Base</a:t>
            </a:r>
          </a:p>
        </p:txBody>
      </p:sp>
      <p:sp>
        <p:nvSpPr>
          <p:cNvPr id="18" name="Can 18">
            <a:extLst>
              <a:ext uri="{FF2B5EF4-FFF2-40B4-BE49-F238E27FC236}">
                <a16:creationId xmlns:a16="http://schemas.microsoft.com/office/drawing/2014/main" id="{4CC94F05-E488-A1B6-29E2-B24125D98E02}"/>
              </a:ext>
            </a:extLst>
          </p:cNvPr>
          <p:cNvSpPr/>
          <p:nvPr/>
        </p:nvSpPr>
        <p:spPr>
          <a:xfrm>
            <a:off x="7478642" y="5540334"/>
            <a:ext cx="141732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19" name="Can 19">
            <a:extLst>
              <a:ext uri="{FF2B5EF4-FFF2-40B4-BE49-F238E27FC236}">
                <a16:creationId xmlns:a16="http://schemas.microsoft.com/office/drawing/2014/main" id="{70B053CB-7D5A-BE5F-7874-0F2D086C332D}"/>
              </a:ext>
            </a:extLst>
          </p:cNvPr>
          <p:cNvSpPr/>
          <p:nvPr/>
        </p:nvSpPr>
        <p:spPr>
          <a:xfrm>
            <a:off x="5607896" y="5540334"/>
            <a:ext cx="169164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sp>
        <p:nvSpPr>
          <p:cNvPr id="20" name="Can 20">
            <a:extLst>
              <a:ext uri="{FF2B5EF4-FFF2-40B4-BE49-F238E27FC236}">
                <a16:creationId xmlns:a16="http://schemas.microsoft.com/office/drawing/2014/main" id="{D5CB02BF-A131-DBA4-5AC8-D5D781B9D2F0}"/>
              </a:ext>
            </a:extLst>
          </p:cNvPr>
          <p:cNvSpPr/>
          <p:nvPr/>
        </p:nvSpPr>
        <p:spPr>
          <a:xfrm>
            <a:off x="3691430" y="5540334"/>
            <a:ext cx="173736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베이스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근거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포함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자산·평가</a:t>
            </a:r>
            <a:endParaRPr dirty="0">
              <a:latin typeface="+mn-ea"/>
            </a:endParaRP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177ACBA-2202-B63E-0F64-AC7DCB2C035F}"/>
              </a:ext>
            </a:extLst>
          </p:cNvPr>
          <p:cNvSpPr/>
          <p:nvPr/>
        </p:nvSpPr>
        <p:spPr>
          <a:xfrm>
            <a:off x="5607896" y="4548298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질의 단일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캐싱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권한 필터</a:t>
            </a:r>
            <a:endParaRPr dirty="0">
              <a:latin typeface="+mn-ea"/>
            </a:endParaRPr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C508CC57-A17C-EA79-D2D9-C9E30E780472}"/>
              </a:ext>
            </a:extLst>
          </p:cNvPr>
          <p:cNvSpPr/>
          <p:nvPr/>
        </p:nvSpPr>
        <p:spPr>
          <a:xfrm>
            <a:off x="1289355" y="3455470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 err="1">
                <a:latin typeface="+mn-ea"/>
              </a:rPr>
              <a:t>Feddback</a:t>
            </a:r>
            <a:r>
              <a:rPr lang="en-US" dirty="0">
                <a:latin typeface="+mn-ea"/>
              </a:rPr>
              <a:t>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 자산화 요청 중계</a:t>
            </a:r>
            <a:endParaRPr dirty="0">
              <a:latin typeface="+mn-ea"/>
            </a:endParaRPr>
          </a:p>
        </p:txBody>
      </p: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D5668B19-0889-9D72-FD72-07C713700748}"/>
              </a:ext>
            </a:extLst>
          </p:cNvPr>
          <p:cNvCxnSpPr>
            <a:cxnSpLocks/>
            <a:stCxn id="13" idx="1"/>
            <a:endCxn id="20" idx="1"/>
          </p:cNvCxnSpPr>
          <p:nvPr/>
        </p:nvCxnSpPr>
        <p:spPr>
          <a:xfrm rot="10800000" flipV="1">
            <a:off x="4560110" y="3768710"/>
            <a:ext cx="230630" cy="1771624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8">
            <a:extLst>
              <a:ext uri="{FF2B5EF4-FFF2-40B4-BE49-F238E27FC236}">
                <a16:creationId xmlns:a16="http://schemas.microsoft.com/office/drawing/2014/main" id="{0057AACE-CED3-F90B-065E-357DA4379B70}"/>
              </a:ext>
            </a:extLst>
          </p:cNvPr>
          <p:cNvCxnSpPr>
            <a:cxnSpLocks/>
            <a:stCxn id="22" idx="2"/>
            <a:endCxn id="13" idx="1"/>
          </p:cNvCxnSpPr>
          <p:nvPr/>
        </p:nvCxnSpPr>
        <p:spPr>
          <a:xfrm rot="5400000" flipH="1" flipV="1">
            <a:off x="3290021" y="2521679"/>
            <a:ext cx="253688" cy="2747750"/>
          </a:xfrm>
          <a:prstGeom prst="curvedConnector4">
            <a:avLst>
              <a:gd name="adj1" fmla="val -90111"/>
              <a:gd name="adj2" fmla="val 88479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8">
            <a:extLst>
              <a:ext uri="{FF2B5EF4-FFF2-40B4-BE49-F238E27FC236}">
                <a16:creationId xmlns:a16="http://schemas.microsoft.com/office/drawing/2014/main" id="{391C1A95-6FA2-8E35-9665-D6AE1DF61B29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V="1">
            <a:off x="2115011" y="1449065"/>
            <a:ext cx="12700" cy="1400963"/>
          </a:xfrm>
          <a:prstGeom prst="curvedConnector3">
            <a:avLst>
              <a:gd name="adj1" fmla="val 180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A2E837C-8483-958D-AAED-D752156D34A5}"/>
              </a:ext>
            </a:extLst>
          </p:cNvPr>
          <p:cNvCxnSpPr>
            <a:cxnSpLocks/>
            <a:stCxn id="4" idx="0"/>
            <a:endCxn id="3" idx="3"/>
          </p:cNvCxnSpPr>
          <p:nvPr/>
        </p:nvCxnSpPr>
        <p:spPr>
          <a:xfrm rot="5400000" flipH="1" flipV="1">
            <a:off x="2510806" y="1636481"/>
            <a:ext cx="1117499" cy="742671"/>
          </a:xfrm>
          <a:prstGeom prst="curvedConnector4">
            <a:avLst>
              <a:gd name="adj1" fmla="val 22728"/>
              <a:gd name="adj2" fmla="val 13078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3FB966C-9B24-9321-6AAC-5E6301AB33C9}"/>
              </a:ext>
            </a:extLst>
          </p:cNvPr>
          <p:cNvCxnSpPr>
            <a:cxnSpLocks/>
            <a:stCxn id="3" idx="1"/>
            <a:endCxn id="22" idx="1"/>
          </p:cNvCxnSpPr>
          <p:nvPr/>
        </p:nvCxnSpPr>
        <p:spPr>
          <a:xfrm rot="10800000" flipV="1">
            <a:off x="1289355" y="1449066"/>
            <a:ext cx="825656" cy="2289868"/>
          </a:xfrm>
          <a:prstGeom prst="curvedConnector3">
            <a:avLst>
              <a:gd name="adj1" fmla="val 12768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8">
            <a:extLst>
              <a:ext uri="{FF2B5EF4-FFF2-40B4-BE49-F238E27FC236}">
                <a16:creationId xmlns:a16="http://schemas.microsoft.com/office/drawing/2014/main" id="{BCC49FF2-3500-00B4-40EA-F6637F6D03E8}"/>
              </a:ext>
            </a:extLst>
          </p:cNvPr>
          <p:cNvCxnSpPr>
            <a:cxnSpLocks/>
          </p:cNvCxnSpPr>
          <p:nvPr/>
        </p:nvCxnSpPr>
        <p:spPr>
          <a:xfrm flipV="1">
            <a:off x="3281428" y="1618739"/>
            <a:ext cx="3458601" cy="109610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3B933C4E-91C1-95A2-FE9E-3EB876653358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3281429" y="1753803"/>
            <a:ext cx="3458601" cy="1096225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5358E4B4-5260-7C0A-D754-9B3066E097F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7906446" y="1753804"/>
            <a:ext cx="1147650" cy="210705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5E1ED93F-1730-9743-75F5-292759CC18D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5400000">
            <a:off x="8874243" y="2711290"/>
            <a:ext cx="359706" cy="12700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8">
            <a:extLst>
              <a:ext uri="{FF2B5EF4-FFF2-40B4-BE49-F238E27FC236}">
                <a16:creationId xmlns:a16="http://schemas.microsoft.com/office/drawing/2014/main" id="{73740EB1-B6F5-F825-F9FD-1B0D35B8915E}"/>
              </a:ext>
            </a:extLst>
          </p:cNvPr>
          <p:cNvCxnSpPr>
            <a:cxnSpLocks/>
            <a:stCxn id="11" idx="3"/>
            <a:endCxn id="16" idx="3"/>
          </p:cNvCxnSpPr>
          <p:nvPr/>
        </p:nvCxnSpPr>
        <p:spPr>
          <a:xfrm>
            <a:off x="9766718" y="3174607"/>
            <a:ext cx="953848" cy="1726610"/>
          </a:xfrm>
          <a:prstGeom prst="curvedConnector3">
            <a:avLst>
              <a:gd name="adj1" fmla="val 123966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8">
            <a:extLst>
              <a:ext uri="{FF2B5EF4-FFF2-40B4-BE49-F238E27FC236}">
                <a16:creationId xmlns:a16="http://schemas.microsoft.com/office/drawing/2014/main" id="{17AC8C0D-E62C-7992-8E03-A459776E8AA8}"/>
              </a:ext>
            </a:extLst>
          </p:cNvPr>
          <p:cNvCxnSpPr>
            <a:cxnSpLocks/>
            <a:stCxn id="16" idx="1"/>
            <a:endCxn id="11" idx="2"/>
          </p:cNvCxnSpPr>
          <p:nvPr/>
        </p:nvCxnSpPr>
        <p:spPr>
          <a:xfrm rot="10800000">
            <a:off x="9054096" y="3458071"/>
            <a:ext cx="569190" cy="1443146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8">
            <a:extLst>
              <a:ext uri="{FF2B5EF4-FFF2-40B4-BE49-F238E27FC236}">
                <a16:creationId xmlns:a16="http://schemas.microsoft.com/office/drawing/2014/main" id="{3200DEEA-596B-BBF8-8F0D-7294FCD5A2AE}"/>
              </a:ext>
            </a:extLst>
          </p:cNvPr>
          <p:cNvCxnSpPr>
            <a:cxnSpLocks/>
            <a:stCxn id="11" idx="1"/>
            <a:endCxn id="12" idx="0"/>
          </p:cNvCxnSpPr>
          <p:nvPr/>
        </p:nvCxnSpPr>
        <p:spPr>
          <a:xfrm rot="10800000" flipV="1">
            <a:off x="7353180" y="3174606"/>
            <a:ext cx="988294" cy="322657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8">
            <a:extLst>
              <a:ext uri="{FF2B5EF4-FFF2-40B4-BE49-F238E27FC236}">
                <a16:creationId xmlns:a16="http://schemas.microsoft.com/office/drawing/2014/main" id="{471371B8-7127-60D0-D22F-F0EFAB654DF1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8065802" y="3458071"/>
            <a:ext cx="988294" cy="322657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8">
            <a:extLst>
              <a:ext uri="{FF2B5EF4-FFF2-40B4-BE49-F238E27FC236}">
                <a16:creationId xmlns:a16="http://schemas.microsoft.com/office/drawing/2014/main" id="{379F0519-4B9B-60AE-8B06-E2B2F6FF1D75}"/>
              </a:ext>
            </a:extLst>
          </p:cNvPr>
          <p:cNvCxnSpPr>
            <a:cxnSpLocks/>
            <a:stCxn id="11" idx="1"/>
            <a:endCxn id="13" idx="0"/>
          </p:cNvCxnSpPr>
          <p:nvPr/>
        </p:nvCxnSpPr>
        <p:spPr>
          <a:xfrm rot="10800000" flipV="1">
            <a:off x="5503362" y="3174606"/>
            <a:ext cx="2838112" cy="310639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8">
            <a:extLst>
              <a:ext uri="{FF2B5EF4-FFF2-40B4-BE49-F238E27FC236}">
                <a16:creationId xmlns:a16="http://schemas.microsoft.com/office/drawing/2014/main" id="{FED936BB-CDC9-CD95-15BA-2144522E28FE}"/>
              </a:ext>
            </a:extLst>
          </p:cNvPr>
          <p:cNvCxnSpPr>
            <a:cxnSpLocks/>
            <a:stCxn id="9" idx="1"/>
            <a:endCxn id="13" idx="0"/>
          </p:cNvCxnSpPr>
          <p:nvPr/>
        </p:nvCxnSpPr>
        <p:spPr>
          <a:xfrm rot="10800000" flipV="1">
            <a:off x="5503363" y="1753804"/>
            <a:ext cx="1236667" cy="173144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8">
            <a:extLst>
              <a:ext uri="{FF2B5EF4-FFF2-40B4-BE49-F238E27FC236}">
                <a16:creationId xmlns:a16="http://schemas.microsoft.com/office/drawing/2014/main" id="{393B425F-7301-CA85-990C-99E2CE6F8C26}"/>
              </a:ext>
            </a:extLst>
          </p:cNvPr>
          <p:cNvCxnSpPr>
            <a:cxnSpLocks/>
            <a:stCxn id="21" idx="1"/>
            <a:endCxn id="20" idx="1"/>
          </p:cNvCxnSpPr>
          <p:nvPr/>
        </p:nvCxnSpPr>
        <p:spPr>
          <a:xfrm rot="10800000" flipV="1">
            <a:off x="4560110" y="4831762"/>
            <a:ext cx="1047786" cy="70857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2D6DF12D-A7D9-05EE-DD31-1455D4510953}"/>
              </a:ext>
            </a:extLst>
          </p:cNvPr>
          <p:cNvCxnSpPr>
            <a:cxnSpLocks/>
            <a:stCxn id="21" idx="2"/>
            <a:endCxn id="19" idx="1"/>
          </p:cNvCxnSpPr>
          <p:nvPr/>
        </p:nvCxnSpPr>
        <p:spPr>
          <a:xfrm rot="16200000" flipH="1">
            <a:off x="6174563" y="5261181"/>
            <a:ext cx="425108" cy="13319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3A69B781-BFC2-CF6E-9D44-9711DBB80E77}"/>
              </a:ext>
            </a:extLst>
          </p:cNvPr>
          <p:cNvCxnSpPr>
            <a:cxnSpLocks/>
            <a:stCxn id="21" idx="3"/>
            <a:endCxn id="18" idx="1"/>
          </p:cNvCxnSpPr>
          <p:nvPr/>
        </p:nvCxnSpPr>
        <p:spPr>
          <a:xfrm>
            <a:off x="7033140" y="4831762"/>
            <a:ext cx="1154162" cy="70857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8">
            <a:extLst>
              <a:ext uri="{FF2B5EF4-FFF2-40B4-BE49-F238E27FC236}">
                <a16:creationId xmlns:a16="http://schemas.microsoft.com/office/drawing/2014/main" id="{0C97422E-D3B9-9CAF-179E-65CBE0308213}"/>
              </a:ext>
            </a:extLst>
          </p:cNvPr>
          <p:cNvCxnSpPr>
            <a:cxnSpLocks/>
            <a:stCxn id="12" idx="3"/>
            <a:endCxn id="21" idx="3"/>
          </p:cNvCxnSpPr>
          <p:nvPr/>
        </p:nvCxnSpPr>
        <p:spPr>
          <a:xfrm flipH="1">
            <a:off x="7033140" y="3780728"/>
            <a:ext cx="1032662" cy="1051034"/>
          </a:xfrm>
          <a:prstGeom prst="curvedConnector3">
            <a:avLst>
              <a:gd name="adj1" fmla="val -2213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8">
            <a:extLst>
              <a:ext uri="{FF2B5EF4-FFF2-40B4-BE49-F238E27FC236}">
                <a16:creationId xmlns:a16="http://schemas.microsoft.com/office/drawing/2014/main" id="{585282B2-E187-5210-675B-6E6A022AD8CD}"/>
              </a:ext>
            </a:extLst>
          </p:cNvPr>
          <p:cNvCxnSpPr>
            <a:cxnSpLocks/>
            <a:stCxn id="21" idx="3"/>
            <a:endCxn id="12" idx="2"/>
          </p:cNvCxnSpPr>
          <p:nvPr/>
        </p:nvCxnSpPr>
        <p:spPr>
          <a:xfrm flipV="1">
            <a:off x="7033140" y="4064192"/>
            <a:ext cx="320040" cy="767570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Key Feature">
            <a:extLst>
              <a:ext uri="{FF2B5EF4-FFF2-40B4-BE49-F238E27FC236}">
                <a16:creationId xmlns:a16="http://schemas.microsoft.com/office/drawing/2014/main" id="{7DA3FC60-128C-74F1-E3E4-9F5D7531AF83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대화형 질의 응답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4876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>
            <a:extLst>
              <a:ext uri="{FF2B5EF4-FFF2-40B4-BE49-F238E27FC236}">
                <a16:creationId xmlns:a16="http://schemas.microsoft.com/office/drawing/2014/main" id="{7D272850-49B8-8298-34BD-F3F0F99D9812}"/>
              </a:ext>
            </a:extLst>
          </p:cNvPr>
          <p:cNvSpPr/>
          <p:nvPr/>
        </p:nvSpPr>
        <p:spPr>
          <a:xfrm>
            <a:off x="10304828" y="2357024"/>
            <a:ext cx="1712866" cy="20369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F4100FF6-FAC1-1C81-0AF5-90657169CC24}"/>
              </a:ext>
            </a:extLst>
          </p:cNvPr>
          <p:cNvSpPr/>
          <p:nvPr/>
        </p:nvSpPr>
        <p:spPr>
          <a:xfrm>
            <a:off x="3962108" y="1445488"/>
            <a:ext cx="6274092" cy="396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Analysis Engine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DA3707AE-6F76-9848-32F5-8CA74FF349A9}"/>
              </a:ext>
            </a:extLst>
          </p:cNvPr>
          <p:cNvSpPr/>
          <p:nvPr/>
        </p:nvSpPr>
        <p:spPr>
          <a:xfrm>
            <a:off x="355859" y="3092056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Dev / Reviewer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변경 영향 분석 요청</a:t>
            </a:r>
            <a:endParaRPr dirty="0">
              <a:latin typeface="+mn-ea"/>
            </a:endParaRP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24E690A8-CB4B-FDC6-5EB3-F4AD3524CAAC}"/>
              </a:ext>
            </a:extLst>
          </p:cNvPr>
          <p:cNvSpPr/>
          <p:nvPr/>
        </p:nvSpPr>
        <p:spPr>
          <a:xfrm>
            <a:off x="355859" y="3800716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Local Change Collector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IDE </a:t>
            </a:r>
            <a:r>
              <a:rPr lang="ko-KR" altLang="en-US" dirty="0">
                <a:latin typeface="+mn-ea"/>
              </a:rPr>
              <a:t>로컬 변경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전달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69FC3D1-A2B2-68E8-40C3-B651DE4DDF67}"/>
              </a:ext>
            </a:extLst>
          </p:cNvPr>
          <p:cNvSpPr/>
          <p:nvPr/>
        </p:nvSpPr>
        <p:spPr>
          <a:xfrm>
            <a:off x="2068288" y="2595561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Interaction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</a:t>
            </a:r>
            <a:r>
              <a:rPr lang="en-US" altLang="ko-KR" dirty="0">
                <a:latin typeface="+mn-ea"/>
              </a:rPr>
              <a:t>UI </a:t>
            </a:r>
            <a:r>
              <a:rPr lang="ko-KR" altLang="en-US" dirty="0" err="1">
                <a:latin typeface="+mn-ea"/>
              </a:rPr>
              <a:t>진입점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결과 렌더링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0D09C080-EDDD-2C8D-6505-C29AB38BF0D5}"/>
              </a:ext>
            </a:extLst>
          </p:cNvPr>
          <p:cNvSpPr/>
          <p:nvPr/>
        </p:nvSpPr>
        <p:spPr>
          <a:xfrm>
            <a:off x="4119565" y="3092056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Analysis Coordinator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Diff, </a:t>
            </a:r>
            <a:r>
              <a:rPr lang="ko-KR" altLang="en-US" dirty="0">
                <a:latin typeface="+mn-ea"/>
              </a:rPr>
              <a:t>객체 진입 경로 통합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분석 범위 확정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오케스트레이션</a:t>
            </a:r>
            <a:endParaRPr dirty="0">
              <a:latin typeface="+mn-ea"/>
            </a:endParaRP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C0CB98D-09B2-C88B-741A-B07B90DF6F55}"/>
              </a:ext>
            </a:extLst>
          </p:cNvPr>
          <p:cNvSpPr/>
          <p:nvPr/>
        </p:nvSpPr>
        <p:spPr>
          <a:xfrm>
            <a:off x="2064133" y="4322889"/>
            <a:ext cx="150727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External</a:t>
            </a:r>
          </a:p>
        </p:txBody>
      </p:sp>
      <p:sp>
        <p:nvSpPr>
          <p:cNvPr id="8" name="Rectangle 21">
            <a:extLst>
              <a:ext uri="{FF2B5EF4-FFF2-40B4-BE49-F238E27FC236}">
                <a16:creationId xmlns:a16="http://schemas.microsoft.com/office/drawing/2014/main" id="{4CA490D9-E397-09F3-A1F1-CF6CD3AD2C46}"/>
              </a:ext>
            </a:extLst>
          </p:cNvPr>
          <p:cNvSpPr/>
          <p:nvPr/>
        </p:nvSpPr>
        <p:spPr>
          <a:xfrm>
            <a:off x="2269128" y="4670361"/>
            <a:ext cx="1097280" cy="530352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1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LLM</a:t>
            </a: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외부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시스템</a:t>
            </a:r>
            <a:endParaRPr dirty="0">
              <a:latin typeface="+mn-ea"/>
            </a:endParaRP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자연어 답변 합성</a:t>
            </a:r>
            <a:endParaRPr dirty="0">
              <a:latin typeface="+mn-ea"/>
            </a:endParaRPr>
          </a:p>
        </p:txBody>
      </p:sp>
      <p:sp>
        <p:nvSpPr>
          <p:cNvPr id="9" name="Key Feature">
            <a:extLst>
              <a:ext uri="{FF2B5EF4-FFF2-40B4-BE49-F238E27FC236}">
                <a16:creationId xmlns:a16="http://schemas.microsoft.com/office/drawing/2014/main" id="{36F6D973-91CE-328B-16F2-9472513CEF9C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영향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리스크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B2ABB89-4F70-20C6-F386-07CF48B928EE}"/>
              </a:ext>
            </a:extLst>
          </p:cNvPr>
          <p:cNvSpPr/>
          <p:nvPr/>
        </p:nvSpPr>
        <p:spPr>
          <a:xfrm>
            <a:off x="6757943" y="1792960"/>
            <a:ext cx="167940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Dependency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의존 그래프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직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간접 영향 경로 도출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9443E075-A581-D95A-9122-0EDEA0C414C3}"/>
              </a:ext>
            </a:extLst>
          </p:cNvPr>
          <p:cNvSpPr/>
          <p:nvPr/>
        </p:nvSpPr>
        <p:spPr>
          <a:xfrm>
            <a:off x="6757942" y="248610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Boundary &amp; Test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시스템 경계 전파 영향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영향 테스트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우선순위 도출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C235517A-426A-ACDE-A7C6-D952717EA1FD}"/>
              </a:ext>
            </a:extLst>
          </p:cNvPr>
          <p:cNvSpPr/>
          <p:nvPr/>
        </p:nvSpPr>
        <p:spPr>
          <a:xfrm>
            <a:off x="6757942" y="317924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Risk Scorer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점수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등급 계산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핫스팟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 점검 추천</a:t>
            </a:r>
            <a:endParaRPr dirty="0">
              <a:latin typeface="+mn-ea"/>
            </a:endParaRPr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8CF07475-EFB7-D3E6-0CFC-39865566BBDE}"/>
              </a:ext>
            </a:extLst>
          </p:cNvPr>
          <p:cNvSpPr/>
          <p:nvPr/>
        </p:nvSpPr>
        <p:spPr>
          <a:xfrm>
            <a:off x="6757942" y="387238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Rule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영향 탐지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트랜잭션 의미 변화 분석</a:t>
            </a:r>
            <a:endParaRPr dirty="0">
              <a:latin typeface="+mn-ea"/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2B3052E0-FCC4-7F3D-0729-A945E40C23C6}"/>
              </a:ext>
            </a:extLst>
          </p:cNvPr>
          <p:cNvSpPr/>
          <p:nvPr/>
        </p:nvSpPr>
        <p:spPr>
          <a:xfrm>
            <a:off x="6364379" y="456552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Insight Generator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응답 정합성 검증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서사</a:t>
            </a:r>
            <a:r>
              <a:rPr lang="en-US" altLang="ko-KR" dirty="0">
                <a:latin typeface="+mn-ea"/>
              </a:rPr>
              <a:t>(?),</a:t>
            </a:r>
            <a:r>
              <a:rPr lang="ko-KR" altLang="en-US" dirty="0">
                <a:latin typeface="+mn-ea"/>
              </a:rPr>
              <a:t> 비즈니스 번역</a:t>
            </a:r>
            <a:r>
              <a:rPr lang="en-US" altLang="ko-KR" dirty="0">
                <a:latin typeface="+mn-ea"/>
              </a:rPr>
              <a:t>(?)</a:t>
            </a:r>
            <a:endParaRPr dirty="0">
              <a:latin typeface="+mn-ea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C1867F8-1C22-F52C-691C-D19DF456F893}"/>
              </a:ext>
            </a:extLst>
          </p:cNvPr>
          <p:cNvSpPr/>
          <p:nvPr/>
        </p:nvSpPr>
        <p:spPr>
          <a:xfrm>
            <a:off x="9008709" y="4715210"/>
            <a:ext cx="113754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시각화 레이아웃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리포트 원본 조립</a:t>
            </a:r>
            <a:endParaRPr dirty="0">
              <a:latin typeface="+mn-ea"/>
            </a:endParaRPr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BC8D108A-9131-B29B-7670-A061D8ADA184}"/>
              </a:ext>
            </a:extLst>
          </p:cNvPr>
          <p:cNvSpPr/>
          <p:nvPr/>
        </p:nvSpPr>
        <p:spPr>
          <a:xfrm>
            <a:off x="10452601" y="2811116"/>
            <a:ext cx="1417320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1128E6D7-9093-85E3-8780-33CE8B87C7F2}"/>
              </a:ext>
            </a:extLst>
          </p:cNvPr>
          <p:cNvSpPr/>
          <p:nvPr/>
        </p:nvSpPr>
        <p:spPr>
          <a:xfrm>
            <a:off x="10452601" y="3602566"/>
            <a:ext cx="1417320" cy="61788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cxnSp>
        <p:nvCxnSpPr>
          <p:cNvPr id="6" name="직선 화살표 연결선 8">
            <a:extLst>
              <a:ext uri="{FF2B5EF4-FFF2-40B4-BE49-F238E27FC236}">
                <a16:creationId xmlns:a16="http://schemas.microsoft.com/office/drawing/2014/main" id="{D5286AD5-3F46-3E43-6D56-44F567C89A06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5626835" y="2076424"/>
            <a:ext cx="1131108" cy="1299096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C5E7A604-C1CB-1290-EFD8-524E70DB132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5626835" y="2769564"/>
            <a:ext cx="1131107" cy="605956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4D2B510-C50D-F23D-3AB9-7732F414B582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626835" y="3375520"/>
            <a:ext cx="1131107" cy="87184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CC3239DD-36A1-2942-1B17-ACC754D98872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5626835" y="3375520"/>
            <a:ext cx="1131107" cy="780324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FDE6814A-A42A-5785-8F52-9B038C3F10B5}"/>
              </a:ext>
            </a:extLst>
          </p:cNvPr>
          <p:cNvCxnSpPr>
            <a:cxnSpLocks/>
          </p:cNvCxnSpPr>
          <p:nvPr/>
        </p:nvCxnSpPr>
        <p:spPr>
          <a:xfrm>
            <a:off x="5030657" y="3656431"/>
            <a:ext cx="1326764" cy="1038340"/>
          </a:xfrm>
          <a:prstGeom prst="bentConnector3">
            <a:avLst>
              <a:gd name="adj1" fmla="val 999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8">
            <a:extLst>
              <a:ext uri="{FF2B5EF4-FFF2-40B4-BE49-F238E27FC236}">
                <a16:creationId xmlns:a16="http://schemas.microsoft.com/office/drawing/2014/main" id="{02853A0E-4F89-83A4-C7A8-EA08B3262A4A}"/>
              </a:ext>
            </a:extLst>
          </p:cNvPr>
          <p:cNvCxnSpPr>
            <a:cxnSpLocks/>
            <a:endCxn id="5" idx="2"/>
          </p:cNvCxnSpPr>
          <p:nvPr/>
        </p:nvCxnSpPr>
        <p:spPr>
          <a:xfrm rot="10800000">
            <a:off x="4873200" y="3658985"/>
            <a:ext cx="4135508" cy="1540495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8">
            <a:extLst>
              <a:ext uri="{FF2B5EF4-FFF2-40B4-BE49-F238E27FC236}">
                <a16:creationId xmlns:a16="http://schemas.microsoft.com/office/drawing/2014/main" id="{43F6C8C5-21DA-3F47-52A4-AF44C0D58368}"/>
              </a:ext>
            </a:extLst>
          </p:cNvPr>
          <p:cNvCxnSpPr>
            <a:cxnSpLocks/>
            <a:stCxn id="5" idx="0"/>
            <a:endCxn id="4" idx="1"/>
          </p:cNvCxnSpPr>
          <p:nvPr/>
        </p:nvCxnSpPr>
        <p:spPr>
          <a:xfrm rot="16200000" flipV="1">
            <a:off x="3364229" y="1583085"/>
            <a:ext cx="213031" cy="2804912"/>
          </a:xfrm>
          <a:prstGeom prst="bentConnector4">
            <a:avLst>
              <a:gd name="adj1" fmla="val 352069"/>
              <a:gd name="adj2" fmla="val 10815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8">
            <a:extLst>
              <a:ext uri="{FF2B5EF4-FFF2-40B4-BE49-F238E27FC236}">
                <a16:creationId xmlns:a16="http://schemas.microsoft.com/office/drawing/2014/main" id="{8447F4C0-4DF6-39E4-34BB-196F0C33C57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75558" y="2879025"/>
            <a:ext cx="544007" cy="496495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8">
            <a:extLst>
              <a:ext uri="{FF2B5EF4-FFF2-40B4-BE49-F238E27FC236}">
                <a16:creationId xmlns:a16="http://schemas.microsoft.com/office/drawing/2014/main" id="{C46F12AD-223E-C9C2-80EF-24D378AB4C61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1681739" y="3375520"/>
            <a:ext cx="2437826" cy="708660"/>
          </a:xfrm>
          <a:prstGeom prst="bentConnector3">
            <a:avLst>
              <a:gd name="adj1" fmla="val 8881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8">
            <a:extLst>
              <a:ext uri="{FF2B5EF4-FFF2-40B4-BE49-F238E27FC236}">
                <a16:creationId xmlns:a16="http://schemas.microsoft.com/office/drawing/2014/main" id="{CC66E4FF-21F8-1637-1CAF-60A3367C2A1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66408" y="4935537"/>
            <a:ext cx="2991014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8">
            <a:extLst>
              <a:ext uri="{FF2B5EF4-FFF2-40B4-BE49-F238E27FC236}">
                <a16:creationId xmlns:a16="http://schemas.microsoft.com/office/drawing/2014/main" id="{28327E26-6EED-BA2D-E90B-303F46F17A1B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1681739" y="2879025"/>
            <a:ext cx="386549" cy="496495"/>
          </a:xfrm>
          <a:prstGeom prst="bentConnector3">
            <a:avLst>
              <a:gd name="adj1" fmla="val 40429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8">
            <a:extLst>
              <a:ext uri="{FF2B5EF4-FFF2-40B4-BE49-F238E27FC236}">
                <a16:creationId xmlns:a16="http://schemas.microsoft.com/office/drawing/2014/main" id="{291DDC75-6D74-64EE-FD70-25A68B52E3DD}"/>
              </a:ext>
            </a:extLst>
          </p:cNvPr>
          <p:cNvCxnSpPr>
            <a:cxnSpLocks/>
            <a:stCxn id="15" idx="2"/>
            <a:endCxn id="8" idx="1"/>
          </p:cNvCxnSpPr>
          <p:nvPr/>
        </p:nvCxnSpPr>
        <p:spPr>
          <a:xfrm rot="5400000" flipH="1">
            <a:off x="4638149" y="2566516"/>
            <a:ext cx="196911" cy="4934954"/>
          </a:xfrm>
          <a:prstGeom prst="bentConnector4">
            <a:avLst>
              <a:gd name="adj1" fmla="val -206117"/>
              <a:gd name="adj2" fmla="val 106963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8">
            <a:extLst>
              <a:ext uri="{FF2B5EF4-FFF2-40B4-BE49-F238E27FC236}">
                <a16:creationId xmlns:a16="http://schemas.microsoft.com/office/drawing/2014/main" id="{343995A5-39CC-87E2-DDA7-7EAC6A5EEA00}"/>
              </a:ext>
            </a:extLst>
          </p:cNvPr>
          <p:cNvCxnSpPr>
            <a:cxnSpLocks/>
          </p:cNvCxnSpPr>
          <p:nvPr/>
        </p:nvCxnSpPr>
        <p:spPr>
          <a:xfrm>
            <a:off x="8043784" y="5044168"/>
            <a:ext cx="964924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">
            <a:extLst>
              <a:ext uri="{FF2B5EF4-FFF2-40B4-BE49-F238E27FC236}">
                <a16:creationId xmlns:a16="http://schemas.microsoft.com/office/drawing/2014/main" id="{41F6C68D-630B-3F35-6BF4-0A0FFD75E5A3}"/>
              </a:ext>
            </a:extLst>
          </p:cNvPr>
          <p:cNvCxnSpPr>
            <a:cxnSpLocks/>
            <a:stCxn id="11" idx="3"/>
            <a:endCxn id="19" idx="2"/>
          </p:cNvCxnSpPr>
          <p:nvPr/>
        </p:nvCxnSpPr>
        <p:spPr>
          <a:xfrm>
            <a:off x="8437347" y="2076424"/>
            <a:ext cx="2015254" cy="1043634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">
            <a:extLst>
              <a:ext uri="{FF2B5EF4-FFF2-40B4-BE49-F238E27FC236}">
                <a16:creationId xmlns:a16="http://schemas.microsoft.com/office/drawing/2014/main" id="{478AACFD-8386-D84A-35D2-3A9275EA1736}"/>
              </a:ext>
            </a:extLst>
          </p:cNvPr>
          <p:cNvCxnSpPr>
            <a:cxnSpLocks/>
            <a:stCxn id="12" idx="3"/>
            <a:endCxn id="19" idx="2"/>
          </p:cNvCxnSpPr>
          <p:nvPr/>
        </p:nvCxnSpPr>
        <p:spPr>
          <a:xfrm>
            <a:off x="8437347" y="2769564"/>
            <a:ext cx="2015254" cy="350494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8">
            <a:extLst>
              <a:ext uri="{FF2B5EF4-FFF2-40B4-BE49-F238E27FC236}">
                <a16:creationId xmlns:a16="http://schemas.microsoft.com/office/drawing/2014/main" id="{77C05BD0-FEA6-1184-6848-8282523727FF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8428938" y="3120058"/>
            <a:ext cx="2023663" cy="905357"/>
          </a:xfrm>
          <a:prstGeom prst="bentConnector3">
            <a:avLst>
              <a:gd name="adj1" fmla="val 50209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8">
            <a:extLst>
              <a:ext uri="{FF2B5EF4-FFF2-40B4-BE49-F238E27FC236}">
                <a16:creationId xmlns:a16="http://schemas.microsoft.com/office/drawing/2014/main" id="{195AC619-644F-3470-4AF7-440D27C27D8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8428938" y="3911507"/>
            <a:ext cx="2023663" cy="396398"/>
          </a:xfrm>
          <a:prstGeom prst="bentConnector3">
            <a:avLst>
              <a:gd name="adj1" fmla="val 67057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8">
            <a:extLst>
              <a:ext uri="{FF2B5EF4-FFF2-40B4-BE49-F238E27FC236}">
                <a16:creationId xmlns:a16="http://schemas.microsoft.com/office/drawing/2014/main" id="{65145FAE-50B2-033C-F596-F1E2FBE65A47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8043784" y="3911507"/>
            <a:ext cx="2408817" cy="748815"/>
          </a:xfrm>
          <a:prstGeom prst="bentConnector3">
            <a:avLst>
              <a:gd name="adj1" fmla="val 72374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7B2A2B63-78B3-AC58-B205-482AF551BAE0}"/>
              </a:ext>
            </a:extLst>
          </p:cNvPr>
          <p:cNvSpPr txBox="1"/>
          <p:nvPr/>
        </p:nvSpPr>
        <p:spPr>
          <a:xfrm>
            <a:off x="8420602" y="1870562"/>
            <a:ext cx="10156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의존 그래프 조회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C3E4BB4-7685-C69D-2BB5-16BDABF1D530}"/>
              </a:ext>
            </a:extLst>
          </p:cNvPr>
          <p:cNvSpPr txBox="1"/>
          <p:nvPr/>
        </p:nvSpPr>
        <p:spPr>
          <a:xfrm>
            <a:off x="8437346" y="2436980"/>
            <a:ext cx="94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경계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테스트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코드 매핑 조회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3B80B-AB92-8A6F-D1AF-8AB6E1808890}"/>
              </a:ext>
            </a:extLst>
          </p:cNvPr>
          <p:cNvSpPr txBox="1"/>
          <p:nvPr/>
        </p:nvSpPr>
        <p:spPr>
          <a:xfrm>
            <a:off x="8428938" y="3798987"/>
            <a:ext cx="9802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데이터 흐름 조회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7AFD05-6282-78C1-9B40-C64B2B995D00}"/>
              </a:ext>
            </a:extLst>
          </p:cNvPr>
          <p:cNvSpPr txBox="1"/>
          <p:nvPr/>
        </p:nvSpPr>
        <p:spPr>
          <a:xfrm>
            <a:off x="8413966" y="4084936"/>
            <a:ext cx="138422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코드 매핑 조회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BD2C091-EAEB-A890-596A-1C04FA5662D5}"/>
              </a:ext>
            </a:extLst>
          </p:cNvPr>
          <p:cNvSpPr txBox="1"/>
          <p:nvPr/>
        </p:nvSpPr>
        <p:spPr>
          <a:xfrm>
            <a:off x="8413966" y="4427665"/>
            <a:ext cx="16056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카탈로그 컨텍스트 조회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DFF06A46-3954-F59A-9F26-1DFD3A4F5D37}"/>
              </a:ext>
            </a:extLst>
          </p:cNvPr>
          <p:cNvSpPr txBox="1"/>
          <p:nvPr/>
        </p:nvSpPr>
        <p:spPr>
          <a:xfrm>
            <a:off x="8082918" y="4705614"/>
            <a:ext cx="1070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분석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서사 결합 </a:t>
            </a:r>
            <a:br>
              <a:rPr kumimoji="1" lang="en-US" altLang="ko-KR" sz="800" dirty="0"/>
            </a:br>
            <a:r>
              <a:rPr kumimoji="1" lang="ko-KR" altLang="en-US" sz="800" dirty="0"/>
              <a:t>결과 전달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49A7803-CF88-0791-3141-7637F0F9EC54}"/>
              </a:ext>
            </a:extLst>
          </p:cNvPr>
          <p:cNvSpPr txBox="1"/>
          <p:nvPr/>
        </p:nvSpPr>
        <p:spPr>
          <a:xfrm>
            <a:off x="4941408" y="5210812"/>
            <a:ext cx="22095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완성된 </a:t>
            </a:r>
            <a:r>
              <a:rPr kumimoji="1" lang="ko-KR" altLang="en-US" sz="800" dirty="0" err="1"/>
              <a:t>영항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리스크 패키지 반환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5D4327E-1E88-AF6A-C9C1-C7E52892BA71}"/>
              </a:ext>
            </a:extLst>
          </p:cNvPr>
          <p:cNvSpPr txBox="1"/>
          <p:nvPr/>
        </p:nvSpPr>
        <p:spPr>
          <a:xfrm>
            <a:off x="2605878" y="5545408"/>
            <a:ext cx="11838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자연어 합성 요청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EEFB6FCD-8F47-7768-57A6-2EA8C52380AE}"/>
              </a:ext>
            </a:extLst>
          </p:cNvPr>
          <p:cNvSpPr txBox="1"/>
          <p:nvPr/>
        </p:nvSpPr>
        <p:spPr>
          <a:xfrm>
            <a:off x="1969331" y="3872093"/>
            <a:ext cx="13918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로컬 변경 내역 전달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5D1E2BF-88F8-2D6A-F5FC-233B011F7359}"/>
              </a:ext>
            </a:extLst>
          </p:cNvPr>
          <p:cNvSpPr txBox="1"/>
          <p:nvPr/>
        </p:nvSpPr>
        <p:spPr>
          <a:xfrm>
            <a:off x="2304388" y="2116858"/>
            <a:ext cx="16190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영향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리스크 패키지 반환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6160F702-C7E2-C904-7E37-27C1DF642644}"/>
              </a:ext>
            </a:extLst>
          </p:cNvPr>
          <p:cNvSpPr txBox="1"/>
          <p:nvPr/>
        </p:nvSpPr>
        <p:spPr>
          <a:xfrm>
            <a:off x="3937491" y="4738625"/>
            <a:ext cx="10229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인사이트 응답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FFFE8CA-981F-5FE4-838C-BBB1B76D4AA2}"/>
              </a:ext>
            </a:extLst>
          </p:cNvPr>
          <p:cNvSpPr txBox="1"/>
          <p:nvPr/>
        </p:nvSpPr>
        <p:spPr>
          <a:xfrm>
            <a:off x="5055625" y="4361287"/>
            <a:ext cx="1633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800" dirty="0"/>
              <a:t>분석 결과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카탈로그 컨텍스트</a:t>
            </a:r>
            <a:br>
              <a:rPr kumimoji="1" lang="en-US" altLang="ko-KR" sz="800" dirty="0"/>
            </a:br>
            <a:r>
              <a:rPr kumimoji="1" lang="ko-KR" altLang="en-US" sz="800" dirty="0"/>
              <a:t>인사이트 합성 요청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5507CC1-F520-1DD9-A661-3570140C3927}"/>
              </a:ext>
            </a:extLst>
          </p:cNvPr>
          <p:cNvSpPr txBox="1"/>
          <p:nvPr/>
        </p:nvSpPr>
        <p:spPr>
          <a:xfrm>
            <a:off x="5922990" y="1758271"/>
            <a:ext cx="70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영향 경로 </a:t>
            </a:r>
            <a:br>
              <a:rPr kumimoji="1" lang="en-US" altLang="ko-KR" sz="800" dirty="0"/>
            </a:br>
            <a:r>
              <a:rPr kumimoji="1" lang="ko-KR" altLang="en-US" sz="800" dirty="0"/>
              <a:t>탐색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46453BFD-BB43-4D94-941E-2DC0F90C74B9}"/>
              </a:ext>
            </a:extLst>
          </p:cNvPr>
          <p:cNvSpPr txBox="1"/>
          <p:nvPr/>
        </p:nvSpPr>
        <p:spPr>
          <a:xfrm>
            <a:off x="5905398" y="2443395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경계 테스트 </a:t>
            </a:r>
            <a:br>
              <a:rPr kumimoji="1" lang="en-US" altLang="ko-KR" sz="800" dirty="0"/>
            </a:br>
            <a:r>
              <a:rPr kumimoji="1" lang="ko-KR" altLang="en-US" sz="800" dirty="0"/>
              <a:t>영향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ED85DE83-8BB7-916A-ECC1-38FB63D00AEC}"/>
              </a:ext>
            </a:extLst>
          </p:cNvPr>
          <p:cNvSpPr txBox="1"/>
          <p:nvPr/>
        </p:nvSpPr>
        <p:spPr>
          <a:xfrm>
            <a:off x="5905398" y="3114992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리스크 계산</a:t>
            </a:r>
            <a:br>
              <a:rPr kumimoji="1" lang="en-US" altLang="ko-KR" sz="800" dirty="0"/>
            </a:br>
            <a:r>
              <a:rPr kumimoji="1" lang="ko-KR" altLang="en-US" sz="800" dirty="0"/>
              <a:t>요청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28DE90F6-6399-EBEE-421D-F3E9E5313F7E}"/>
              </a:ext>
            </a:extLst>
          </p:cNvPr>
          <p:cNvSpPr txBox="1"/>
          <p:nvPr/>
        </p:nvSpPr>
        <p:spPr>
          <a:xfrm>
            <a:off x="5901948" y="3807150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규칙 영향 </a:t>
            </a:r>
            <a:br>
              <a:rPr kumimoji="1" lang="en-US" altLang="ko-KR" sz="800" dirty="0"/>
            </a:br>
            <a:r>
              <a:rPr kumimoji="1" lang="ko-KR" altLang="en-US" sz="800" dirty="0"/>
              <a:t>분석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1163625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10661</TotalTime>
  <Words>413</Words>
  <Application>Microsoft Macintosh PowerPoint</Application>
  <PresentationFormat>와이드스크린</PresentationFormat>
  <Paragraphs>111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Pretendard SemiBold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266</cp:revision>
  <cp:lastPrinted>2026-01-09T08:14:09Z</cp:lastPrinted>
  <dcterms:created xsi:type="dcterms:W3CDTF">2022-09-15T01:21:24Z</dcterms:created>
  <dcterms:modified xsi:type="dcterms:W3CDTF">2026-04-13T05:05:59Z</dcterms:modified>
</cp:coreProperties>
</file>