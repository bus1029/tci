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0" y="73152"/>
            <a:ext cx="5669280" cy="256032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1200">
                <a:solidFill>
                  <a:srgbClr val="2D2D2D"/>
                </a:solidFill>
              </a:defRPr>
            </a:pPr>
            <a:r>
              <a:t>FS-06 구현 컴포넌트 뷰 — 대화형 질의 응답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38912"/>
            <a:ext cx="11567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8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7432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t>Entry &amp; Web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148840" y="658368"/>
            <a:ext cx="9372600" cy="1024128"/>
          </a:xfrm>
          <a:prstGeom prst="rect">
            <a:avLst/>
          </a:prstGeom>
          <a:solidFill>
            <a:srgbClr val="E8F4FD"/>
          </a:solidFill>
          <a:ln w="12700">
            <a:solidFill>
              <a:srgbClr val="438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7432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t>Web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48840"/>
            <a:ext cx="110185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438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7432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t>Interactive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4663440"/>
            <a:ext cx="9921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7432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t>Knowledge &amp; External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800600"/>
            <a:ext cx="6995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7432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t>Knowledge 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4983480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7432"/>
          <a:lstStyle/>
          <a:p>
            <a:pPr algn="ctr">
              <a:defRPr sz="900" b="1">
                <a:solidFill>
                  <a:srgbClr val="2D2D2D"/>
                </a:solidFill>
              </a:defRPr>
            </a:pPr>
            <a:r>
              <a:t>External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960120"/>
            <a:ext cx="1325880" cy="566928"/>
          </a:xfrm>
          <a:prstGeom prst="roundRect">
            <a:avLst/>
          </a:prstGeom>
          <a:solidFill>
            <a:srgbClr val="08427B"/>
          </a:solidFill>
          <a:ln w="12700">
            <a:solidFill>
              <a:srgbClr val="084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780" b="1">
                <a:solidFill>
                  <a:srgbClr val="FFFFFF"/>
                </a:solidFill>
              </a:defRPr>
            </a:pPr>
            <a:r>
              <a:t>박피엠 (PM/PO)</a:t>
            </a:r>
          </a:p>
          <a:p>
            <a:pPr algn="ctr">
              <a:defRPr sz="780" b="0">
                <a:solidFill>
                  <a:srgbClr val="FFFFFF"/>
                </a:solidFill>
              </a:defRPr>
            </a:pPr>
            <a:r>
              <a:t>자연어 질의·후속 질문</a:t>
            </a:r>
          </a:p>
          <a:p>
            <a:pPr algn="ctr">
              <a:defRPr sz="780" b="0">
                <a:solidFill>
                  <a:srgbClr val="FFFFFF"/>
                </a:solidFill>
              </a:defRPr>
            </a:pPr>
            <a:r>
              <a:t>답변 평가·큐레이션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969264"/>
            <a:ext cx="1508760" cy="56692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Conversation Gateway</a:t>
            </a: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t>대화 UI 진입점</a:t>
            </a: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t>세션 메시지 중계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841248"/>
            <a:ext cx="1280160" cy="502920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Auth Gateway</a:t>
            </a: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t>권한 확인</a:t>
            </a:r>
          </a:p>
          <a:p>
            <a:pPr algn="ctr">
              <a:defRPr sz="750" b="0">
                <a:solidFill>
                  <a:srgbClr val="FFFFFF"/>
                </a:solidFill>
              </a:defRPr>
            </a:pPr>
            <a:r>
              <a:t>접근 제어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53312"/>
            <a:ext cx="1645920" cy="475488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Feedback Gateway</a:t>
            </a:r>
          </a:p>
          <a:p>
            <a:pPr algn="ctr">
              <a:defRPr sz="720" b="0">
                <a:solidFill>
                  <a:srgbClr val="FFFFFF"/>
                </a:solidFill>
              </a:defRPr>
            </a:pPr>
            <a:r>
              <a:t>답변 평가·자산화 요청 중계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743200"/>
            <a:ext cx="1600200" cy="603504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740" b="1">
                <a:solidFill>
                  <a:srgbClr val="FFFFFF"/>
                </a:solidFill>
              </a:defRPr>
            </a:pPr>
            <a:r>
              <a:t>Session Manager</a:t>
            </a:r>
          </a:p>
          <a:p>
            <a:pPr algn="ctr">
              <a:defRPr sz="740" b="0">
                <a:solidFill>
                  <a:srgbClr val="FFFFFF"/>
                </a:solidFill>
              </a:defRPr>
            </a:pPr>
            <a:r>
              <a:t>세션·대화 이력 유지</a:t>
            </a:r>
          </a:p>
          <a:p>
            <a:pPr algn="ctr">
              <a:defRPr sz="740" b="0">
                <a:solidFill>
                  <a:srgbClr val="FFFFFF"/>
                </a:solidFill>
              </a:defRPr>
            </a:pPr>
            <a:r>
              <a:t>후속 질문 컨텍스트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743200"/>
            <a:ext cx="1828800" cy="603504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Query Router</a:t>
            </a:r>
          </a:p>
          <a:p>
            <a:pPr algn="ctr">
              <a:defRPr sz="720" b="0">
                <a:solidFill>
                  <a:srgbClr val="FFFFFF"/>
                </a:solidFill>
              </a:defRPr>
            </a:pPr>
            <a:r>
              <a:t>질의 의도 분류·핸들러 라우팅</a:t>
            </a:r>
          </a:p>
          <a:p>
            <a:pPr algn="ctr">
              <a:defRPr sz="720" b="0">
                <a:solidFill>
                  <a:srgbClr val="FFFFFF"/>
                </a:solidFill>
              </a:defRPr>
            </a:pPr>
            <a:r>
              <a:t>컨텍스트 범위 적용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2743200"/>
            <a:ext cx="1737360" cy="603504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QA Handler</a:t>
            </a:r>
          </a:p>
          <a:p>
            <a:pPr algn="ctr">
              <a:defRPr sz="720" b="0">
                <a:solidFill>
                  <a:srgbClr val="FFFFFF"/>
                </a:solidFill>
              </a:defRPr>
            </a:pPr>
            <a:r>
              <a:t>근거 포함 답변 생성</a:t>
            </a:r>
          </a:p>
          <a:p>
            <a:pPr algn="ctr">
              <a:defRPr sz="720" b="0">
                <a:solidFill>
                  <a:srgbClr val="FFFFFF"/>
                </a:solidFill>
              </a:defRPr>
            </a:pPr>
            <a:r>
              <a:t>LLM 호출·근거 정합성 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2514600"/>
            <a:ext cx="1783080" cy="603504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Context Assembler</a:t>
            </a:r>
          </a:p>
          <a:p>
            <a:pPr algn="ctr">
              <a:defRPr sz="720" b="0">
                <a:solidFill>
                  <a:srgbClr val="FFFFFF"/>
                </a:solidFill>
              </a:defRPr>
            </a:pPr>
            <a:r>
              <a:t>하이브리드 컨텍스트 조립</a:t>
            </a:r>
          </a:p>
          <a:p>
            <a:pPr algn="ctr">
              <a:defRPr sz="720" b="0">
                <a:solidFill>
                  <a:srgbClr val="FFFFFF"/>
                </a:solidFill>
              </a:defRPr>
            </a:pPr>
            <a:r>
              <a:t>근거 후보 수집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3401568"/>
            <a:ext cx="1874519" cy="603504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Response Renderer</a:t>
            </a:r>
          </a:p>
          <a:p>
            <a:pPr algn="ctr">
              <a:defRPr sz="700" b="0">
                <a:solidFill>
                  <a:srgbClr val="FFFFFF"/>
                </a:solidFill>
              </a:defRPr>
            </a:pPr>
            <a:r>
              <a:t>응답 포맷 변환·근거 링크 부착</a:t>
            </a:r>
          </a:p>
          <a:p>
            <a:pPr algn="ctr">
              <a:defRPr sz="700" b="0">
                <a:solidFill>
                  <a:srgbClr val="FFFFFF"/>
                </a:solidFill>
              </a:defRPr>
            </a:pPr>
            <a:r>
              <a:t>평가 수집·자산 적재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5138928"/>
            <a:ext cx="1920240" cy="603504"/>
          </a:xfrm>
          <a:prstGeom prst="rect">
            <a:avLst/>
          </a:prstGeom>
          <a:solidFill>
            <a:srgbClr val="438DD5"/>
          </a:solidFill>
          <a:ln w="12700">
            <a:solidFill>
              <a:srgbClr val="438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720" b="1">
                <a:solidFill>
                  <a:srgbClr val="FFFFFF"/>
                </a:solidFill>
              </a:defRPr>
            </a:pPr>
            <a:r>
              <a:t>Knowledge Query Facade</a:t>
            </a:r>
          </a:p>
          <a:p>
            <a:pPr algn="ctr">
              <a:defRPr sz="720" b="0">
                <a:solidFill>
                  <a:srgbClr val="FFFFFF"/>
                </a:solidFill>
              </a:defRPr>
            </a:pPr>
            <a:r>
              <a:t>하이브리드 질의 단일 진입점</a:t>
            </a:r>
          </a:p>
          <a:p>
            <a:pPr algn="ctr">
              <a:defRPr sz="720" b="0">
                <a:solidFill>
                  <a:srgbClr val="FFFFFF"/>
                </a:solidFill>
              </a:defRPr>
            </a:pPr>
            <a:r>
              <a:t>캐싱·권한 필터</a:t>
            </a:r>
          </a:p>
        </p:txBody>
      </p:sp>
      <p:sp>
        <p:nvSpPr>
          <p:cNvPr id="19" name="Can 18"/>
          <p:cNvSpPr/>
          <p:nvPr/>
        </p:nvSpPr>
        <p:spPr>
          <a:xfrm>
            <a:off x="1783080" y="5596128"/>
            <a:ext cx="1417320" cy="530352"/>
          </a:xfrm>
          <a:prstGeom prst="can">
            <a:avLst/>
          </a:prstGeom>
          <a:solidFill>
            <a:srgbClr val="7A9EC8"/>
          </a:solidFill>
          <a:ln w="12700">
            <a:solidFill>
              <a:srgbClr val="7A9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구조 지식 그래프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코드 구조·의존·흐름</a:t>
            </a:r>
          </a:p>
        </p:txBody>
      </p:sp>
      <p:sp>
        <p:nvSpPr>
          <p:cNvPr id="20" name="Can 19"/>
          <p:cNvSpPr/>
          <p:nvPr/>
        </p:nvSpPr>
        <p:spPr>
          <a:xfrm>
            <a:off x="3703320" y="5650992"/>
            <a:ext cx="1691640" cy="530352"/>
          </a:xfrm>
          <a:prstGeom prst="can">
            <a:avLst/>
          </a:prstGeom>
          <a:solidFill>
            <a:srgbClr val="7A9EC8"/>
          </a:solidFill>
          <a:ln w="12700">
            <a:solidFill>
              <a:srgbClr val="7A9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비즈니스 규칙 카탈로그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규칙·규칙-코드 링크</a:t>
            </a:r>
          </a:p>
        </p:txBody>
      </p:sp>
      <p:sp>
        <p:nvSpPr>
          <p:cNvPr id="21" name="Can 20"/>
          <p:cNvSpPr/>
          <p:nvPr/>
        </p:nvSpPr>
        <p:spPr>
          <a:xfrm>
            <a:off x="5989320" y="5596128"/>
            <a:ext cx="1737360" cy="530352"/>
          </a:xfrm>
          <a:prstGeom prst="can">
            <a:avLst/>
          </a:prstGeom>
          <a:solidFill>
            <a:srgbClr val="7A9EC8"/>
          </a:solidFill>
          <a:ln w="12700">
            <a:solidFill>
              <a:srgbClr val="7A9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답변 지식 베이스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근거 포함 답변 자산·평가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62288" y="5330952"/>
            <a:ext cx="1097280" cy="530352"/>
          </a:xfrm>
          <a:prstGeom prst="rect">
            <a:avLst/>
          </a:prstGeom>
          <a:solidFill>
            <a:srgbClr val="6B4C9A"/>
          </a:solidFill>
          <a:ln w="12700">
            <a:solidFill>
              <a:srgbClr val="6B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710" b="1">
                <a:solidFill>
                  <a:srgbClr val="FFFFFF"/>
                </a:solidFill>
              </a:defRPr>
            </a:pPr>
            <a:r>
              <a:t>LLM</a:t>
            </a:r>
          </a:p>
          <a:p>
            <a:pPr algn="ctr">
              <a:defRPr sz="710" b="0">
                <a:solidFill>
                  <a:srgbClr val="FFFFFF"/>
                </a:solidFill>
              </a:defRPr>
            </a:pPr>
            <a:r>
              <a:t>외부 시스템</a:t>
            </a:r>
          </a:p>
          <a:p>
            <a:pPr algn="ctr">
              <a:defRPr sz="710" b="0">
                <a:solidFill>
                  <a:srgbClr val="FFFFFF"/>
                </a:solidFill>
              </a:defRPr>
            </a:pPr>
            <a:r>
              <a:t>자연어 답변 합성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20240" y="1243584.0"/>
            <a:ext cx="502920" cy="9144.0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08760" y="768096"/>
            <a:ext cx="173736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자연어 질의 + 컨텍스트 범위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931920" y="1092708.0"/>
            <a:ext cx="640080" cy="160020.0"/>
          </a:xfrm>
          <a:prstGeom prst="line">
            <a:avLst/>
          </a:prstGeom>
          <a:ln w="12700">
            <a:solidFill>
              <a:srgbClr val="5F5F5F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822191" y="960120"/>
            <a:ext cx="109728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권한 확인 / 결과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668780.0" y="1536192"/>
            <a:ext cx="1508760.0" cy="1207008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874519" y="1874519"/>
            <a:ext cx="109728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세션 메시지 전달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468880" y="3044952.0"/>
            <a:ext cx="457200" cy="0.0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40280" y="2542032"/>
            <a:ext cx="132588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의도 분류·라우팅 요청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754880" y="3044952.0"/>
            <a:ext cx="457200" cy="0.0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617720" y="2615184"/>
            <a:ext cx="114300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Q&amp;A 의도 라우팅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6949440" y="2816352.0"/>
            <a:ext cx="502920" cy="228600.0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693408" y="2377440"/>
            <a:ext cx="141732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근거 컨텍스트 조립 요청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4983480.0" y="3118104"/>
            <a:ext cx="3360420.0" cy="2020824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355080" y="4389120"/>
            <a:ext cx="164592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하이브리드 질의</a:t>
            </a:r>
          </a:p>
          <a:p>
            <a:pPr algn="ctr">
              <a:defRPr sz="660">
                <a:solidFill>
                  <a:srgbClr val="2D2D2D"/>
                </a:solidFill>
              </a:defRPr>
            </a:pPr>
            <a:r>
              <a:t>(벡터·검색·카탈로그)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2491740.0" y="5440680.0"/>
            <a:ext cx="1531620.0" cy="155448.0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423160" y="5248656"/>
            <a:ext cx="109728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구조·의존 조회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4549140.0" y="5650992"/>
            <a:ext cx="434340.0" cy="91440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251960" y="5468112"/>
            <a:ext cx="109728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규칙·링크 조회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43600" y="5440680.0"/>
            <a:ext cx="914400.0" cy="155448.0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89320" y="5248656"/>
            <a:ext cx="132588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기존 답변 자산 조회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4983480.0" y="3118104"/>
            <a:ext cx="3360420.0" cy="2020824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715000" y="4572000"/>
            <a:ext cx="105156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결합 결과 반환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6949440" y="2816352.0"/>
            <a:ext cx="502920" cy="228600.0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382512" y="3154680"/>
            <a:ext cx="173736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근거 후보 + 컨텍스트 패키지 반환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080760.0" y="3346704"/>
            <a:ext cx="3630168.0" cy="1984248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452360" y="4425696"/>
            <a:ext cx="182880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프롬프트 + 근거 링크 + 컨텍스트</a:t>
            </a:r>
          </a:p>
        </p:txBody>
      </p:sp>
      <p:cxnSp>
        <p:nvCxnSpPr>
          <p:cNvPr id="49" name="Connector 48"/>
          <p:cNvCxnSpPr/>
          <p:nvPr/>
        </p:nvCxnSpPr>
        <p:spPr>
          <a:xfrm flipH="1" flipV="1">
            <a:off x="6080760.0" y="3346704"/>
            <a:ext cx="3081528.0" cy="2249424.0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046720" y="4069080"/>
            <a:ext cx="91440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자연어 답변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949440" y="3044952.0"/>
            <a:ext cx="1440179.5" cy="356616.0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37960" y="3273552"/>
            <a:ext cx="128016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근거 포함 답변 전달</a:t>
            </a:r>
          </a:p>
        </p:txBody>
      </p:sp>
      <p:cxnSp>
        <p:nvCxnSpPr>
          <p:cNvPr id="53" name="Connector 52"/>
          <p:cNvCxnSpPr/>
          <p:nvPr/>
        </p:nvCxnSpPr>
        <p:spPr>
          <a:xfrm flipH="1" flipV="1">
            <a:off x="2468880" y="3044952.0"/>
            <a:ext cx="4983480" cy="658368.0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206240" y="3520440"/>
            <a:ext cx="132588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이력 저장 + 응답 회신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1668780.0" y="1536192"/>
            <a:ext cx="1508760.0" cy="1207008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965960" y="2057400"/>
            <a:ext cx="82296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응답 전달</a:t>
            </a:r>
          </a:p>
        </p:txBody>
      </p:sp>
      <p:cxnSp>
        <p:nvCxnSpPr>
          <p:cNvPr id="57" name="Connector 56"/>
          <p:cNvCxnSpPr/>
          <p:nvPr/>
        </p:nvCxnSpPr>
        <p:spPr>
          <a:xfrm flipH="1" flipV="1">
            <a:off x="1920240" y="1243584.0"/>
            <a:ext cx="502920" cy="9144.0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627632" y="1417320"/>
            <a:ext cx="82296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응답 렌더링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920240" y="1243584.0"/>
            <a:ext cx="2560320" cy="347472.0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920240" y="1618488"/>
            <a:ext cx="150876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답변 평가·큐레이션 요청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303520.0" y="1828800"/>
            <a:ext cx="2148840.0" cy="1874520.0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303520" y="2606040"/>
            <a:ext cx="114300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평가·자산화 요청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6858000.0" y="4005072"/>
            <a:ext cx="1531619.5" cy="1591056"/>
          </a:xfrm>
          <a:prstGeom prst="line">
            <a:avLst/>
          </a:prstGeom>
          <a:ln w="12700">
            <a:solidFill>
              <a:srgbClr val="5F5F5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132320" y="4773168"/>
            <a:ext cx="1645920" cy="274320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>
              <a:defRPr sz="660">
                <a:solidFill>
                  <a:srgbClr val="2D2D2D"/>
                </a:solidFill>
              </a:defRPr>
            </a:pPr>
            <a:r>
              <a:t>답변 자산 적재 + 평가 저장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