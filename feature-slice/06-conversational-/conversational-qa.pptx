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313" r:id="rId2"/>
    <p:sldId id="314" r:id="rId3"/>
    <p:sldId id="315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439C"/>
    <a:srgbClr val="899197"/>
    <a:srgbClr val="BBDEF8"/>
    <a:srgbClr val="5CB5FE"/>
    <a:srgbClr val="6D757E"/>
    <a:srgbClr val="1A75D2"/>
    <a:srgbClr val="415B88"/>
    <a:srgbClr val="F8F9FA"/>
    <a:srgbClr val="51575C"/>
    <a:srgbClr val="EBF7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94" autoAdjust="0"/>
    <p:restoredTop sz="94346"/>
  </p:normalViewPr>
  <p:slideViewPr>
    <p:cSldViewPr snapToGrid="0">
      <p:cViewPr>
        <p:scale>
          <a:sx n="160" d="100"/>
          <a:sy n="160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37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E36D4-B224-4D49-A73E-0BF1A210728E}" type="datetimeFigureOut">
              <a:rPr lang="ko-KR" altLang="en-US" smtClean="0"/>
              <a:t>2026. 4. 10.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661C5-6DF4-4E77-80CD-DCF64012D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04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7304B-F283-4E41-A8FA-EB923FFBA2A0}" type="datetimeFigureOut">
              <a:rPr lang="ko-KR" altLang="en-US" smtClean="0"/>
              <a:t>2026. 4. 10.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92502-E94D-4E8D-8986-81BE15697A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331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 txBox="1">
            <a:spLocks/>
          </p:cNvSpPr>
          <p:nvPr userDrawn="1"/>
        </p:nvSpPr>
        <p:spPr>
          <a:xfrm>
            <a:off x="11560552" y="6504396"/>
            <a:ext cx="490526" cy="233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8418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218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9321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10775568" y="6262414"/>
            <a:ext cx="959232" cy="595586"/>
          </a:xfrm>
          <a:prstGeom prst="rect">
            <a:avLst/>
          </a:prstGeom>
        </p:spPr>
        <p:txBody>
          <a:bodyPr vert="horz" lIns="91447" tIns="45725" rIns="91447" bIns="45725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50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50" charset="-127"/>
              </a:rPr>
              <a:pPr marL="0" marR="0" lvl="0" indent="0" algn="r" defTabSz="91450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5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" name="object 8"/>
          <p:cNvSpPr/>
          <p:nvPr userDrawn="1"/>
        </p:nvSpPr>
        <p:spPr>
          <a:xfrm>
            <a:off x="580644" y="6318503"/>
            <a:ext cx="11057890" cy="0"/>
          </a:xfrm>
          <a:custGeom>
            <a:avLst/>
            <a:gdLst/>
            <a:ahLst/>
            <a:cxnLst/>
            <a:rect l="l" t="t" r="r" b="b"/>
            <a:pathLst>
              <a:path w="11057890">
                <a:moveTo>
                  <a:pt x="0" y="0"/>
                </a:moveTo>
                <a:lnTo>
                  <a:pt x="11057509" y="0"/>
                </a:lnTo>
              </a:path>
            </a:pathLst>
          </a:custGeom>
          <a:ln w="6350">
            <a:solidFill>
              <a:srgbClr val="DBDB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직사각형 12"/>
          <p:cNvSpPr/>
          <p:nvPr userDrawn="1"/>
        </p:nvSpPr>
        <p:spPr>
          <a:xfrm>
            <a:off x="491124" y="6428173"/>
            <a:ext cx="247215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Copyrightⓒ 2025 </a:t>
            </a:r>
            <a:r>
              <a:rPr lang="en-US" altLang="ko-KR" sz="800" dirty="0" err="1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TmaxSoft</a:t>
            </a:r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  All Rights Reserved.</a:t>
            </a:r>
          </a:p>
        </p:txBody>
      </p: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1317" y="338424"/>
            <a:ext cx="1157417" cy="11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568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393CA-1A98-4091-B4F8-8CF82E62BE0C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F8EB2-BEDB-4375-BAD0-E61FA200F7A6}" type="datetimeFigureOut">
              <a:rPr lang="ko-KR" altLang="en-US" smtClean="0"/>
              <a:pPr/>
              <a:t>2026. 4. 10.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646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8" r:id="rId2"/>
    <p:sldLayoutId id="2147483669" r:id="rId3"/>
    <p:sldLayoutId id="2147483670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ICD"/>
          <p:cNvSpPr/>
          <p:nvPr/>
        </p:nvSpPr>
        <p:spPr>
          <a:xfrm>
            <a:off x="2406650" y="5462356"/>
            <a:ext cx="73787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3333"/>
              </a:lnSpc>
            </a:pPr>
            <a:endParaRPr lang="en-US" sz="11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CICD"/>
          <p:cNvSpPr/>
          <p:nvPr/>
        </p:nvSpPr>
        <p:spPr>
          <a:xfrm>
            <a:off x="2406650" y="5427865"/>
            <a:ext cx="7378700" cy="885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endParaRPr lang="en-US" altLang="ko-KR" sz="11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773C09A-468D-E7AE-9696-83405B30E197}"/>
              </a:ext>
            </a:extLst>
          </p:cNvPr>
          <p:cNvGrpSpPr/>
          <p:nvPr/>
        </p:nvGrpSpPr>
        <p:grpSpPr>
          <a:xfrm>
            <a:off x="2680643" y="913922"/>
            <a:ext cx="6830715" cy="4230599"/>
            <a:chOff x="2686508" y="976066"/>
            <a:chExt cx="6830715" cy="4230599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D99BA65-5DAF-7FC6-3F27-EB805F92AC1E}"/>
                </a:ext>
              </a:extLst>
            </p:cNvPr>
            <p:cNvSpPr/>
            <p:nvPr/>
          </p:nvSpPr>
          <p:spPr>
            <a:xfrm>
              <a:off x="2686508" y="976066"/>
              <a:ext cx="6830715" cy="4230599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35000"/>
              </a:schemeClr>
            </a:soli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CORE</a:t>
              </a:r>
              <a:endPara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5F07289-013A-FA33-EBF9-2BC0DFED4F65}"/>
                </a:ext>
              </a:extLst>
            </p:cNvPr>
            <p:cNvSpPr/>
            <p:nvPr/>
          </p:nvSpPr>
          <p:spPr>
            <a:xfrm>
              <a:off x="5308307" y="3587630"/>
              <a:ext cx="3139749" cy="1470580"/>
            </a:xfrm>
            <a:prstGeom prst="rect">
              <a:avLst/>
            </a:prstGeom>
            <a:solidFill>
              <a:schemeClr val="bg2">
                <a:lumMod val="90000"/>
                <a:alpha val="40000"/>
              </a:schemeClr>
            </a:solidFill>
            <a:ln w="12700"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1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System Meta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5F07289-013A-FA33-EBF9-2BC0DFED4F65}"/>
                </a:ext>
              </a:extLst>
            </p:cNvPr>
            <p:cNvSpPr/>
            <p:nvPr/>
          </p:nvSpPr>
          <p:spPr>
            <a:xfrm>
              <a:off x="5308307" y="1358914"/>
              <a:ext cx="3139749" cy="2086255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40000"/>
              </a:schemeClr>
            </a:solidFill>
            <a:ln w="12700"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1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Patch Manager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5808C6C3-9339-FB27-D784-3BDF80F90D2D}"/>
                </a:ext>
              </a:extLst>
            </p:cNvPr>
            <p:cNvSpPr/>
            <p:nvPr/>
          </p:nvSpPr>
          <p:spPr>
            <a:xfrm>
              <a:off x="3427082" y="1379126"/>
              <a:ext cx="1331225" cy="2054908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35000"/>
              </a:schemeClr>
            </a:solidFill>
            <a:ln>
              <a:noFill/>
            </a:ln>
            <a:effectLst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1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Client</a:t>
              </a:r>
              <a:endParaRPr lang="ko-KR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C8A7CCDD-3C0C-5A56-9F28-C6D98BE1145B}"/>
                </a:ext>
              </a:extLst>
            </p:cNvPr>
            <p:cNvSpPr/>
            <p:nvPr/>
          </p:nvSpPr>
          <p:spPr>
            <a:xfrm>
              <a:off x="3602246" y="2230488"/>
              <a:ext cx="992468" cy="471409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40000"/>
              </a:schemeClr>
            </a:solidFill>
            <a:ln>
              <a:solidFill>
                <a:schemeClr val="tx1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Web Console</a:t>
              </a:r>
              <a:endParaRPr lang="ko-KR" altLang="en-US" sz="1050" dirty="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2" name="원통 11">
              <a:extLst>
                <a:ext uri="{FF2B5EF4-FFF2-40B4-BE49-F238E27FC236}">
                  <a16:creationId xmlns:a16="http://schemas.microsoft.com/office/drawing/2014/main" id="{F705EAAC-2F42-A97F-290D-E026A423D1FD}"/>
                </a:ext>
              </a:extLst>
            </p:cNvPr>
            <p:cNvSpPr/>
            <p:nvPr/>
          </p:nvSpPr>
          <p:spPr>
            <a:xfrm>
              <a:off x="6030713" y="4041269"/>
              <a:ext cx="709127" cy="670700"/>
            </a:xfrm>
            <a:prstGeom prst="can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Task Meta</a:t>
              </a:r>
              <a:endParaRPr lang="ko-KR" altLang="en-US" sz="1050" dirty="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5576670" y="2221643"/>
              <a:ext cx="2590027" cy="47140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Task Service</a:t>
              </a:r>
              <a:endParaRPr lang="ko-KR" altLang="en-US" sz="1050" dirty="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4" name="원통 13">
              <a:extLst>
                <a:ext uri="{FF2B5EF4-FFF2-40B4-BE49-F238E27FC236}">
                  <a16:creationId xmlns:a16="http://schemas.microsoft.com/office/drawing/2014/main" id="{F705EAAC-2F42-A97F-290D-E026A423D1FD}"/>
                </a:ext>
              </a:extLst>
            </p:cNvPr>
            <p:cNvSpPr/>
            <p:nvPr/>
          </p:nvSpPr>
          <p:spPr>
            <a:xfrm>
              <a:off x="6995224" y="4048769"/>
              <a:ext cx="709127" cy="674277"/>
            </a:xfrm>
            <a:prstGeom prst="can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Task Status</a:t>
              </a:r>
              <a:endParaRPr lang="ko-KR" altLang="en-US" sz="1050" dirty="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cxnSp>
          <p:nvCxnSpPr>
            <p:cNvPr id="15" name="직선 화살표 연결선 14"/>
            <p:cNvCxnSpPr/>
            <p:nvPr/>
          </p:nvCxnSpPr>
          <p:spPr>
            <a:xfrm>
              <a:off x="4594714" y="2415076"/>
              <a:ext cx="1008627" cy="0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직선 화살표 연결선 15"/>
            <p:cNvCxnSpPr/>
            <p:nvPr/>
          </p:nvCxnSpPr>
          <p:spPr>
            <a:xfrm>
              <a:off x="4594714" y="2535404"/>
              <a:ext cx="1008627" cy="0"/>
            </a:xfrm>
            <a:prstGeom prst="straightConnector1">
              <a:avLst/>
            </a:prstGeom>
            <a:ln w="50800">
              <a:headEnd type="triangle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직선 화살표 연결선 16"/>
            <p:cNvCxnSpPr/>
            <p:nvPr/>
          </p:nvCxnSpPr>
          <p:spPr>
            <a:xfrm flipH="1">
              <a:off x="6331783" y="2688862"/>
              <a:ext cx="2" cy="1339372"/>
            </a:xfrm>
            <a:prstGeom prst="straightConnector1">
              <a:avLst/>
            </a:prstGeom>
            <a:ln w="50800">
              <a:headEnd type="triangle" w="med" len="sm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직선 화살표 연결선 17"/>
            <p:cNvCxnSpPr/>
            <p:nvPr/>
          </p:nvCxnSpPr>
          <p:spPr>
            <a:xfrm flipH="1">
              <a:off x="7389919" y="2701897"/>
              <a:ext cx="36" cy="1346872"/>
            </a:xfrm>
            <a:prstGeom prst="straightConnector1">
              <a:avLst/>
            </a:prstGeom>
            <a:ln w="50800">
              <a:headEnd type="triangle" w="med" len="sm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4743713" y="2133033"/>
              <a:ext cx="109835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5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조회 요청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306478" y="2963361"/>
              <a:ext cx="1098356" cy="4154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5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메타 정보와 상태 정보 조합</a:t>
              </a:r>
            </a:p>
          </p:txBody>
        </p:sp>
      </p:grpSp>
      <p:sp>
        <p:nvSpPr>
          <p:cNvPr id="21" name="CICD">
            <a:extLst>
              <a:ext uri="{FF2B5EF4-FFF2-40B4-BE49-F238E27FC236}">
                <a16:creationId xmlns:a16="http://schemas.microsoft.com/office/drawing/2014/main" id="{762B2A58-EB2E-992F-01DA-15C50B338CB6}"/>
              </a:ext>
            </a:extLst>
          </p:cNvPr>
          <p:cNvSpPr/>
          <p:nvPr/>
        </p:nvSpPr>
        <p:spPr>
          <a:xfrm>
            <a:off x="2406650" y="5476377"/>
            <a:ext cx="73787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1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패치 작업의 계획과 현재 패치 진행 상황을 별도의 대조 작업 없이 조회 가능</a:t>
            </a:r>
            <a:endParaRPr lang="en-US" sz="11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4" name="Key Feature">
            <a:extLst>
              <a:ext uri="{FF2B5EF4-FFF2-40B4-BE49-F238E27FC236}">
                <a16:creationId xmlns:a16="http://schemas.microsoft.com/office/drawing/2014/main" id="{047F6C8F-C776-7F0F-DAFE-29B85ACC1B0A}"/>
              </a:ext>
            </a:extLst>
          </p:cNvPr>
          <p:cNvSpPr/>
          <p:nvPr/>
        </p:nvSpPr>
        <p:spPr>
          <a:xfrm>
            <a:off x="444499" y="285750"/>
            <a:ext cx="4112163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333"/>
              </a:lnSpc>
            </a:pPr>
            <a:r>
              <a:rPr lang="ko-KR" altLang="en-US" sz="19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패치 작업 조회</a:t>
            </a:r>
            <a:endParaRPr lang="en-US" altLang="ko-Kore-KR" sz="19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9141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7CCED3B5-6117-6C7E-273C-62C411C3E563}"/>
              </a:ext>
            </a:extLst>
          </p:cNvPr>
          <p:cNvSpPr/>
          <p:nvPr/>
        </p:nvSpPr>
        <p:spPr>
          <a:xfrm>
            <a:off x="1120209" y="2095390"/>
            <a:ext cx="3153259" cy="2100034"/>
          </a:xfrm>
          <a:prstGeom prst="rect">
            <a:avLst/>
          </a:prstGeom>
          <a:solidFill>
            <a:srgbClr val="E8F4FD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" rtlCol="0" anchor="t"/>
          <a:lstStyle/>
          <a:p>
            <a:pPr algn="ctr">
              <a:defRPr sz="900" b="1">
                <a:solidFill>
                  <a:srgbClr val="2D2D2D"/>
                </a:solidFill>
              </a:defRPr>
            </a:pPr>
            <a:r>
              <a:rPr>
                <a:latin typeface="+mn-ea"/>
              </a:rPr>
              <a:t>Web Application</a:t>
            </a:r>
          </a:p>
        </p:txBody>
      </p:sp>
      <p:sp>
        <p:nvSpPr>
          <p:cNvPr id="3" name="Rounded Rectangle 8">
            <a:extLst>
              <a:ext uri="{FF2B5EF4-FFF2-40B4-BE49-F238E27FC236}">
                <a16:creationId xmlns:a16="http://schemas.microsoft.com/office/drawing/2014/main" id="{02F4D657-C665-DD75-8F39-1C645DCA0328}"/>
              </a:ext>
            </a:extLst>
          </p:cNvPr>
          <p:cNvSpPr/>
          <p:nvPr/>
        </p:nvSpPr>
        <p:spPr>
          <a:xfrm>
            <a:off x="2115011" y="1165602"/>
            <a:ext cx="1325880" cy="566928"/>
          </a:xfrm>
          <a:prstGeom prst="roundRect">
            <a:avLst/>
          </a:prstGeom>
          <a:solidFill>
            <a:srgbClr val="08427B"/>
          </a:solidFill>
          <a:ln w="12700">
            <a:solidFill>
              <a:srgbClr val="0842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80" b="1">
                <a:solidFill>
                  <a:srgbClr val="FFFFFF"/>
                </a:solidFill>
              </a:defRPr>
            </a:pPr>
            <a:r>
              <a:rPr dirty="0" err="1">
                <a:latin typeface="+mn-ea"/>
              </a:rPr>
              <a:t>박피엠</a:t>
            </a:r>
            <a:r>
              <a:rPr dirty="0">
                <a:latin typeface="+mn-ea"/>
              </a:rPr>
              <a:t> (PM/PO)</a:t>
            </a:r>
          </a:p>
          <a:p>
            <a:pPr algn="ctr">
              <a:defRPr sz="780" b="0">
                <a:solidFill>
                  <a:srgbClr val="FFFFFF"/>
                </a:solidFill>
              </a:defRPr>
            </a:pPr>
            <a:r>
              <a:rPr dirty="0" err="1">
                <a:latin typeface="+mn-ea"/>
              </a:rPr>
              <a:t>자연어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질의·후속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질문</a:t>
            </a:r>
            <a:endParaRPr dirty="0">
              <a:latin typeface="+mn-ea"/>
            </a:endParaRPr>
          </a:p>
          <a:p>
            <a:pPr algn="ctr">
              <a:defRPr sz="780" b="0">
                <a:solidFill>
                  <a:srgbClr val="FFFFFF"/>
                </a:solidFill>
              </a:defRPr>
            </a:pPr>
            <a:r>
              <a:rPr dirty="0" err="1">
                <a:latin typeface="+mn-ea"/>
              </a:rPr>
              <a:t>답변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평가·큐레이션</a:t>
            </a:r>
            <a:endParaRPr dirty="0">
              <a:latin typeface="+mn-ea"/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F8209DAC-151A-89B1-DE48-1FEAAEABF2B6}"/>
              </a:ext>
            </a:extLst>
          </p:cNvPr>
          <p:cNvSpPr/>
          <p:nvPr/>
        </p:nvSpPr>
        <p:spPr>
          <a:xfrm>
            <a:off x="2115011" y="2566565"/>
            <a:ext cx="1166417" cy="566928"/>
          </a:xfrm>
          <a:prstGeom prst="rect">
            <a:avLst/>
          </a:prstGeom>
          <a:solidFill>
            <a:srgbClr val="438DD5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dirty="0">
                <a:latin typeface="+mn-ea"/>
              </a:rPr>
              <a:t>Conversation Gateway</a:t>
            </a: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dirty="0" err="1">
                <a:latin typeface="+mn-ea"/>
              </a:rPr>
              <a:t>대화</a:t>
            </a:r>
            <a:r>
              <a:rPr dirty="0">
                <a:latin typeface="+mn-ea"/>
              </a:rPr>
              <a:t> UI </a:t>
            </a:r>
            <a:r>
              <a:rPr dirty="0" err="1">
                <a:latin typeface="+mn-ea"/>
              </a:rPr>
              <a:t>진입점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dirty="0" err="1">
                <a:latin typeface="+mn-ea"/>
              </a:rPr>
              <a:t>세션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메시지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중계</a:t>
            </a:r>
            <a:endParaRPr dirty="0">
              <a:latin typeface="+mn-ea"/>
            </a:endParaRP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87584A3E-974D-D31B-CE31-11AF40310C0D}"/>
              </a:ext>
            </a:extLst>
          </p:cNvPr>
          <p:cNvSpPr/>
          <p:nvPr/>
        </p:nvSpPr>
        <p:spPr>
          <a:xfrm>
            <a:off x="3199894" y="3455470"/>
            <a:ext cx="903808" cy="566928"/>
          </a:xfrm>
          <a:prstGeom prst="rect">
            <a:avLst/>
          </a:prstGeom>
          <a:solidFill>
            <a:srgbClr val="438DD5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Auth Gateway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권한 확인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접근 제어</a:t>
            </a:r>
            <a:endParaRPr dirty="0">
              <a:latin typeface="+mn-ea"/>
            </a:endParaRP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9CD5BE9C-2ECC-F3E1-3CA1-6858CBFC975D}"/>
              </a:ext>
            </a:extLst>
          </p:cNvPr>
          <p:cNvSpPr/>
          <p:nvPr/>
        </p:nvSpPr>
        <p:spPr>
          <a:xfrm>
            <a:off x="4432686" y="1486117"/>
            <a:ext cx="1596763" cy="566928"/>
          </a:xfrm>
          <a:prstGeom prst="rect">
            <a:avLst/>
          </a:prstGeom>
          <a:solidFill>
            <a:srgbClr val="438DD5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Feedback Gateway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답변 평가</a:t>
            </a:r>
            <a:r>
              <a:rPr lang="en-US" altLang="ko-KR" dirty="0">
                <a:latin typeface="+mn-ea"/>
              </a:rPr>
              <a:t>·</a:t>
            </a:r>
            <a:r>
              <a:rPr lang="ko-KR" altLang="en-US" dirty="0">
                <a:latin typeface="+mn-ea"/>
              </a:rPr>
              <a:t>자산화 요청 중계</a:t>
            </a:r>
            <a:endParaRPr dirty="0">
              <a:latin typeface="+mn-ea"/>
            </a:endParaRPr>
          </a:p>
        </p:txBody>
      </p:sp>
      <p:cxnSp>
        <p:nvCxnSpPr>
          <p:cNvPr id="7" name="직선 화살표 연결선 10">
            <a:extLst>
              <a:ext uri="{FF2B5EF4-FFF2-40B4-BE49-F238E27FC236}">
                <a16:creationId xmlns:a16="http://schemas.microsoft.com/office/drawing/2014/main" id="{B99E80E7-3FB0-9985-2B3B-8D0D7AA3A16E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rot="16200000" flipH="1">
            <a:off x="3014021" y="2817692"/>
            <a:ext cx="321977" cy="953578"/>
          </a:xfrm>
          <a:prstGeom prst="curvedConnector3">
            <a:avLst>
              <a:gd name="adj1" fmla="val 50000"/>
            </a:avLst>
          </a:prstGeom>
          <a:ln w="3175">
            <a:solidFill>
              <a:schemeClr val="tx1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4">
            <a:extLst>
              <a:ext uri="{FF2B5EF4-FFF2-40B4-BE49-F238E27FC236}">
                <a16:creationId xmlns:a16="http://schemas.microsoft.com/office/drawing/2014/main" id="{5008727C-5419-BD62-5539-926649818CF9}"/>
              </a:ext>
            </a:extLst>
          </p:cNvPr>
          <p:cNvSpPr/>
          <p:nvPr/>
        </p:nvSpPr>
        <p:spPr>
          <a:xfrm>
            <a:off x="4366165" y="1193799"/>
            <a:ext cx="5974033" cy="3001625"/>
          </a:xfrm>
          <a:prstGeom prst="rect">
            <a:avLst/>
          </a:prstGeom>
          <a:solidFill>
            <a:srgbClr val="FFFFFF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" rtlCol="0" anchor="t"/>
          <a:lstStyle/>
          <a:p>
            <a:pPr algn="ctr">
              <a:defRPr sz="900" b="1">
                <a:solidFill>
                  <a:srgbClr val="2D2D2D"/>
                </a:solidFill>
              </a:defRPr>
            </a:pPr>
            <a:r>
              <a:rPr>
                <a:latin typeface="+mn-ea"/>
              </a:rPr>
              <a:t>Interactive Assistant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1FF0CDB3-147F-B04F-581E-CD59B2D7072E}"/>
              </a:ext>
            </a:extLst>
          </p:cNvPr>
          <p:cNvSpPr/>
          <p:nvPr/>
        </p:nvSpPr>
        <p:spPr>
          <a:xfrm>
            <a:off x="6740029" y="1470340"/>
            <a:ext cx="1166417" cy="566928"/>
          </a:xfrm>
          <a:prstGeom prst="rect">
            <a:avLst/>
          </a:prstGeom>
          <a:solidFill>
            <a:srgbClr val="438DD5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Session Manager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세션</a:t>
            </a:r>
            <a:r>
              <a:rPr lang="en-US" altLang="ko-KR" dirty="0">
                <a:latin typeface="+mn-ea"/>
              </a:rPr>
              <a:t>·</a:t>
            </a:r>
            <a:r>
              <a:rPr lang="ko-KR" altLang="en-US" dirty="0">
                <a:latin typeface="+mn-ea"/>
              </a:rPr>
              <a:t>대화 이력 유지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후속 질문 컨텍스트 관리</a:t>
            </a:r>
            <a:endParaRPr dirty="0">
              <a:latin typeface="+mn-ea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C77B56-DBB6-4544-B681-B8E9D9546596}"/>
              </a:ext>
            </a:extLst>
          </p:cNvPr>
          <p:cNvSpPr/>
          <p:nvPr/>
        </p:nvSpPr>
        <p:spPr>
          <a:xfrm>
            <a:off x="8341474" y="1964509"/>
            <a:ext cx="1425244" cy="566928"/>
          </a:xfrm>
          <a:prstGeom prst="rect">
            <a:avLst/>
          </a:prstGeom>
          <a:solidFill>
            <a:srgbClr val="438DD5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Query Router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질의 의도 분류</a:t>
            </a:r>
            <a:r>
              <a:rPr lang="en-US" altLang="ko-KR" dirty="0">
                <a:latin typeface="+mn-ea"/>
              </a:rPr>
              <a:t>·</a:t>
            </a:r>
            <a:r>
              <a:rPr lang="ko-KR" altLang="en-US" dirty="0" err="1">
                <a:latin typeface="+mn-ea"/>
              </a:rPr>
              <a:t>핸들러</a:t>
            </a:r>
            <a:r>
              <a:rPr lang="ko-KR" altLang="en-US" dirty="0">
                <a:latin typeface="+mn-ea"/>
              </a:rPr>
              <a:t> 라우팅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컨텍스트 범위 적용</a:t>
            </a:r>
            <a:endParaRPr dirty="0">
              <a:latin typeface="+mn-ea"/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03C6FC1C-CC66-4201-10A4-E4125343D1AD}"/>
              </a:ext>
            </a:extLst>
          </p:cNvPr>
          <p:cNvSpPr/>
          <p:nvPr/>
        </p:nvSpPr>
        <p:spPr>
          <a:xfrm>
            <a:off x="8341474" y="2891143"/>
            <a:ext cx="1425244" cy="566928"/>
          </a:xfrm>
          <a:prstGeom prst="rect">
            <a:avLst/>
          </a:prstGeom>
          <a:solidFill>
            <a:srgbClr val="438DD5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QA Handler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근거 포함 답변 생성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en-US" altLang="ko-KR" dirty="0">
                <a:latin typeface="+mn-ea"/>
              </a:rPr>
              <a:t>LLM </a:t>
            </a:r>
            <a:r>
              <a:rPr lang="ko-KR" altLang="en-US" dirty="0">
                <a:latin typeface="+mn-ea"/>
              </a:rPr>
              <a:t>호출 근거 정합성 검증</a:t>
            </a:r>
            <a:endParaRPr dirty="0">
              <a:latin typeface="+mn-ea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49F51361-9ED6-8769-1DF8-AB5B0CB33B1C}"/>
              </a:ext>
            </a:extLst>
          </p:cNvPr>
          <p:cNvSpPr/>
          <p:nvPr/>
        </p:nvSpPr>
        <p:spPr>
          <a:xfrm>
            <a:off x="6640558" y="3497264"/>
            <a:ext cx="1425244" cy="566928"/>
          </a:xfrm>
          <a:prstGeom prst="rect">
            <a:avLst/>
          </a:prstGeom>
          <a:solidFill>
            <a:srgbClr val="438DD5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Context Assembler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하이브리드 컨텍스트 조립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근거 후보 수집</a:t>
            </a:r>
            <a:endParaRPr dirty="0">
              <a:latin typeface="+mn-ea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051CDEC0-3EDE-B8BA-D0C1-A56DA388812B}"/>
              </a:ext>
            </a:extLst>
          </p:cNvPr>
          <p:cNvSpPr/>
          <p:nvPr/>
        </p:nvSpPr>
        <p:spPr>
          <a:xfrm>
            <a:off x="4790740" y="3485246"/>
            <a:ext cx="1425244" cy="566928"/>
          </a:xfrm>
          <a:prstGeom prst="rect">
            <a:avLst/>
          </a:prstGeom>
          <a:solidFill>
            <a:srgbClr val="438DD5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Response Renderer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응답 포맷 변환</a:t>
            </a:r>
            <a:r>
              <a:rPr lang="en-US" altLang="ko-KR" dirty="0">
                <a:latin typeface="+mn-ea"/>
              </a:rPr>
              <a:t>,</a:t>
            </a:r>
            <a:r>
              <a:rPr lang="ko-KR" altLang="en-US" dirty="0">
                <a:latin typeface="+mn-ea"/>
              </a:rPr>
              <a:t> 근거 링크 부착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평가 수집</a:t>
            </a:r>
            <a:r>
              <a:rPr lang="en-US" altLang="ko-KR" dirty="0">
                <a:latin typeface="+mn-ea"/>
              </a:rPr>
              <a:t>,</a:t>
            </a:r>
            <a:r>
              <a:rPr lang="ko-KR" altLang="en-US" dirty="0">
                <a:latin typeface="+mn-ea"/>
              </a:rPr>
              <a:t> 자산 적재</a:t>
            </a:r>
            <a:endParaRPr dirty="0">
              <a:latin typeface="+mn-ea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F3E74BF-5BAC-1E82-824D-2D33A6720B05}"/>
              </a:ext>
            </a:extLst>
          </p:cNvPr>
          <p:cNvGrpSpPr/>
          <p:nvPr/>
        </p:nvGrpSpPr>
        <p:grpSpPr>
          <a:xfrm>
            <a:off x="9284958" y="4288569"/>
            <a:ext cx="1783080" cy="1005840"/>
            <a:chOff x="4237345" y="4954856"/>
            <a:chExt cx="1783080" cy="1005840"/>
          </a:xfrm>
        </p:grpSpPr>
        <p:sp>
          <p:nvSpPr>
            <p:cNvPr id="15" name="Rectangle 7">
              <a:extLst>
                <a:ext uri="{FF2B5EF4-FFF2-40B4-BE49-F238E27FC236}">
                  <a16:creationId xmlns:a16="http://schemas.microsoft.com/office/drawing/2014/main" id="{17F203C3-9C9C-74F3-5F52-1815819BD4D8}"/>
                </a:ext>
              </a:extLst>
            </p:cNvPr>
            <p:cNvSpPr/>
            <p:nvPr/>
          </p:nvSpPr>
          <p:spPr>
            <a:xfrm>
              <a:off x="4237345" y="4954856"/>
              <a:ext cx="1783080" cy="10058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6B4C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27432" rtlCol="0" anchor="t"/>
            <a:lstStyle/>
            <a:p>
              <a:pPr algn="ctr">
                <a:defRPr sz="900" b="1">
                  <a:solidFill>
                    <a:srgbClr val="2D2D2D"/>
                  </a:solidFill>
                </a:defRPr>
              </a:pPr>
              <a:r>
                <a:rPr>
                  <a:latin typeface="+mn-ea"/>
                </a:rPr>
                <a:t>External</a:t>
              </a:r>
            </a:p>
          </p:txBody>
        </p:sp>
        <p:sp>
          <p:nvSpPr>
            <p:cNvPr id="16" name="Rectangle 21">
              <a:extLst>
                <a:ext uri="{FF2B5EF4-FFF2-40B4-BE49-F238E27FC236}">
                  <a16:creationId xmlns:a16="http://schemas.microsoft.com/office/drawing/2014/main" id="{06A95DFA-28A9-13BD-A5F2-775529D7BF8F}"/>
                </a:ext>
              </a:extLst>
            </p:cNvPr>
            <p:cNvSpPr/>
            <p:nvPr/>
          </p:nvSpPr>
          <p:spPr>
            <a:xfrm>
              <a:off x="4575673" y="5302328"/>
              <a:ext cx="1097280" cy="530352"/>
            </a:xfrm>
            <a:prstGeom prst="rect">
              <a:avLst/>
            </a:prstGeom>
            <a:solidFill>
              <a:srgbClr val="6B4C9A"/>
            </a:solidFill>
            <a:ln w="12700">
              <a:solidFill>
                <a:srgbClr val="6B4C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18288" rIns="45720" bIns="18288" rtlCol="0" anchor="ctr"/>
            <a:lstStyle/>
            <a:p>
              <a:pPr algn="ctr">
                <a:defRPr sz="710" b="1">
                  <a:solidFill>
                    <a:srgbClr val="FFFFFF"/>
                  </a:solidFill>
                </a:defRPr>
              </a:pPr>
              <a:r>
                <a:rPr>
                  <a:latin typeface="+mn-ea"/>
                </a:rPr>
                <a:t>LLM</a:t>
              </a:r>
            </a:p>
            <a:p>
              <a:pPr algn="ctr">
                <a:defRPr sz="710" b="0">
                  <a:solidFill>
                    <a:srgbClr val="FFFFFF"/>
                  </a:solidFill>
                </a:defRPr>
              </a:pPr>
              <a:r>
                <a:rPr>
                  <a:latin typeface="+mn-ea"/>
                </a:rPr>
                <a:t>외부 시스템</a:t>
              </a:r>
            </a:p>
            <a:p>
              <a:pPr algn="ctr">
                <a:defRPr sz="710" b="0">
                  <a:solidFill>
                    <a:srgbClr val="FFFFFF"/>
                  </a:solidFill>
                </a:defRPr>
              </a:pPr>
              <a:r>
                <a:rPr>
                  <a:latin typeface="+mn-ea"/>
                </a:rPr>
                <a:t>자연어 답변 합성</a:t>
              </a:r>
            </a:p>
          </p:txBody>
        </p:sp>
      </p:grpSp>
      <p:sp>
        <p:nvSpPr>
          <p:cNvPr id="17" name="Rectangle 6">
            <a:extLst>
              <a:ext uri="{FF2B5EF4-FFF2-40B4-BE49-F238E27FC236}">
                <a16:creationId xmlns:a16="http://schemas.microsoft.com/office/drawing/2014/main" id="{52D31143-1E9E-30B1-A737-E055F2D6E6C6}"/>
              </a:ext>
            </a:extLst>
          </p:cNvPr>
          <p:cNvSpPr/>
          <p:nvPr/>
        </p:nvSpPr>
        <p:spPr>
          <a:xfrm>
            <a:off x="3512324" y="4288569"/>
            <a:ext cx="5616388" cy="1941331"/>
          </a:xfrm>
          <a:prstGeom prst="rect">
            <a:avLst/>
          </a:prstGeom>
          <a:solidFill>
            <a:srgbClr val="FFFFFF"/>
          </a:solidFill>
          <a:ln w="12700">
            <a:solidFill>
              <a:srgbClr val="7A9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" rtlCol="0" anchor="t"/>
          <a:lstStyle/>
          <a:p>
            <a:pPr algn="ctr">
              <a:defRPr sz="900" b="1">
                <a:solidFill>
                  <a:srgbClr val="2D2D2D"/>
                </a:solidFill>
              </a:defRPr>
            </a:pPr>
            <a:r>
              <a:rPr>
                <a:latin typeface="+mn-ea"/>
              </a:rPr>
              <a:t>Knowledge Base</a:t>
            </a:r>
          </a:p>
        </p:txBody>
      </p:sp>
      <p:sp>
        <p:nvSpPr>
          <p:cNvPr id="18" name="Can 18">
            <a:extLst>
              <a:ext uri="{FF2B5EF4-FFF2-40B4-BE49-F238E27FC236}">
                <a16:creationId xmlns:a16="http://schemas.microsoft.com/office/drawing/2014/main" id="{4CC94F05-E488-A1B6-29E2-B24125D98E02}"/>
              </a:ext>
            </a:extLst>
          </p:cNvPr>
          <p:cNvSpPr/>
          <p:nvPr/>
        </p:nvSpPr>
        <p:spPr>
          <a:xfrm>
            <a:off x="7478642" y="5540334"/>
            <a:ext cx="1417320" cy="530352"/>
          </a:xfrm>
          <a:prstGeom prst="can">
            <a:avLst/>
          </a:prstGeom>
          <a:solidFill>
            <a:srgbClr val="7A9EC8"/>
          </a:solidFill>
          <a:ln w="12700">
            <a:solidFill>
              <a:srgbClr val="7A9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rPr dirty="0" err="1">
                <a:latin typeface="+mn-ea"/>
              </a:rPr>
              <a:t>구조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지식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그래프</a:t>
            </a:r>
            <a:endParaRPr dirty="0">
              <a:latin typeface="+mn-ea"/>
            </a:endParaRPr>
          </a:p>
          <a:p>
            <a:pPr algn="ctr">
              <a:defRPr sz="800" b="0">
                <a:solidFill>
                  <a:srgbClr val="FFFFFF"/>
                </a:solidFill>
              </a:defRPr>
            </a:pPr>
            <a:r>
              <a:rPr dirty="0" err="1">
                <a:latin typeface="+mn-ea"/>
              </a:rPr>
              <a:t>코드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구조·의존·흐름</a:t>
            </a:r>
            <a:endParaRPr dirty="0">
              <a:latin typeface="+mn-ea"/>
            </a:endParaRPr>
          </a:p>
        </p:txBody>
      </p:sp>
      <p:sp>
        <p:nvSpPr>
          <p:cNvPr id="19" name="Can 19">
            <a:extLst>
              <a:ext uri="{FF2B5EF4-FFF2-40B4-BE49-F238E27FC236}">
                <a16:creationId xmlns:a16="http://schemas.microsoft.com/office/drawing/2014/main" id="{70B053CB-7D5A-BE5F-7874-0F2D086C332D}"/>
              </a:ext>
            </a:extLst>
          </p:cNvPr>
          <p:cNvSpPr/>
          <p:nvPr/>
        </p:nvSpPr>
        <p:spPr>
          <a:xfrm>
            <a:off x="5607896" y="5540334"/>
            <a:ext cx="1691640" cy="530352"/>
          </a:xfrm>
          <a:prstGeom prst="can">
            <a:avLst/>
          </a:prstGeom>
          <a:solidFill>
            <a:srgbClr val="7A9EC8"/>
          </a:solidFill>
          <a:ln w="12700">
            <a:solidFill>
              <a:srgbClr val="7A9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rPr dirty="0" err="1">
                <a:latin typeface="+mn-ea"/>
              </a:rPr>
              <a:t>비즈니스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규칙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카탈로그</a:t>
            </a:r>
            <a:endParaRPr dirty="0">
              <a:latin typeface="+mn-ea"/>
            </a:endParaRPr>
          </a:p>
          <a:p>
            <a:pPr algn="ctr">
              <a:defRPr sz="800" b="0">
                <a:solidFill>
                  <a:srgbClr val="FFFFFF"/>
                </a:solidFill>
              </a:defRPr>
            </a:pPr>
            <a:r>
              <a:rPr dirty="0" err="1">
                <a:latin typeface="+mn-ea"/>
              </a:rPr>
              <a:t>규칙·규칙-코드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링크</a:t>
            </a:r>
            <a:endParaRPr dirty="0">
              <a:latin typeface="+mn-ea"/>
            </a:endParaRPr>
          </a:p>
        </p:txBody>
      </p:sp>
      <p:sp>
        <p:nvSpPr>
          <p:cNvPr id="20" name="Can 20">
            <a:extLst>
              <a:ext uri="{FF2B5EF4-FFF2-40B4-BE49-F238E27FC236}">
                <a16:creationId xmlns:a16="http://schemas.microsoft.com/office/drawing/2014/main" id="{D5CB02BF-A131-DBA4-5AC8-D5D781B9D2F0}"/>
              </a:ext>
            </a:extLst>
          </p:cNvPr>
          <p:cNvSpPr/>
          <p:nvPr/>
        </p:nvSpPr>
        <p:spPr>
          <a:xfrm>
            <a:off x="3691430" y="5540334"/>
            <a:ext cx="1737360" cy="530352"/>
          </a:xfrm>
          <a:prstGeom prst="can">
            <a:avLst/>
          </a:prstGeom>
          <a:solidFill>
            <a:srgbClr val="7A9EC8"/>
          </a:solidFill>
          <a:ln w="12700">
            <a:solidFill>
              <a:srgbClr val="7A9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rPr>
                <a:latin typeface="+mn-ea"/>
              </a:rPr>
              <a:t>답변 지식 베이스</a:t>
            </a:r>
          </a:p>
          <a:p>
            <a:pPr algn="ctr">
              <a:defRPr sz="800" b="0">
                <a:solidFill>
                  <a:srgbClr val="FFFFFF"/>
                </a:solidFill>
              </a:defRPr>
            </a:pPr>
            <a:r>
              <a:rPr>
                <a:latin typeface="+mn-ea"/>
              </a:rPr>
              <a:t>근거 포함 답변 자산·평가</a:t>
            </a:r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3177ACBA-2202-B63E-0F64-AC7DCB2C035F}"/>
              </a:ext>
            </a:extLst>
          </p:cNvPr>
          <p:cNvSpPr/>
          <p:nvPr/>
        </p:nvSpPr>
        <p:spPr>
          <a:xfrm>
            <a:off x="5607896" y="4548298"/>
            <a:ext cx="1425244" cy="566928"/>
          </a:xfrm>
          <a:prstGeom prst="rect">
            <a:avLst/>
          </a:prstGeom>
          <a:solidFill>
            <a:srgbClr val="438DD5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lang="en-US" dirty="0">
                <a:latin typeface="+mn-ea"/>
              </a:rPr>
              <a:t>Knowledge Query Facade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하이브리드 질의 단일 </a:t>
            </a:r>
            <a:r>
              <a:rPr lang="ko-KR" altLang="en-US" dirty="0" err="1">
                <a:latin typeface="+mn-ea"/>
              </a:rPr>
              <a:t>진입점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 err="1">
                <a:latin typeface="+mn-ea"/>
              </a:rPr>
              <a:t>캐싱</a:t>
            </a:r>
            <a:r>
              <a:rPr lang="en-US" altLang="ko-KR" dirty="0">
                <a:latin typeface="+mn-ea"/>
              </a:rPr>
              <a:t>,</a:t>
            </a:r>
            <a:r>
              <a:rPr lang="ko-KR" altLang="en-US" dirty="0">
                <a:latin typeface="+mn-ea"/>
              </a:rPr>
              <a:t> 권한 필터</a:t>
            </a:r>
            <a:endParaRPr dirty="0">
              <a:latin typeface="+mn-ea"/>
            </a:endParaRPr>
          </a:p>
        </p:txBody>
      </p:sp>
      <p:sp>
        <p:nvSpPr>
          <p:cNvPr id="22" name="Rectangle 9">
            <a:extLst>
              <a:ext uri="{FF2B5EF4-FFF2-40B4-BE49-F238E27FC236}">
                <a16:creationId xmlns:a16="http://schemas.microsoft.com/office/drawing/2014/main" id="{C508CC57-A17C-EA79-D2D9-C9E30E780472}"/>
              </a:ext>
            </a:extLst>
          </p:cNvPr>
          <p:cNvSpPr/>
          <p:nvPr/>
        </p:nvSpPr>
        <p:spPr>
          <a:xfrm>
            <a:off x="1289355" y="3455470"/>
            <a:ext cx="1507270" cy="566928"/>
          </a:xfrm>
          <a:prstGeom prst="rect">
            <a:avLst/>
          </a:prstGeom>
          <a:solidFill>
            <a:srgbClr val="438DD5"/>
          </a:solidFill>
          <a:ln w="12700">
            <a:solidFill>
              <a:srgbClr val="438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 lang="en-US" dirty="0" err="1">
                <a:latin typeface="+mn-ea"/>
              </a:rPr>
              <a:t>Feddback</a:t>
            </a:r>
            <a:r>
              <a:rPr lang="en-US" dirty="0">
                <a:latin typeface="+mn-ea"/>
              </a:rPr>
              <a:t> Gateway</a:t>
            </a:r>
            <a:endParaRPr dirty="0">
              <a:latin typeface="+mn-ea"/>
            </a:endParaRP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rPr lang="ko-KR" altLang="en-US" dirty="0">
                <a:latin typeface="+mn-ea"/>
              </a:rPr>
              <a:t>답변 평가 자산화 요청 중계</a:t>
            </a:r>
            <a:endParaRPr dirty="0">
              <a:latin typeface="+mn-ea"/>
            </a:endParaRPr>
          </a:p>
        </p:txBody>
      </p:sp>
      <p:cxnSp>
        <p:nvCxnSpPr>
          <p:cNvPr id="23" name="직선 화살표 연결선 8">
            <a:extLst>
              <a:ext uri="{FF2B5EF4-FFF2-40B4-BE49-F238E27FC236}">
                <a16:creationId xmlns:a16="http://schemas.microsoft.com/office/drawing/2014/main" id="{D5668B19-0889-9D72-FD72-07C713700748}"/>
              </a:ext>
            </a:extLst>
          </p:cNvPr>
          <p:cNvCxnSpPr>
            <a:cxnSpLocks/>
            <a:stCxn id="13" idx="1"/>
            <a:endCxn id="20" idx="1"/>
          </p:cNvCxnSpPr>
          <p:nvPr/>
        </p:nvCxnSpPr>
        <p:spPr>
          <a:xfrm rot="10800000" flipV="1">
            <a:off x="4560110" y="3768710"/>
            <a:ext cx="230630" cy="1771624"/>
          </a:xfrm>
          <a:prstGeom prst="curvedConnector2">
            <a:avLst/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8">
            <a:extLst>
              <a:ext uri="{FF2B5EF4-FFF2-40B4-BE49-F238E27FC236}">
                <a16:creationId xmlns:a16="http://schemas.microsoft.com/office/drawing/2014/main" id="{0057AACE-CED3-F90B-065E-357DA4379B70}"/>
              </a:ext>
            </a:extLst>
          </p:cNvPr>
          <p:cNvCxnSpPr>
            <a:cxnSpLocks/>
            <a:stCxn id="22" idx="2"/>
            <a:endCxn id="13" idx="1"/>
          </p:cNvCxnSpPr>
          <p:nvPr/>
        </p:nvCxnSpPr>
        <p:spPr>
          <a:xfrm rot="5400000" flipH="1" flipV="1">
            <a:off x="3290021" y="2521679"/>
            <a:ext cx="253688" cy="2747750"/>
          </a:xfrm>
          <a:prstGeom prst="curvedConnector4">
            <a:avLst>
              <a:gd name="adj1" fmla="val -90111"/>
              <a:gd name="adj2" fmla="val 88479"/>
            </a:avLst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8">
            <a:extLst>
              <a:ext uri="{FF2B5EF4-FFF2-40B4-BE49-F238E27FC236}">
                <a16:creationId xmlns:a16="http://schemas.microsoft.com/office/drawing/2014/main" id="{391C1A95-6FA2-8E35-9665-D6AE1DF61B29}"/>
              </a:ext>
            </a:extLst>
          </p:cNvPr>
          <p:cNvCxnSpPr>
            <a:cxnSpLocks/>
            <a:stCxn id="3" idx="1"/>
            <a:endCxn id="4" idx="1"/>
          </p:cNvCxnSpPr>
          <p:nvPr/>
        </p:nvCxnSpPr>
        <p:spPr>
          <a:xfrm rot="10800000" flipV="1">
            <a:off x="2115011" y="1449065"/>
            <a:ext cx="12700" cy="1400963"/>
          </a:xfrm>
          <a:prstGeom prst="curvedConnector3">
            <a:avLst>
              <a:gd name="adj1" fmla="val 1800000"/>
            </a:avLst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8">
            <a:extLst>
              <a:ext uri="{FF2B5EF4-FFF2-40B4-BE49-F238E27FC236}">
                <a16:creationId xmlns:a16="http://schemas.microsoft.com/office/drawing/2014/main" id="{3A2E837C-8483-958D-AAED-D752156D34A5}"/>
              </a:ext>
            </a:extLst>
          </p:cNvPr>
          <p:cNvCxnSpPr>
            <a:cxnSpLocks/>
            <a:stCxn id="4" idx="0"/>
            <a:endCxn id="3" idx="3"/>
          </p:cNvCxnSpPr>
          <p:nvPr/>
        </p:nvCxnSpPr>
        <p:spPr>
          <a:xfrm rot="5400000" flipH="1" flipV="1">
            <a:off x="2510806" y="1636481"/>
            <a:ext cx="1117499" cy="742671"/>
          </a:xfrm>
          <a:prstGeom prst="curvedConnector4">
            <a:avLst>
              <a:gd name="adj1" fmla="val 22728"/>
              <a:gd name="adj2" fmla="val 130781"/>
            </a:avLst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8">
            <a:extLst>
              <a:ext uri="{FF2B5EF4-FFF2-40B4-BE49-F238E27FC236}">
                <a16:creationId xmlns:a16="http://schemas.microsoft.com/office/drawing/2014/main" id="{E3FB966C-9B24-9321-6AAC-5E6301AB33C9}"/>
              </a:ext>
            </a:extLst>
          </p:cNvPr>
          <p:cNvCxnSpPr>
            <a:cxnSpLocks/>
            <a:stCxn id="3" idx="1"/>
            <a:endCxn id="22" idx="1"/>
          </p:cNvCxnSpPr>
          <p:nvPr/>
        </p:nvCxnSpPr>
        <p:spPr>
          <a:xfrm rot="10800000" flipV="1">
            <a:off x="1289355" y="1449066"/>
            <a:ext cx="825656" cy="2289868"/>
          </a:xfrm>
          <a:prstGeom prst="curvedConnector3">
            <a:avLst>
              <a:gd name="adj1" fmla="val 127687"/>
            </a:avLst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8">
            <a:extLst>
              <a:ext uri="{FF2B5EF4-FFF2-40B4-BE49-F238E27FC236}">
                <a16:creationId xmlns:a16="http://schemas.microsoft.com/office/drawing/2014/main" id="{BCC49FF2-3500-00B4-40EA-F6637F6D03E8}"/>
              </a:ext>
            </a:extLst>
          </p:cNvPr>
          <p:cNvCxnSpPr>
            <a:cxnSpLocks/>
          </p:cNvCxnSpPr>
          <p:nvPr/>
        </p:nvCxnSpPr>
        <p:spPr>
          <a:xfrm flipV="1">
            <a:off x="3281428" y="1618739"/>
            <a:ext cx="3458601" cy="1096108"/>
          </a:xfrm>
          <a:prstGeom prst="curved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8">
            <a:extLst>
              <a:ext uri="{FF2B5EF4-FFF2-40B4-BE49-F238E27FC236}">
                <a16:creationId xmlns:a16="http://schemas.microsoft.com/office/drawing/2014/main" id="{3B933C4E-91C1-95A2-FE9E-3EB876653358}"/>
              </a:ext>
            </a:extLst>
          </p:cNvPr>
          <p:cNvCxnSpPr>
            <a:cxnSpLocks/>
            <a:stCxn id="9" idx="1"/>
            <a:endCxn id="4" idx="3"/>
          </p:cNvCxnSpPr>
          <p:nvPr/>
        </p:nvCxnSpPr>
        <p:spPr>
          <a:xfrm rot="10800000" flipV="1">
            <a:off x="3281429" y="1753803"/>
            <a:ext cx="3458601" cy="1096225"/>
          </a:xfrm>
          <a:prstGeom prst="curved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8">
            <a:extLst>
              <a:ext uri="{FF2B5EF4-FFF2-40B4-BE49-F238E27FC236}">
                <a16:creationId xmlns:a16="http://schemas.microsoft.com/office/drawing/2014/main" id="{5358E4B4-5260-7C0A-D754-9B3066E097FA}"/>
              </a:ext>
            </a:extLst>
          </p:cNvPr>
          <p:cNvCxnSpPr>
            <a:cxnSpLocks/>
            <a:stCxn id="9" idx="3"/>
            <a:endCxn id="10" idx="0"/>
          </p:cNvCxnSpPr>
          <p:nvPr/>
        </p:nvCxnSpPr>
        <p:spPr>
          <a:xfrm>
            <a:off x="7906446" y="1753804"/>
            <a:ext cx="1147650" cy="210705"/>
          </a:xfrm>
          <a:prstGeom prst="curvedConnector2">
            <a:avLst/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8">
            <a:extLst>
              <a:ext uri="{FF2B5EF4-FFF2-40B4-BE49-F238E27FC236}">
                <a16:creationId xmlns:a16="http://schemas.microsoft.com/office/drawing/2014/main" id="{5E1ED93F-1730-9743-75F5-292759CC18D0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rot="5400000">
            <a:off x="8874243" y="2711290"/>
            <a:ext cx="359706" cy="12700"/>
          </a:xfrm>
          <a:prstGeom prst="curved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8">
            <a:extLst>
              <a:ext uri="{FF2B5EF4-FFF2-40B4-BE49-F238E27FC236}">
                <a16:creationId xmlns:a16="http://schemas.microsoft.com/office/drawing/2014/main" id="{73740EB1-B6F5-F825-F9FD-1B0D35B8915E}"/>
              </a:ext>
            </a:extLst>
          </p:cNvPr>
          <p:cNvCxnSpPr>
            <a:cxnSpLocks/>
            <a:stCxn id="11" idx="3"/>
            <a:endCxn id="16" idx="3"/>
          </p:cNvCxnSpPr>
          <p:nvPr/>
        </p:nvCxnSpPr>
        <p:spPr>
          <a:xfrm>
            <a:off x="9766718" y="3174607"/>
            <a:ext cx="953848" cy="1726610"/>
          </a:xfrm>
          <a:prstGeom prst="curvedConnector3">
            <a:avLst>
              <a:gd name="adj1" fmla="val 123966"/>
            </a:avLst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8">
            <a:extLst>
              <a:ext uri="{FF2B5EF4-FFF2-40B4-BE49-F238E27FC236}">
                <a16:creationId xmlns:a16="http://schemas.microsoft.com/office/drawing/2014/main" id="{17AC8C0D-E62C-7992-8E03-A459776E8AA8}"/>
              </a:ext>
            </a:extLst>
          </p:cNvPr>
          <p:cNvCxnSpPr>
            <a:cxnSpLocks/>
            <a:stCxn id="16" idx="1"/>
            <a:endCxn id="11" idx="2"/>
          </p:cNvCxnSpPr>
          <p:nvPr/>
        </p:nvCxnSpPr>
        <p:spPr>
          <a:xfrm rot="10800000">
            <a:off x="9054096" y="3458071"/>
            <a:ext cx="569190" cy="1443146"/>
          </a:xfrm>
          <a:prstGeom prst="curvedConnector2">
            <a:avLst/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8">
            <a:extLst>
              <a:ext uri="{FF2B5EF4-FFF2-40B4-BE49-F238E27FC236}">
                <a16:creationId xmlns:a16="http://schemas.microsoft.com/office/drawing/2014/main" id="{3200DEEA-596B-BBF8-8F0D-7294FCD5A2AE}"/>
              </a:ext>
            </a:extLst>
          </p:cNvPr>
          <p:cNvCxnSpPr>
            <a:cxnSpLocks/>
            <a:stCxn id="11" idx="1"/>
            <a:endCxn id="12" idx="0"/>
          </p:cNvCxnSpPr>
          <p:nvPr/>
        </p:nvCxnSpPr>
        <p:spPr>
          <a:xfrm rot="10800000" flipV="1">
            <a:off x="7353180" y="3174606"/>
            <a:ext cx="988294" cy="322657"/>
          </a:xfrm>
          <a:prstGeom prst="curvedConnector2">
            <a:avLst/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8">
            <a:extLst>
              <a:ext uri="{FF2B5EF4-FFF2-40B4-BE49-F238E27FC236}">
                <a16:creationId xmlns:a16="http://schemas.microsoft.com/office/drawing/2014/main" id="{471371B8-7127-60D0-D22F-F0EFAB654DF1}"/>
              </a:ext>
            </a:extLst>
          </p:cNvPr>
          <p:cNvCxnSpPr>
            <a:cxnSpLocks/>
            <a:stCxn id="12" idx="3"/>
            <a:endCxn id="11" idx="2"/>
          </p:cNvCxnSpPr>
          <p:nvPr/>
        </p:nvCxnSpPr>
        <p:spPr>
          <a:xfrm flipV="1">
            <a:off x="8065802" y="3458071"/>
            <a:ext cx="988294" cy="322657"/>
          </a:xfrm>
          <a:prstGeom prst="curvedConnector2">
            <a:avLst/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8">
            <a:extLst>
              <a:ext uri="{FF2B5EF4-FFF2-40B4-BE49-F238E27FC236}">
                <a16:creationId xmlns:a16="http://schemas.microsoft.com/office/drawing/2014/main" id="{379F0519-4B9B-60AE-8B06-E2B2F6FF1D75}"/>
              </a:ext>
            </a:extLst>
          </p:cNvPr>
          <p:cNvCxnSpPr>
            <a:cxnSpLocks/>
            <a:stCxn id="11" idx="1"/>
            <a:endCxn id="13" idx="0"/>
          </p:cNvCxnSpPr>
          <p:nvPr/>
        </p:nvCxnSpPr>
        <p:spPr>
          <a:xfrm rot="10800000" flipV="1">
            <a:off x="5503362" y="3174606"/>
            <a:ext cx="2838112" cy="310639"/>
          </a:xfrm>
          <a:prstGeom prst="curvedConnector2">
            <a:avLst/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8">
            <a:extLst>
              <a:ext uri="{FF2B5EF4-FFF2-40B4-BE49-F238E27FC236}">
                <a16:creationId xmlns:a16="http://schemas.microsoft.com/office/drawing/2014/main" id="{FED936BB-CDC9-CD95-15BA-2144522E28FE}"/>
              </a:ext>
            </a:extLst>
          </p:cNvPr>
          <p:cNvCxnSpPr>
            <a:cxnSpLocks/>
            <a:stCxn id="9" idx="1"/>
            <a:endCxn id="13" idx="0"/>
          </p:cNvCxnSpPr>
          <p:nvPr/>
        </p:nvCxnSpPr>
        <p:spPr>
          <a:xfrm rot="10800000" flipV="1">
            <a:off x="5503363" y="1753804"/>
            <a:ext cx="1236667" cy="1731442"/>
          </a:xfrm>
          <a:prstGeom prst="curvedConnector2">
            <a:avLst/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8">
            <a:extLst>
              <a:ext uri="{FF2B5EF4-FFF2-40B4-BE49-F238E27FC236}">
                <a16:creationId xmlns:a16="http://schemas.microsoft.com/office/drawing/2014/main" id="{393B425F-7301-CA85-990C-99E2CE6F8C26}"/>
              </a:ext>
            </a:extLst>
          </p:cNvPr>
          <p:cNvCxnSpPr>
            <a:cxnSpLocks/>
            <a:stCxn id="21" idx="1"/>
            <a:endCxn id="20" idx="1"/>
          </p:cNvCxnSpPr>
          <p:nvPr/>
        </p:nvCxnSpPr>
        <p:spPr>
          <a:xfrm rot="10800000" flipV="1">
            <a:off x="4560110" y="4831762"/>
            <a:ext cx="1047786" cy="708572"/>
          </a:xfrm>
          <a:prstGeom prst="curvedConnector2">
            <a:avLst/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8">
            <a:extLst>
              <a:ext uri="{FF2B5EF4-FFF2-40B4-BE49-F238E27FC236}">
                <a16:creationId xmlns:a16="http://schemas.microsoft.com/office/drawing/2014/main" id="{2D6DF12D-A7D9-05EE-DD31-1455D4510953}"/>
              </a:ext>
            </a:extLst>
          </p:cNvPr>
          <p:cNvCxnSpPr>
            <a:cxnSpLocks/>
            <a:stCxn id="21" idx="2"/>
            <a:endCxn id="19" idx="1"/>
          </p:cNvCxnSpPr>
          <p:nvPr/>
        </p:nvCxnSpPr>
        <p:spPr>
          <a:xfrm rot="16200000" flipH="1">
            <a:off x="6174563" y="5261181"/>
            <a:ext cx="425108" cy="133198"/>
          </a:xfrm>
          <a:prstGeom prst="curved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8">
            <a:extLst>
              <a:ext uri="{FF2B5EF4-FFF2-40B4-BE49-F238E27FC236}">
                <a16:creationId xmlns:a16="http://schemas.microsoft.com/office/drawing/2014/main" id="{3A69B781-BFC2-CF6E-9D44-9711DBB80E77}"/>
              </a:ext>
            </a:extLst>
          </p:cNvPr>
          <p:cNvCxnSpPr>
            <a:cxnSpLocks/>
            <a:stCxn id="21" idx="3"/>
            <a:endCxn id="18" idx="1"/>
          </p:cNvCxnSpPr>
          <p:nvPr/>
        </p:nvCxnSpPr>
        <p:spPr>
          <a:xfrm>
            <a:off x="7033140" y="4831762"/>
            <a:ext cx="1154162" cy="708572"/>
          </a:xfrm>
          <a:prstGeom prst="curvedConnector2">
            <a:avLst/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8">
            <a:extLst>
              <a:ext uri="{FF2B5EF4-FFF2-40B4-BE49-F238E27FC236}">
                <a16:creationId xmlns:a16="http://schemas.microsoft.com/office/drawing/2014/main" id="{0C97422E-D3B9-9CAF-179E-65CBE0308213}"/>
              </a:ext>
            </a:extLst>
          </p:cNvPr>
          <p:cNvCxnSpPr>
            <a:cxnSpLocks/>
            <a:stCxn id="12" idx="3"/>
            <a:endCxn id="21" idx="3"/>
          </p:cNvCxnSpPr>
          <p:nvPr/>
        </p:nvCxnSpPr>
        <p:spPr>
          <a:xfrm flipH="1">
            <a:off x="7033140" y="3780728"/>
            <a:ext cx="1032662" cy="1051034"/>
          </a:xfrm>
          <a:prstGeom prst="curvedConnector3">
            <a:avLst>
              <a:gd name="adj1" fmla="val -22137"/>
            </a:avLst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8">
            <a:extLst>
              <a:ext uri="{FF2B5EF4-FFF2-40B4-BE49-F238E27FC236}">
                <a16:creationId xmlns:a16="http://schemas.microsoft.com/office/drawing/2014/main" id="{585282B2-E187-5210-675B-6E6A022AD8CD}"/>
              </a:ext>
            </a:extLst>
          </p:cNvPr>
          <p:cNvCxnSpPr>
            <a:cxnSpLocks/>
            <a:stCxn id="21" idx="3"/>
            <a:endCxn id="12" idx="2"/>
          </p:cNvCxnSpPr>
          <p:nvPr/>
        </p:nvCxnSpPr>
        <p:spPr>
          <a:xfrm flipV="1">
            <a:off x="7033140" y="4064192"/>
            <a:ext cx="320040" cy="767570"/>
          </a:xfrm>
          <a:prstGeom prst="curvedConnector2">
            <a:avLst/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Key Feature">
            <a:extLst>
              <a:ext uri="{FF2B5EF4-FFF2-40B4-BE49-F238E27FC236}">
                <a16:creationId xmlns:a16="http://schemas.microsoft.com/office/drawing/2014/main" id="{7DA3FC60-128C-74F1-E3E4-9F5D7531AF83}"/>
              </a:ext>
            </a:extLst>
          </p:cNvPr>
          <p:cNvSpPr/>
          <p:nvPr/>
        </p:nvSpPr>
        <p:spPr>
          <a:xfrm>
            <a:off x="444499" y="285750"/>
            <a:ext cx="4112163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333"/>
              </a:lnSpc>
            </a:pPr>
            <a:r>
              <a:rPr lang="ko-KR" altLang="en-US" sz="19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대화형 질의 응답</a:t>
            </a:r>
            <a:endParaRPr lang="en-US" altLang="ko-Kore-KR" sz="19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4876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3625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10518</TotalTime>
  <Words>190</Words>
  <Application>Microsoft Macintosh PowerPoint</Application>
  <PresentationFormat>와이드스크린</PresentationFormat>
  <Paragraphs>57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Pretendard SemiBold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Tmax</dc:creator>
  <cp:lastModifiedBy>배 석현</cp:lastModifiedBy>
  <cp:revision>204</cp:revision>
  <cp:lastPrinted>2026-01-09T08:14:09Z</cp:lastPrinted>
  <dcterms:created xsi:type="dcterms:W3CDTF">2022-09-15T01:21:24Z</dcterms:created>
  <dcterms:modified xsi:type="dcterms:W3CDTF">2026-04-10T07:47:52Z</dcterms:modified>
</cp:coreProperties>
</file>