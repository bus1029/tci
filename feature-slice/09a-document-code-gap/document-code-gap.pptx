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13" r:id="rId2"/>
    <p:sldId id="316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BBF0"/>
    <a:srgbClr val="0F439C"/>
    <a:srgbClr val="899197"/>
    <a:srgbClr val="BBDEF8"/>
    <a:srgbClr val="5CB5FE"/>
    <a:srgbClr val="6D757E"/>
    <a:srgbClr val="1A75D2"/>
    <a:srgbClr val="415B88"/>
    <a:srgbClr val="F8F9FA"/>
    <a:srgbClr val="5157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4432"/>
  </p:normalViewPr>
  <p:slideViewPr>
    <p:cSldViewPr snapToGrid="0">
      <p:cViewPr>
        <p:scale>
          <a:sx n="155" d="100"/>
          <a:sy n="155" d="100"/>
        </p:scale>
        <p:origin x="1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2026. 4. 13.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2026. 4. 13.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2026. 4. 13.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69" r:id="rId3"/>
    <p:sldLayoutId id="2147483670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CD"/>
          <p:cNvSpPr/>
          <p:nvPr/>
        </p:nvSpPr>
        <p:spPr>
          <a:xfrm>
            <a:off x="2406650" y="5462356"/>
            <a:ext cx="73787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3333"/>
              </a:lnSpc>
            </a:pP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CICD"/>
          <p:cNvSpPr/>
          <p:nvPr/>
        </p:nvSpPr>
        <p:spPr>
          <a:xfrm>
            <a:off x="2406650" y="5427865"/>
            <a:ext cx="7378700" cy="885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endParaRPr lang="en-US" altLang="ko-KR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773C09A-468D-E7AE-9696-83405B30E197}"/>
              </a:ext>
            </a:extLst>
          </p:cNvPr>
          <p:cNvGrpSpPr/>
          <p:nvPr/>
        </p:nvGrpSpPr>
        <p:grpSpPr>
          <a:xfrm>
            <a:off x="2680643" y="913922"/>
            <a:ext cx="6830715" cy="4230599"/>
            <a:chOff x="2686508" y="976066"/>
            <a:chExt cx="6830715" cy="4230599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D99BA65-5DAF-7FC6-3F27-EB805F92AC1E}"/>
                </a:ext>
              </a:extLst>
            </p:cNvPr>
            <p:cNvSpPr/>
            <p:nvPr/>
          </p:nvSpPr>
          <p:spPr>
            <a:xfrm>
              <a:off x="2686508" y="976066"/>
              <a:ext cx="6830715" cy="4230599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3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CORE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5F07289-013A-FA33-EBF9-2BC0DFED4F65}"/>
                </a:ext>
              </a:extLst>
            </p:cNvPr>
            <p:cNvSpPr/>
            <p:nvPr/>
          </p:nvSpPr>
          <p:spPr>
            <a:xfrm>
              <a:off x="5308307" y="3587630"/>
              <a:ext cx="3139749" cy="1470580"/>
            </a:xfrm>
            <a:prstGeom prst="rect">
              <a:avLst/>
            </a:prstGeom>
            <a:solidFill>
              <a:schemeClr val="bg2">
                <a:lumMod val="90000"/>
                <a:alpha val="40000"/>
              </a:schemeClr>
            </a:solidFill>
            <a:ln w="12700"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System Meta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5F07289-013A-FA33-EBF9-2BC0DFED4F65}"/>
                </a:ext>
              </a:extLst>
            </p:cNvPr>
            <p:cNvSpPr/>
            <p:nvPr/>
          </p:nvSpPr>
          <p:spPr>
            <a:xfrm>
              <a:off x="5308307" y="1358914"/>
              <a:ext cx="3139749" cy="2086255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 w="12700"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Patch Manager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808C6C3-9339-FB27-D784-3BDF80F90D2D}"/>
                </a:ext>
              </a:extLst>
            </p:cNvPr>
            <p:cNvSpPr/>
            <p:nvPr/>
          </p:nvSpPr>
          <p:spPr>
            <a:xfrm>
              <a:off x="3427082" y="1379126"/>
              <a:ext cx="1331225" cy="2054908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35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Client</a:t>
              </a:r>
              <a:endPara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8A7CCDD-3C0C-5A56-9F28-C6D98BE1145B}"/>
                </a:ext>
              </a:extLst>
            </p:cNvPr>
            <p:cNvSpPr/>
            <p:nvPr/>
          </p:nvSpPr>
          <p:spPr>
            <a:xfrm>
              <a:off x="3602246" y="2230488"/>
              <a:ext cx="992468" cy="471409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40000"/>
              </a:schemeClr>
            </a:solidFill>
            <a:ln>
              <a:solidFill>
                <a:schemeClr val="tx1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Web Console</a:t>
              </a:r>
              <a:endParaRPr lang="ko-KR" altLang="en-US" sz="105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2" name="원통 11">
              <a:extLst>
                <a:ext uri="{FF2B5EF4-FFF2-40B4-BE49-F238E27FC236}">
                  <a16:creationId xmlns:a16="http://schemas.microsoft.com/office/drawing/2014/main" id="{F705EAAC-2F42-A97F-290D-E026A423D1FD}"/>
                </a:ext>
              </a:extLst>
            </p:cNvPr>
            <p:cNvSpPr/>
            <p:nvPr/>
          </p:nvSpPr>
          <p:spPr>
            <a:xfrm>
              <a:off x="6030713" y="4041269"/>
              <a:ext cx="709127" cy="670700"/>
            </a:xfrm>
            <a:prstGeom prst="can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Task Meta</a:t>
              </a:r>
              <a:endParaRPr lang="ko-KR" altLang="en-US" sz="105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5576670" y="2221643"/>
              <a:ext cx="2590027" cy="4714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Task Service</a:t>
              </a:r>
              <a:endParaRPr lang="ko-KR" altLang="en-US" sz="105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4" name="원통 13">
              <a:extLst>
                <a:ext uri="{FF2B5EF4-FFF2-40B4-BE49-F238E27FC236}">
                  <a16:creationId xmlns:a16="http://schemas.microsoft.com/office/drawing/2014/main" id="{F705EAAC-2F42-A97F-290D-E026A423D1FD}"/>
                </a:ext>
              </a:extLst>
            </p:cNvPr>
            <p:cNvSpPr/>
            <p:nvPr/>
          </p:nvSpPr>
          <p:spPr>
            <a:xfrm>
              <a:off x="6995224" y="4048769"/>
              <a:ext cx="709127" cy="674277"/>
            </a:xfrm>
            <a:prstGeom prst="can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Task Status</a:t>
              </a:r>
              <a:endParaRPr lang="ko-KR" altLang="en-US" sz="105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cxnSp>
          <p:nvCxnSpPr>
            <p:cNvPr id="15" name="직선 화살표 연결선 14"/>
            <p:cNvCxnSpPr/>
            <p:nvPr/>
          </p:nvCxnSpPr>
          <p:spPr>
            <a:xfrm>
              <a:off x="4594714" y="2415076"/>
              <a:ext cx="1008627" cy="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직선 화살표 연결선 15"/>
            <p:cNvCxnSpPr/>
            <p:nvPr/>
          </p:nvCxnSpPr>
          <p:spPr>
            <a:xfrm>
              <a:off x="4594714" y="2535404"/>
              <a:ext cx="1008627" cy="0"/>
            </a:xfrm>
            <a:prstGeom prst="straightConnector1">
              <a:avLst/>
            </a:prstGeom>
            <a:ln w="50800"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직선 화살표 연결선 16"/>
            <p:cNvCxnSpPr/>
            <p:nvPr/>
          </p:nvCxnSpPr>
          <p:spPr>
            <a:xfrm flipH="1">
              <a:off x="6331783" y="2688862"/>
              <a:ext cx="2" cy="1339372"/>
            </a:xfrm>
            <a:prstGeom prst="straightConnector1">
              <a:avLst/>
            </a:prstGeom>
            <a:ln w="50800">
              <a:headEnd type="triangle" w="med" len="sm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직선 화살표 연결선 17"/>
            <p:cNvCxnSpPr/>
            <p:nvPr/>
          </p:nvCxnSpPr>
          <p:spPr>
            <a:xfrm flipH="1">
              <a:off x="7389919" y="2701897"/>
              <a:ext cx="36" cy="1346872"/>
            </a:xfrm>
            <a:prstGeom prst="straightConnector1">
              <a:avLst/>
            </a:prstGeom>
            <a:ln w="50800">
              <a:headEnd type="triangle" w="med" len="sm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743713" y="2133033"/>
              <a:ext cx="109835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5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조회 요청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306478" y="2963361"/>
              <a:ext cx="1098356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5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메타 정보와 상태 정보 조합</a:t>
              </a:r>
            </a:p>
          </p:txBody>
        </p:sp>
      </p:grpSp>
      <p:sp>
        <p:nvSpPr>
          <p:cNvPr id="21" name="CICD">
            <a:extLst>
              <a:ext uri="{FF2B5EF4-FFF2-40B4-BE49-F238E27FC236}">
                <a16:creationId xmlns:a16="http://schemas.microsoft.com/office/drawing/2014/main" id="{762B2A58-EB2E-992F-01DA-15C50B338CB6}"/>
              </a:ext>
            </a:extLst>
          </p:cNvPr>
          <p:cNvSpPr/>
          <p:nvPr/>
        </p:nvSpPr>
        <p:spPr>
          <a:xfrm>
            <a:off x="2406650" y="5476377"/>
            <a:ext cx="73787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패치 작업의 계획과 현재 패치 진행 상황을 별도의 대조 작업 없이 조회 가능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4" name="Key Feature">
            <a:extLst>
              <a:ext uri="{FF2B5EF4-FFF2-40B4-BE49-F238E27FC236}">
                <a16:creationId xmlns:a16="http://schemas.microsoft.com/office/drawing/2014/main" id="{047F6C8F-C776-7F0F-DAFE-29B85ACC1B0A}"/>
              </a:ext>
            </a:extLst>
          </p:cNvPr>
          <p:cNvSpPr/>
          <p:nvPr/>
        </p:nvSpPr>
        <p:spPr>
          <a:xfrm>
            <a:off x="444499" y="285750"/>
            <a:ext cx="411216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333"/>
              </a:lnSpc>
            </a:pPr>
            <a:r>
              <a:rPr lang="ko-KR" altLang="en-US" sz="19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패치 작업 조회</a:t>
            </a:r>
            <a:endParaRPr lang="en-US" altLang="ko-Kore-KR" sz="19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9141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B17FDCCC-8C00-BE14-6C30-E4A1A53C7947}"/>
              </a:ext>
            </a:extLst>
          </p:cNvPr>
          <p:cNvSpPr/>
          <p:nvPr/>
        </p:nvSpPr>
        <p:spPr>
          <a:xfrm>
            <a:off x="2290619" y="927741"/>
            <a:ext cx="4532085" cy="1412084"/>
          </a:xfrm>
          <a:prstGeom prst="rect">
            <a:avLst/>
          </a:prstGeom>
          <a:solidFill>
            <a:srgbClr val="FFFFFF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t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rPr lang="en-US" dirty="0">
                <a:latin typeface="+mn-ea"/>
              </a:rPr>
              <a:t>Web Application</a:t>
            </a:r>
            <a:endParaRPr dirty="0">
              <a:latin typeface="+mn-ea"/>
            </a:endParaRPr>
          </a:p>
        </p:txBody>
      </p:sp>
      <p:sp>
        <p:nvSpPr>
          <p:cNvPr id="2" name="Rounded Rectangle 8">
            <a:extLst>
              <a:ext uri="{FF2B5EF4-FFF2-40B4-BE49-F238E27FC236}">
                <a16:creationId xmlns:a16="http://schemas.microsoft.com/office/drawing/2014/main" id="{C98B89C1-8638-4A4C-3479-893FB82FFEF0}"/>
              </a:ext>
            </a:extLst>
          </p:cNvPr>
          <p:cNvSpPr/>
          <p:nvPr/>
        </p:nvSpPr>
        <p:spPr>
          <a:xfrm>
            <a:off x="338442" y="1350319"/>
            <a:ext cx="1325880" cy="566928"/>
          </a:xfrm>
          <a:prstGeom prst="roundRect">
            <a:avLst/>
          </a:prstGeom>
          <a:solidFill>
            <a:srgbClr val="08427B"/>
          </a:solidFill>
          <a:ln w="12700">
            <a:solidFill>
              <a:srgbClr val="0842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PM / PO</a:t>
            </a:r>
            <a:endParaRPr dirty="0">
              <a:latin typeface="+mn-ea"/>
            </a:endParaRPr>
          </a:p>
          <a:p>
            <a:pPr algn="ctr">
              <a:defRPr sz="78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문서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코드 갭 분석 요청</a:t>
            </a:r>
            <a:endParaRPr lang="en-US" altLang="ko-KR" dirty="0">
              <a:latin typeface="+mn-ea"/>
            </a:endParaRPr>
          </a:p>
          <a:p>
            <a:pPr algn="ctr">
              <a:defRPr sz="78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결과 요약 확인</a:t>
            </a:r>
            <a:endParaRPr dirty="0">
              <a:latin typeface="+mn-ea"/>
            </a:endParaRPr>
          </a:p>
        </p:txBody>
      </p:sp>
      <p:sp>
        <p:nvSpPr>
          <p:cNvPr id="3" name="Key Feature">
            <a:extLst>
              <a:ext uri="{FF2B5EF4-FFF2-40B4-BE49-F238E27FC236}">
                <a16:creationId xmlns:a16="http://schemas.microsoft.com/office/drawing/2014/main" id="{1B514831-C999-BE40-20B8-7DB148880AE5}"/>
              </a:ext>
            </a:extLst>
          </p:cNvPr>
          <p:cNvSpPr/>
          <p:nvPr/>
        </p:nvSpPr>
        <p:spPr>
          <a:xfrm>
            <a:off x="444499" y="285750"/>
            <a:ext cx="411216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333"/>
              </a:lnSpc>
            </a:pPr>
            <a:r>
              <a:rPr lang="ko-KR" altLang="en-US" sz="19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문서</a:t>
            </a:r>
            <a:r>
              <a:rPr lang="en-US" altLang="ko-KR" sz="19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</a:t>
            </a:r>
            <a:r>
              <a:rPr lang="ko-KR" altLang="en-US" sz="19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코드 갭 분석</a:t>
            </a:r>
            <a:endParaRPr lang="en-US" altLang="ko-Kore-KR" sz="19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16437320-0CC8-AD67-9D91-4F328DA89A22}"/>
              </a:ext>
            </a:extLst>
          </p:cNvPr>
          <p:cNvSpPr/>
          <p:nvPr/>
        </p:nvSpPr>
        <p:spPr>
          <a:xfrm>
            <a:off x="2500580" y="1350319"/>
            <a:ext cx="1507270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Web Console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갭 분석 요청 입력</a:t>
            </a:r>
            <a:endParaRPr lang="en-US" altLang="ko-KR"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결과 요약 표시</a:t>
            </a:r>
            <a:endParaRPr dirty="0">
              <a:latin typeface="+mn-ea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3701CB0-B34D-1947-D3D0-5AD7F451A319}"/>
              </a:ext>
            </a:extLst>
          </p:cNvPr>
          <p:cNvSpPr/>
          <p:nvPr/>
        </p:nvSpPr>
        <p:spPr>
          <a:xfrm>
            <a:off x="5100089" y="1350319"/>
            <a:ext cx="1507270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Request Gateway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사용자 요청 수신</a:t>
            </a:r>
            <a:endParaRPr lang="en-US" altLang="ko-KR"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Gap Analyzer</a:t>
            </a:r>
            <a:r>
              <a:rPr lang="ko-KR" altLang="en-US" dirty="0">
                <a:latin typeface="+mn-ea"/>
              </a:rPr>
              <a:t>로 전달</a:t>
            </a:r>
            <a:endParaRPr dirty="0">
              <a:latin typeface="+mn-ea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66D2617-04AC-B25A-7DFB-76DDC8FBED75}"/>
              </a:ext>
            </a:extLst>
          </p:cNvPr>
          <p:cNvSpPr/>
          <p:nvPr/>
        </p:nvSpPr>
        <p:spPr>
          <a:xfrm>
            <a:off x="2781566" y="2954309"/>
            <a:ext cx="2668714" cy="1412084"/>
          </a:xfrm>
          <a:prstGeom prst="rect">
            <a:avLst/>
          </a:prstGeom>
          <a:solidFill>
            <a:srgbClr val="FFFFFF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t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rPr lang="en-US" dirty="0">
                <a:latin typeface="+mn-ea"/>
              </a:rPr>
              <a:t>Analysis Engine</a:t>
            </a:r>
            <a:endParaRPr dirty="0">
              <a:latin typeface="+mn-ea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8332D79A-90A9-CAF0-799E-5588CD586488}"/>
              </a:ext>
            </a:extLst>
          </p:cNvPr>
          <p:cNvSpPr/>
          <p:nvPr/>
        </p:nvSpPr>
        <p:spPr>
          <a:xfrm>
            <a:off x="2990571" y="3376886"/>
            <a:ext cx="2244365" cy="773315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Gap Analyzer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스펙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코드 불일치 탐지</a:t>
            </a:r>
            <a:endParaRPr lang="en-US" altLang="ko-KR"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갭 유형 분류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구현 누락 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 의도 불일치 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 부분 구현</a:t>
            </a:r>
            <a:r>
              <a:rPr lang="en-US" altLang="ko-KR" dirty="0">
                <a:latin typeface="+mn-ea"/>
              </a:rPr>
              <a:t>)</a:t>
            </a:r>
            <a:endParaRPr dirty="0">
              <a:latin typeface="+mn-ea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52C8FA4D-17EB-3977-63ED-4E2EEDFE8821}"/>
              </a:ext>
            </a:extLst>
          </p:cNvPr>
          <p:cNvSpPr/>
          <p:nvPr/>
        </p:nvSpPr>
        <p:spPr>
          <a:xfrm>
            <a:off x="7065526" y="2745050"/>
            <a:ext cx="4820893" cy="2036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t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rPr lang="en-US" dirty="0">
                <a:latin typeface="+mn-ea"/>
              </a:rPr>
              <a:t>Knowledge Base</a:t>
            </a:r>
            <a:endParaRPr dirty="0">
              <a:latin typeface="+mn-ea"/>
            </a:endParaRPr>
          </a:p>
        </p:txBody>
      </p:sp>
      <p:sp>
        <p:nvSpPr>
          <p:cNvPr id="11" name="Can 18">
            <a:extLst>
              <a:ext uri="{FF2B5EF4-FFF2-40B4-BE49-F238E27FC236}">
                <a16:creationId xmlns:a16="http://schemas.microsoft.com/office/drawing/2014/main" id="{47254D00-8155-2A9A-2EDD-56F85213231A}"/>
              </a:ext>
            </a:extLst>
          </p:cNvPr>
          <p:cNvSpPr/>
          <p:nvPr/>
        </p:nvSpPr>
        <p:spPr>
          <a:xfrm>
            <a:off x="10248478" y="3060256"/>
            <a:ext cx="1499294" cy="617883"/>
          </a:xfrm>
          <a:prstGeom prst="can">
            <a:avLst/>
          </a:prstGeom>
          <a:solidFill>
            <a:srgbClr val="7A9EC8"/>
          </a:solidFill>
          <a:ln w="12700">
            <a:solidFill>
              <a:srgbClr val="7A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구조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지식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그래프</a:t>
            </a:r>
            <a:endParaRPr dirty="0">
              <a:latin typeface="+mn-ea"/>
            </a:endParaRP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문서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코드 추적 관계</a:t>
            </a:r>
            <a:endParaRPr lang="en-US" altLang="ko-KR" dirty="0">
              <a:latin typeface="+mn-ea"/>
            </a:endParaRP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갭 분석 결과 적재 대상</a:t>
            </a:r>
            <a:endParaRPr dirty="0">
              <a:latin typeface="+mn-ea"/>
            </a:endParaRPr>
          </a:p>
        </p:txBody>
      </p:sp>
      <p:sp>
        <p:nvSpPr>
          <p:cNvPr id="12" name="Can 19">
            <a:extLst>
              <a:ext uri="{FF2B5EF4-FFF2-40B4-BE49-F238E27FC236}">
                <a16:creationId xmlns:a16="http://schemas.microsoft.com/office/drawing/2014/main" id="{91BBA072-2808-C6FB-B77D-DD8DAB04B5DF}"/>
              </a:ext>
            </a:extLst>
          </p:cNvPr>
          <p:cNvSpPr/>
          <p:nvPr/>
        </p:nvSpPr>
        <p:spPr>
          <a:xfrm>
            <a:off x="10248477" y="3851706"/>
            <a:ext cx="1499295" cy="617882"/>
          </a:xfrm>
          <a:prstGeom prst="can">
            <a:avLst/>
          </a:prstGeom>
          <a:solidFill>
            <a:srgbClr val="7A9EC8"/>
          </a:solidFill>
          <a:ln w="12700">
            <a:solidFill>
              <a:srgbClr val="7A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비즈니스 규칙 카탈로그</a:t>
            </a:r>
            <a:endParaRPr dirty="0">
              <a:latin typeface="+mn-ea"/>
            </a:endParaRP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비즈니스 규칙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규칙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코드 링크</a:t>
            </a:r>
            <a:endParaRPr dirty="0">
              <a:latin typeface="+mn-ea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01112643-98D1-FEBA-430D-5B941034F6A7}"/>
              </a:ext>
            </a:extLst>
          </p:cNvPr>
          <p:cNvSpPr/>
          <p:nvPr/>
        </p:nvSpPr>
        <p:spPr>
          <a:xfrm>
            <a:off x="7223662" y="3369197"/>
            <a:ext cx="1769748" cy="791967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Knowledge Graph Facade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추적 그래프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비즈니스 규칙 카탈로그 조회 </a:t>
            </a:r>
            <a:endParaRPr lang="en-US" altLang="ko-KR"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갭 분석 결과 적재 통합 </a:t>
            </a:r>
            <a:r>
              <a:rPr lang="ko-KR" altLang="en-US" dirty="0" err="1">
                <a:latin typeface="+mn-ea"/>
              </a:rPr>
              <a:t>진입점</a:t>
            </a:r>
            <a:endParaRPr dirty="0">
              <a:latin typeface="+mn-ea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C3053BF4-2D53-3A24-EEFB-F3947D40DFEF}"/>
              </a:ext>
            </a:extLst>
          </p:cNvPr>
          <p:cNvSpPr/>
          <p:nvPr/>
        </p:nvSpPr>
        <p:spPr>
          <a:xfrm>
            <a:off x="3231227" y="4845113"/>
            <a:ext cx="1740632" cy="1213030"/>
          </a:xfrm>
          <a:prstGeom prst="rect">
            <a:avLst/>
          </a:prstGeom>
          <a:solidFill>
            <a:srgbClr val="FFFFFF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t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rPr lang="en-US" dirty="0">
                <a:latin typeface="+mn-ea"/>
              </a:rPr>
              <a:t>Workflow &amp; Integration</a:t>
            </a:r>
            <a:endParaRPr dirty="0">
              <a:latin typeface="+mn-ea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9508A606-DFA6-81FC-8BCC-F9B04F00DAAE}"/>
              </a:ext>
            </a:extLst>
          </p:cNvPr>
          <p:cNvSpPr/>
          <p:nvPr/>
        </p:nvSpPr>
        <p:spPr>
          <a:xfrm>
            <a:off x="3422315" y="5155171"/>
            <a:ext cx="1344442" cy="791967"/>
          </a:xfrm>
          <a:prstGeom prst="rect">
            <a:avLst/>
          </a:prstGeom>
          <a:solidFill>
            <a:srgbClr val="85BBF0"/>
          </a:solidFill>
          <a:ln w="12700">
            <a:solidFill>
              <a:srgbClr val="85B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Report Formatter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갭 유형별 </a:t>
            </a:r>
            <a:r>
              <a:rPr lang="ko-KR" altLang="en-US" dirty="0" err="1">
                <a:latin typeface="+mn-ea"/>
              </a:rPr>
              <a:t>포맷팅</a:t>
            </a:r>
            <a:endParaRPr lang="en-US" altLang="ko-KR"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코드 위치 링크 구성</a:t>
            </a:r>
            <a:endParaRPr dirty="0">
              <a:latin typeface="+mn-ea"/>
            </a:endParaRPr>
          </a:p>
        </p:txBody>
      </p:sp>
      <p:cxnSp>
        <p:nvCxnSpPr>
          <p:cNvPr id="17" name="직선 화살표 연결선 8">
            <a:extLst>
              <a:ext uri="{FF2B5EF4-FFF2-40B4-BE49-F238E27FC236}">
                <a16:creationId xmlns:a16="http://schemas.microsoft.com/office/drawing/2014/main" id="{633E0A3A-4082-4BA6-59C1-33C1188F2F0B}"/>
              </a:ext>
            </a:extLst>
          </p:cNvPr>
          <p:cNvCxnSpPr>
            <a:cxnSpLocks/>
          </p:cNvCxnSpPr>
          <p:nvPr/>
        </p:nvCxnSpPr>
        <p:spPr>
          <a:xfrm>
            <a:off x="1664322" y="1485502"/>
            <a:ext cx="836258" cy="0"/>
          </a:xfrm>
          <a:prstGeom prst="straightConnector1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8">
            <a:extLst>
              <a:ext uri="{FF2B5EF4-FFF2-40B4-BE49-F238E27FC236}">
                <a16:creationId xmlns:a16="http://schemas.microsoft.com/office/drawing/2014/main" id="{46DCF740-668E-FEE3-2522-759F7A526C7B}"/>
              </a:ext>
            </a:extLst>
          </p:cNvPr>
          <p:cNvCxnSpPr>
            <a:cxnSpLocks/>
          </p:cNvCxnSpPr>
          <p:nvPr/>
        </p:nvCxnSpPr>
        <p:spPr>
          <a:xfrm flipH="1">
            <a:off x="1664322" y="1769935"/>
            <a:ext cx="836258" cy="0"/>
          </a:xfrm>
          <a:prstGeom prst="straightConnector1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72173CC-9A71-71A7-6DE7-BAE6C36AF128}"/>
              </a:ext>
            </a:extLst>
          </p:cNvPr>
          <p:cNvSpPr txBox="1"/>
          <p:nvPr/>
        </p:nvSpPr>
        <p:spPr>
          <a:xfrm>
            <a:off x="1664322" y="1270058"/>
            <a:ext cx="836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갭 분석 요청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08A85B-9BEB-5C8C-0AC2-A6A7A0ADA4F6}"/>
              </a:ext>
            </a:extLst>
          </p:cNvPr>
          <p:cNvSpPr txBox="1"/>
          <p:nvPr/>
        </p:nvSpPr>
        <p:spPr>
          <a:xfrm>
            <a:off x="1606923" y="1776960"/>
            <a:ext cx="947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갭 유형별 </a:t>
            </a:r>
            <a:endParaRPr kumimoji="1" lang="en-US" altLang="ko-KR" sz="800" dirty="0"/>
          </a:p>
          <a:p>
            <a:pPr algn="ctr"/>
            <a:r>
              <a:rPr kumimoji="1" lang="ko-KR" altLang="en-US" sz="800" dirty="0"/>
              <a:t>결과 요약 표시</a:t>
            </a:r>
          </a:p>
        </p:txBody>
      </p:sp>
      <p:cxnSp>
        <p:nvCxnSpPr>
          <p:cNvPr id="27" name="직선 화살표 연결선 8">
            <a:extLst>
              <a:ext uri="{FF2B5EF4-FFF2-40B4-BE49-F238E27FC236}">
                <a16:creationId xmlns:a16="http://schemas.microsoft.com/office/drawing/2014/main" id="{E8FDFFBB-FFE2-02EA-CCC7-365AC3E7EFF8}"/>
              </a:ext>
            </a:extLst>
          </p:cNvPr>
          <p:cNvCxnSpPr>
            <a:cxnSpLocks/>
          </p:cNvCxnSpPr>
          <p:nvPr/>
        </p:nvCxnSpPr>
        <p:spPr>
          <a:xfrm>
            <a:off x="4007850" y="1485502"/>
            <a:ext cx="1092239" cy="0"/>
          </a:xfrm>
          <a:prstGeom prst="straightConnector1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8">
            <a:extLst>
              <a:ext uri="{FF2B5EF4-FFF2-40B4-BE49-F238E27FC236}">
                <a16:creationId xmlns:a16="http://schemas.microsoft.com/office/drawing/2014/main" id="{9C05D33B-17C4-DAA2-9CDF-FB318CAF4F6B}"/>
              </a:ext>
            </a:extLst>
          </p:cNvPr>
          <p:cNvCxnSpPr>
            <a:cxnSpLocks/>
          </p:cNvCxnSpPr>
          <p:nvPr/>
        </p:nvCxnSpPr>
        <p:spPr>
          <a:xfrm flipH="1">
            <a:off x="4007372" y="1765589"/>
            <a:ext cx="1092239" cy="0"/>
          </a:xfrm>
          <a:prstGeom prst="straightConnector1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A8A3AEA-2967-6D7E-61B5-5B4A0A169832}"/>
              </a:ext>
            </a:extLst>
          </p:cNvPr>
          <p:cNvSpPr txBox="1"/>
          <p:nvPr/>
        </p:nvSpPr>
        <p:spPr>
          <a:xfrm>
            <a:off x="4135601" y="1158040"/>
            <a:ext cx="836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갭 분석 실행 요청 전달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ABE7A2-F9E0-F4FE-5E6D-7677AA05059F}"/>
              </a:ext>
            </a:extLst>
          </p:cNvPr>
          <p:cNvSpPr txBox="1"/>
          <p:nvPr/>
        </p:nvSpPr>
        <p:spPr>
          <a:xfrm>
            <a:off x="4135601" y="1754478"/>
            <a:ext cx="836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갭 유형별</a:t>
            </a:r>
            <a:endParaRPr kumimoji="1" lang="en-US" altLang="ko-KR" sz="800" dirty="0"/>
          </a:p>
          <a:p>
            <a:pPr algn="ctr"/>
            <a:r>
              <a:rPr kumimoji="1" lang="ko-KR" altLang="en-US" sz="800" dirty="0"/>
              <a:t> 결과 요약</a:t>
            </a:r>
          </a:p>
        </p:txBody>
      </p:sp>
      <p:cxnSp>
        <p:nvCxnSpPr>
          <p:cNvPr id="39" name="직선 화살표 연결선 8">
            <a:extLst>
              <a:ext uri="{FF2B5EF4-FFF2-40B4-BE49-F238E27FC236}">
                <a16:creationId xmlns:a16="http://schemas.microsoft.com/office/drawing/2014/main" id="{7993E395-76D5-8AE5-9E3B-70BA4301EA68}"/>
              </a:ext>
            </a:extLst>
          </p:cNvPr>
          <p:cNvCxnSpPr>
            <a:cxnSpLocks/>
            <a:stCxn id="8" idx="1"/>
            <a:endCxn id="6" idx="2"/>
          </p:cNvCxnSpPr>
          <p:nvPr/>
        </p:nvCxnSpPr>
        <p:spPr>
          <a:xfrm rot="10800000" flipH="1">
            <a:off x="2990570" y="1917248"/>
            <a:ext cx="2863153" cy="1846297"/>
          </a:xfrm>
          <a:prstGeom prst="bentConnector4">
            <a:avLst>
              <a:gd name="adj1" fmla="val -16040"/>
              <a:gd name="adj2" fmla="val 60471"/>
            </a:avLst>
          </a:prstGeom>
          <a:ln w="3175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66FA038-A5A6-47F6-F9B5-C0CA6F9D616B}"/>
              </a:ext>
            </a:extLst>
          </p:cNvPr>
          <p:cNvSpPr txBox="1"/>
          <p:nvPr/>
        </p:nvSpPr>
        <p:spPr>
          <a:xfrm>
            <a:off x="3382066" y="2431623"/>
            <a:ext cx="18528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갭 분석 실행 요청 </a:t>
            </a:r>
            <a:r>
              <a:rPr kumimoji="1" lang="en-US" altLang="ko-KR" sz="800" dirty="0"/>
              <a:t>/</a:t>
            </a:r>
            <a:r>
              <a:rPr kumimoji="1" lang="ko-KR" altLang="en-US" sz="800" dirty="0"/>
              <a:t> 결과 요약 반환</a:t>
            </a:r>
          </a:p>
        </p:txBody>
      </p:sp>
      <p:cxnSp>
        <p:nvCxnSpPr>
          <p:cNvPr id="54" name="직선 화살표 연결선 8">
            <a:extLst>
              <a:ext uri="{FF2B5EF4-FFF2-40B4-BE49-F238E27FC236}">
                <a16:creationId xmlns:a16="http://schemas.microsoft.com/office/drawing/2014/main" id="{3A9CEAE9-01DC-C66B-06A6-CB8B7F9C4669}"/>
              </a:ext>
            </a:extLst>
          </p:cNvPr>
          <p:cNvCxnSpPr>
            <a:cxnSpLocks/>
          </p:cNvCxnSpPr>
          <p:nvPr/>
        </p:nvCxnSpPr>
        <p:spPr>
          <a:xfrm flipV="1">
            <a:off x="5234936" y="3607142"/>
            <a:ext cx="1987861" cy="0"/>
          </a:xfrm>
          <a:prstGeom prst="straightConnector1">
            <a:avLst/>
          </a:prstGeom>
          <a:ln w="3175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F32BEAD2-671B-B729-0A96-4EDCBC03534E}"/>
              </a:ext>
            </a:extLst>
          </p:cNvPr>
          <p:cNvSpPr txBox="1"/>
          <p:nvPr/>
        </p:nvSpPr>
        <p:spPr>
          <a:xfrm>
            <a:off x="5451145" y="3147470"/>
            <a:ext cx="1548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추적 그래프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 </a:t>
            </a:r>
            <a:endParaRPr kumimoji="1" lang="en-US" altLang="ko-KR" sz="800" dirty="0"/>
          </a:p>
          <a:p>
            <a:pPr algn="ctr"/>
            <a:r>
              <a:rPr kumimoji="1" lang="ko-KR" altLang="en-US" sz="800" dirty="0"/>
              <a:t>비즈니스 규칙 카탈로그 조회 </a:t>
            </a:r>
            <a:r>
              <a:rPr kumimoji="1" lang="en-US" altLang="ko-KR" sz="800" dirty="0"/>
              <a:t>/</a:t>
            </a:r>
            <a:r>
              <a:rPr kumimoji="1" lang="ko-KR" altLang="en-US" sz="800" dirty="0"/>
              <a:t> 조회 결과 반환</a:t>
            </a:r>
          </a:p>
        </p:txBody>
      </p:sp>
      <p:cxnSp>
        <p:nvCxnSpPr>
          <p:cNvPr id="71" name="직선 화살표 연결선 8">
            <a:extLst>
              <a:ext uri="{FF2B5EF4-FFF2-40B4-BE49-F238E27FC236}">
                <a16:creationId xmlns:a16="http://schemas.microsoft.com/office/drawing/2014/main" id="{FC29DD99-5DCF-6F51-A55C-57940A5C1A7F}"/>
              </a:ext>
            </a:extLst>
          </p:cNvPr>
          <p:cNvCxnSpPr>
            <a:cxnSpLocks/>
          </p:cNvCxnSpPr>
          <p:nvPr/>
        </p:nvCxnSpPr>
        <p:spPr>
          <a:xfrm flipV="1">
            <a:off x="5234936" y="3941501"/>
            <a:ext cx="1987861" cy="0"/>
          </a:xfrm>
          <a:prstGeom prst="straightConnector1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84EB17C1-17EB-7C97-5EBD-EBD7AB66A410}"/>
              </a:ext>
            </a:extLst>
          </p:cNvPr>
          <p:cNvSpPr txBox="1"/>
          <p:nvPr/>
        </p:nvSpPr>
        <p:spPr>
          <a:xfrm>
            <a:off x="5698876" y="3950855"/>
            <a:ext cx="10526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갭 분석 결과 적재</a:t>
            </a:r>
          </a:p>
        </p:txBody>
      </p:sp>
      <p:cxnSp>
        <p:nvCxnSpPr>
          <p:cNvPr id="83" name="직선 화살표 연결선 8">
            <a:extLst>
              <a:ext uri="{FF2B5EF4-FFF2-40B4-BE49-F238E27FC236}">
                <a16:creationId xmlns:a16="http://schemas.microsoft.com/office/drawing/2014/main" id="{A26418A5-1418-AC86-E216-083325D43C56}"/>
              </a:ext>
            </a:extLst>
          </p:cNvPr>
          <p:cNvCxnSpPr>
            <a:cxnSpLocks/>
            <a:stCxn id="13" idx="0"/>
          </p:cNvCxnSpPr>
          <p:nvPr/>
        </p:nvCxnSpPr>
        <p:spPr>
          <a:xfrm rot="5400000" flipH="1" flipV="1">
            <a:off x="9107945" y="2228666"/>
            <a:ext cx="141122" cy="2139941"/>
          </a:xfrm>
          <a:prstGeom prst="bentConnector2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">
            <a:extLst>
              <a:ext uri="{FF2B5EF4-FFF2-40B4-BE49-F238E27FC236}">
                <a16:creationId xmlns:a16="http://schemas.microsoft.com/office/drawing/2014/main" id="{2545702B-6B56-5DD5-22A5-F24A3B064A05}"/>
              </a:ext>
            </a:extLst>
          </p:cNvPr>
          <p:cNvCxnSpPr>
            <a:cxnSpLocks/>
            <a:stCxn id="13" idx="2"/>
          </p:cNvCxnSpPr>
          <p:nvPr/>
        </p:nvCxnSpPr>
        <p:spPr>
          <a:xfrm rot="16200000" flipH="1">
            <a:off x="9107945" y="3161754"/>
            <a:ext cx="141122" cy="2139941"/>
          </a:xfrm>
          <a:prstGeom prst="bentConnector2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8172ECAA-8732-7C72-321E-42ADC8D0F95F}"/>
              </a:ext>
            </a:extLst>
          </p:cNvPr>
          <p:cNvSpPr txBox="1"/>
          <p:nvPr/>
        </p:nvSpPr>
        <p:spPr>
          <a:xfrm>
            <a:off x="8483042" y="4320058"/>
            <a:ext cx="1176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비즈니스 규칙 </a:t>
            </a:r>
            <a:endParaRPr kumimoji="1" lang="en-US" altLang="ko-KR" sz="800" dirty="0"/>
          </a:p>
          <a:p>
            <a:pPr algn="ctr"/>
            <a:r>
              <a:rPr kumimoji="1" lang="ko-KR" altLang="en-US" sz="800" dirty="0"/>
              <a:t>카탈로그 읽기</a:t>
            </a:r>
          </a:p>
        </p:txBody>
      </p:sp>
      <p:cxnSp>
        <p:nvCxnSpPr>
          <p:cNvPr id="96" name="직선 화살표 연결선 8">
            <a:extLst>
              <a:ext uri="{FF2B5EF4-FFF2-40B4-BE49-F238E27FC236}">
                <a16:creationId xmlns:a16="http://schemas.microsoft.com/office/drawing/2014/main" id="{F421DCFD-91BB-7967-DD12-D4A5C6AF760A}"/>
              </a:ext>
            </a:extLst>
          </p:cNvPr>
          <p:cNvCxnSpPr>
            <a:cxnSpLocks/>
          </p:cNvCxnSpPr>
          <p:nvPr/>
        </p:nvCxnSpPr>
        <p:spPr>
          <a:xfrm>
            <a:off x="8993410" y="3537017"/>
            <a:ext cx="1255067" cy="0"/>
          </a:xfrm>
          <a:prstGeom prst="straightConnector1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4752F8DC-0833-F719-42E2-A9DEE89A0EF6}"/>
              </a:ext>
            </a:extLst>
          </p:cNvPr>
          <p:cNvSpPr txBox="1"/>
          <p:nvPr/>
        </p:nvSpPr>
        <p:spPr>
          <a:xfrm>
            <a:off x="8444502" y="3012630"/>
            <a:ext cx="1176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추적 그래프 읽기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EF76146-370C-3826-7ABB-45B8477C3EA7}"/>
              </a:ext>
            </a:extLst>
          </p:cNvPr>
          <p:cNvSpPr txBox="1"/>
          <p:nvPr/>
        </p:nvSpPr>
        <p:spPr>
          <a:xfrm>
            <a:off x="9144294" y="3323191"/>
            <a:ext cx="852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갭 결과 저장</a:t>
            </a:r>
          </a:p>
        </p:txBody>
      </p:sp>
      <p:cxnSp>
        <p:nvCxnSpPr>
          <p:cNvPr id="103" name="직선 화살표 연결선 8">
            <a:extLst>
              <a:ext uri="{FF2B5EF4-FFF2-40B4-BE49-F238E27FC236}">
                <a16:creationId xmlns:a16="http://schemas.microsoft.com/office/drawing/2014/main" id="{C04F3A26-9A6A-EDF8-9714-42B988420FB1}"/>
              </a:ext>
            </a:extLst>
          </p:cNvPr>
          <p:cNvCxnSpPr>
            <a:cxnSpLocks/>
            <a:endCxn id="16" idx="1"/>
          </p:cNvCxnSpPr>
          <p:nvPr/>
        </p:nvCxnSpPr>
        <p:spPr>
          <a:xfrm rot="5400000">
            <a:off x="2824869" y="4747647"/>
            <a:ext cx="1400954" cy="206062"/>
          </a:xfrm>
          <a:prstGeom prst="bentConnector4">
            <a:avLst>
              <a:gd name="adj1" fmla="val 35867"/>
              <a:gd name="adj2" fmla="val 314878"/>
            </a:avLst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8">
            <a:extLst>
              <a:ext uri="{FF2B5EF4-FFF2-40B4-BE49-F238E27FC236}">
                <a16:creationId xmlns:a16="http://schemas.microsoft.com/office/drawing/2014/main" id="{1A4E04A9-75AD-758C-D0FB-A5576861D2CB}"/>
              </a:ext>
            </a:extLst>
          </p:cNvPr>
          <p:cNvCxnSpPr>
            <a:cxnSpLocks/>
            <a:stCxn id="16" idx="3"/>
          </p:cNvCxnSpPr>
          <p:nvPr/>
        </p:nvCxnSpPr>
        <p:spPr>
          <a:xfrm flipH="1" flipV="1">
            <a:off x="4524879" y="4150201"/>
            <a:ext cx="241878" cy="1400954"/>
          </a:xfrm>
          <a:prstGeom prst="bentConnector4">
            <a:avLst>
              <a:gd name="adj1" fmla="val -172843"/>
              <a:gd name="adj2" fmla="val 64133"/>
            </a:avLst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E9953242-B1A3-1950-B167-5EF1BC7B92A2}"/>
              </a:ext>
            </a:extLst>
          </p:cNvPr>
          <p:cNvSpPr txBox="1"/>
          <p:nvPr/>
        </p:nvSpPr>
        <p:spPr>
          <a:xfrm>
            <a:off x="1838049" y="4915674"/>
            <a:ext cx="1204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갭 분류 결과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리포트 구성 요청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83F3147-4698-08F2-8BEA-FD2578422020}"/>
              </a:ext>
            </a:extLst>
          </p:cNvPr>
          <p:cNvSpPr txBox="1"/>
          <p:nvPr/>
        </p:nvSpPr>
        <p:spPr>
          <a:xfrm>
            <a:off x="5106236" y="4944301"/>
            <a:ext cx="12049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갭 리포트 초안 반환</a:t>
            </a:r>
          </a:p>
        </p:txBody>
      </p:sp>
    </p:spTree>
    <p:extLst>
      <p:ext uri="{BB962C8B-B14F-4D97-AF65-F5344CB8AC3E}">
        <p14:creationId xmlns:p14="http://schemas.microsoft.com/office/powerpoint/2010/main" val="3390385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10696</TotalTime>
  <Words>211</Words>
  <Application>Microsoft Macintosh PowerPoint</Application>
  <PresentationFormat>와이드스크린</PresentationFormat>
  <Paragraphs>56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Pretendard SemiBold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배 석현</cp:lastModifiedBy>
  <cp:revision>291</cp:revision>
  <cp:lastPrinted>2026-01-09T08:14:09Z</cp:lastPrinted>
  <dcterms:created xsi:type="dcterms:W3CDTF">2022-09-15T01:21:24Z</dcterms:created>
  <dcterms:modified xsi:type="dcterms:W3CDTF">2026-04-13T07:07:15Z</dcterms:modified>
</cp:coreProperties>
</file>