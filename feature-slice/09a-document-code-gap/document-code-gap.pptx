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31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BBF0"/>
    <a:srgbClr val="0F439C"/>
    <a:srgbClr val="899197"/>
    <a:srgbClr val="BBDEF8"/>
    <a:srgbClr val="5CB5FE"/>
    <a:srgbClr val="6D757E"/>
    <a:srgbClr val="1A75D2"/>
    <a:srgbClr val="415B88"/>
    <a:srgbClr val="F8F9FA"/>
    <a:srgbClr val="5157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83" autoAdjust="0"/>
    <p:restoredTop sz="94432"/>
  </p:normalViewPr>
  <p:slideViewPr>
    <p:cSldViewPr snapToGrid="0">
      <p:cViewPr varScale="1">
        <p:scale>
          <a:sx n="83" d="100"/>
          <a:sy n="83" d="100"/>
        </p:scale>
        <p:origin x="232" y="1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1" d="100"/>
          <a:sy n="91" d="100"/>
        </p:scale>
        <p:origin x="37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FE36D4-B224-4D49-A73E-0BF1A210728E}" type="datetimeFigureOut">
              <a:rPr lang="ko-KR" altLang="en-US" smtClean="0"/>
              <a:t>2026. 4. 13.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A661C5-6DF4-4E77-80CD-DCF64012DB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04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7304B-F283-4E41-A8FA-EB923FFBA2A0}" type="datetimeFigureOut">
              <a:rPr lang="ko-KR" altLang="en-US" smtClean="0"/>
              <a:t>2026. 4. 13.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B92502-E94D-4E8D-8986-81BE15697A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3319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/>
          <p:cNvSpPr txBox="1">
            <a:spLocks/>
          </p:cNvSpPr>
          <p:nvPr userDrawn="1"/>
        </p:nvSpPr>
        <p:spPr>
          <a:xfrm>
            <a:off x="11560552" y="6504396"/>
            <a:ext cx="490526" cy="233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6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8418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2218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932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슬라이드 번호 개체 틀 5"/>
          <p:cNvSpPr txBox="1">
            <a:spLocks/>
          </p:cNvSpPr>
          <p:nvPr userDrawn="1"/>
        </p:nvSpPr>
        <p:spPr>
          <a:xfrm>
            <a:off x="10775568" y="6262414"/>
            <a:ext cx="959232" cy="595586"/>
          </a:xfrm>
          <a:prstGeom prst="rect">
            <a:avLst/>
          </a:prstGeom>
        </p:spPr>
        <p:txBody>
          <a:bodyPr vert="horz" lIns="91447" tIns="45725" rIns="91447" bIns="45725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50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anose="02000703000000020004" pitchFamily="50" charset="-127"/>
              </a:rPr>
              <a:pPr marL="0" marR="0" lvl="0" indent="0" algn="r" defTabSz="91450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5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2" name="object 8"/>
          <p:cNvSpPr/>
          <p:nvPr userDrawn="1"/>
        </p:nvSpPr>
        <p:spPr>
          <a:xfrm>
            <a:off x="580644" y="6318503"/>
            <a:ext cx="11057890" cy="0"/>
          </a:xfrm>
          <a:custGeom>
            <a:avLst/>
            <a:gdLst/>
            <a:ahLst/>
            <a:cxnLst/>
            <a:rect l="l" t="t" r="r" b="b"/>
            <a:pathLst>
              <a:path w="11057890">
                <a:moveTo>
                  <a:pt x="0" y="0"/>
                </a:moveTo>
                <a:lnTo>
                  <a:pt x="11057509" y="0"/>
                </a:lnTo>
              </a:path>
            </a:pathLst>
          </a:custGeom>
          <a:ln w="6350">
            <a:solidFill>
              <a:srgbClr val="DBDBD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직사각형 12"/>
          <p:cNvSpPr/>
          <p:nvPr userDrawn="1"/>
        </p:nvSpPr>
        <p:spPr>
          <a:xfrm>
            <a:off x="491124" y="6428173"/>
            <a:ext cx="247215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Copyrightⓒ 2025 </a:t>
            </a:r>
            <a:r>
              <a:rPr lang="en-US" altLang="ko-KR" sz="800" dirty="0" err="1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TmaxSoft</a:t>
            </a:r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  All Rights Reserved.</a:t>
            </a:r>
          </a:p>
        </p:txBody>
      </p:sp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1317" y="338424"/>
            <a:ext cx="1157417" cy="11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568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A393CA-1A98-4091-B4F8-8CF82E62BE0C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8F8EB2-BEDB-4375-BAD0-E61FA200F7A6}" type="datetimeFigureOut">
              <a:rPr lang="ko-KR" altLang="en-US" smtClean="0"/>
              <a:pPr/>
              <a:t>2026. 4. 13.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646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8" r:id="rId2"/>
    <p:sldLayoutId id="2147483669" r:id="rId3"/>
    <p:sldLayoutId id="2147483670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>
            <a:extLst>
              <a:ext uri="{FF2B5EF4-FFF2-40B4-BE49-F238E27FC236}">
                <a16:creationId xmlns:a16="http://schemas.microsoft.com/office/drawing/2014/main" id="{B17FDCCC-8C00-BE14-6C30-E4A1A53C7947}"/>
              </a:ext>
            </a:extLst>
          </p:cNvPr>
          <p:cNvSpPr/>
          <p:nvPr/>
        </p:nvSpPr>
        <p:spPr>
          <a:xfrm>
            <a:off x="2290619" y="927741"/>
            <a:ext cx="4532085" cy="1412084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Web Application</a:t>
            </a:r>
            <a:endParaRPr dirty="0">
              <a:latin typeface="+mn-ea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C98B89C1-8638-4A4C-3479-893FB82FFEF0}"/>
              </a:ext>
            </a:extLst>
          </p:cNvPr>
          <p:cNvSpPr/>
          <p:nvPr/>
        </p:nvSpPr>
        <p:spPr>
          <a:xfrm>
            <a:off x="338442" y="1350319"/>
            <a:ext cx="1325880" cy="566928"/>
          </a:xfrm>
          <a:prstGeom prst="roundRect">
            <a:avLst/>
          </a:prstGeom>
          <a:solidFill>
            <a:srgbClr val="08427B"/>
          </a:solidFill>
          <a:ln w="12700">
            <a:solidFill>
              <a:srgbClr val="0842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8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PM / PO</a:t>
            </a:r>
            <a:endParaRPr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문서</a:t>
            </a:r>
            <a:r>
              <a:rPr lang="en-US" altLang="ko-KR" dirty="0">
                <a:latin typeface="+mn-ea"/>
              </a:rPr>
              <a:t>-</a:t>
            </a:r>
            <a:r>
              <a:rPr lang="ko-KR" altLang="en-US" dirty="0">
                <a:latin typeface="+mn-ea"/>
              </a:rPr>
              <a:t>코드 갭 분석 요청</a:t>
            </a:r>
            <a:endParaRPr lang="en-US" altLang="ko-KR"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결과 요약 확인</a:t>
            </a:r>
            <a:endParaRPr dirty="0">
              <a:latin typeface="+mn-ea"/>
            </a:endParaRPr>
          </a:p>
        </p:txBody>
      </p:sp>
      <p:sp>
        <p:nvSpPr>
          <p:cNvPr id="3" name="Key Feature">
            <a:extLst>
              <a:ext uri="{FF2B5EF4-FFF2-40B4-BE49-F238E27FC236}">
                <a16:creationId xmlns:a16="http://schemas.microsoft.com/office/drawing/2014/main" id="{1B514831-C999-BE40-20B8-7DB148880AE5}"/>
              </a:ext>
            </a:extLst>
          </p:cNvPr>
          <p:cNvSpPr/>
          <p:nvPr/>
        </p:nvSpPr>
        <p:spPr>
          <a:xfrm>
            <a:off x="444499" y="285750"/>
            <a:ext cx="411216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333"/>
              </a:lnSpc>
            </a:pP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문서</a:t>
            </a:r>
            <a:r>
              <a:rPr lang="en-US" altLang="ko-KR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-</a:t>
            </a: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코드 갭 분석</a:t>
            </a:r>
            <a:endParaRPr lang="en-US" altLang="ko-Kore-KR" sz="19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16437320-0CC8-AD67-9D91-4F328DA89A22}"/>
              </a:ext>
            </a:extLst>
          </p:cNvPr>
          <p:cNvSpPr/>
          <p:nvPr/>
        </p:nvSpPr>
        <p:spPr>
          <a:xfrm>
            <a:off x="2500580" y="1350319"/>
            <a:ext cx="150727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Web Console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갭 분석 요청 입력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결과 요약 표시</a:t>
            </a:r>
            <a:endParaRPr dirty="0">
              <a:latin typeface="+mn-ea"/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53701CB0-B34D-1947-D3D0-5AD7F451A319}"/>
              </a:ext>
            </a:extLst>
          </p:cNvPr>
          <p:cNvSpPr/>
          <p:nvPr/>
        </p:nvSpPr>
        <p:spPr>
          <a:xfrm>
            <a:off x="5100089" y="1350319"/>
            <a:ext cx="150727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Request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사용자 요청 수신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Gap Analyzer</a:t>
            </a:r>
            <a:r>
              <a:rPr lang="ko-KR" altLang="en-US" dirty="0">
                <a:latin typeface="+mn-ea"/>
              </a:rPr>
              <a:t>로 전달</a:t>
            </a:r>
            <a:endParaRPr dirty="0">
              <a:latin typeface="+mn-ea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66D2617-04AC-B25A-7DFB-76DDC8FBED75}"/>
              </a:ext>
            </a:extLst>
          </p:cNvPr>
          <p:cNvSpPr/>
          <p:nvPr/>
        </p:nvSpPr>
        <p:spPr>
          <a:xfrm>
            <a:off x="2781566" y="2954309"/>
            <a:ext cx="2668714" cy="1412084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Analysis Engine</a:t>
            </a:r>
            <a:endParaRPr dirty="0">
              <a:latin typeface="+mn-ea"/>
            </a:endParaRPr>
          </a:p>
        </p:txBody>
      </p:sp>
      <p:sp>
        <p:nvSpPr>
          <p:cNvPr id="8" name="Rectangle 9">
            <a:extLst>
              <a:ext uri="{FF2B5EF4-FFF2-40B4-BE49-F238E27FC236}">
                <a16:creationId xmlns:a16="http://schemas.microsoft.com/office/drawing/2014/main" id="{8332D79A-90A9-CAF0-799E-5588CD586488}"/>
              </a:ext>
            </a:extLst>
          </p:cNvPr>
          <p:cNvSpPr/>
          <p:nvPr/>
        </p:nvSpPr>
        <p:spPr>
          <a:xfrm>
            <a:off x="2990571" y="3376886"/>
            <a:ext cx="2244365" cy="773315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Gap Analyzer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스펙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코드 불일치 탐지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갭 유형 분류 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구현 누락 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 의도 불일치 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 부분 구현</a:t>
            </a:r>
            <a:r>
              <a:rPr lang="en-US" altLang="ko-KR" dirty="0">
                <a:latin typeface="+mn-ea"/>
              </a:rPr>
              <a:t>)</a:t>
            </a:r>
            <a:endParaRPr dirty="0">
              <a:latin typeface="+mn-ea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52C8FA4D-17EB-3977-63ED-4E2EEDFE8821}"/>
              </a:ext>
            </a:extLst>
          </p:cNvPr>
          <p:cNvSpPr/>
          <p:nvPr/>
        </p:nvSpPr>
        <p:spPr>
          <a:xfrm>
            <a:off x="7065526" y="2745050"/>
            <a:ext cx="4820893" cy="2036992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Knowledge Base</a:t>
            </a:r>
            <a:endParaRPr dirty="0">
              <a:latin typeface="+mn-ea"/>
            </a:endParaRPr>
          </a:p>
        </p:txBody>
      </p:sp>
      <p:sp>
        <p:nvSpPr>
          <p:cNvPr id="11" name="Can 18">
            <a:extLst>
              <a:ext uri="{FF2B5EF4-FFF2-40B4-BE49-F238E27FC236}">
                <a16:creationId xmlns:a16="http://schemas.microsoft.com/office/drawing/2014/main" id="{47254D00-8155-2A9A-2EDD-56F85213231A}"/>
              </a:ext>
            </a:extLst>
          </p:cNvPr>
          <p:cNvSpPr/>
          <p:nvPr/>
        </p:nvSpPr>
        <p:spPr>
          <a:xfrm>
            <a:off x="10248478" y="3060256"/>
            <a:ext cx="1499294" cy="617883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구조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지식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그래프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문서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코드 추적 관계</a:t>
            </a:r>
            <a:endParaRPr lang="en-US" altLang="ko-KR"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갭 분석 결과 적재 대상</a:t>
            </a:r>
            <a:endParaRPr dirty="0">
              <a:latin typeface="+mn-ea"/>
            </a:endParaRPr>
          </a:p>
        </p:txBody>
      </p:sp>
      <p:sp>
        <p:nvSpPr>
          <p:cNvPr id="12" name="Can 19">
            <a:extLst>
              <a:ext uri="{FF2B5EF4-FFF2-40B4-BE49-F238E27FC236}">
                <a16:creationId xmlns:a16="http://schemas.microsoft.com/office/drawing/2014/main" id="{91BBA072-2808-C6FB-B77D-DD8DAB04B5DF}"/>
              </a:ext>
            </a:extLst>
          </p:cNvPr>
          <p:cNvSpPr/>
          <p:nvPr/>
        </p:nvSpPr>
        <p:spPr>
          <a:xfrm>
            <a:off x="10248477" y="3851706"/>
            <a:ext cx="1499295" cy="61788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비즈니스 규칙 카탈로그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비즈니스 규칙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규칙</a:t>
            </a:r>
            <a:r>
              <a:rPr lang="en-US" altLang="ko-KR" dirty="0">
                <a:latin typeface="+mn-ea"/>
              </a:rPr>
              <a:t>-</a:t>
            </a:r>
            <a:r>
              <a:rPr lang="ko-KR" altLang="en-US" dirty="0">
                <a:latin typeface="+mn-ea"/>
              </a:rPr>
              <a:t>코드 링크</a:t>
            </a:r>
            <a:endParaRPr dirty="0">
              <a:latin typeface="+mn-ea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01112643-98D1-FEBA-430D-5B941034F6A7}"/>
              </a:ext>
            </a:extLst>
          </p:cNvPr>
          <p:cNvSpPr/>
          <p:nvPr/>
        </p:nvSpPr>
        <p:spPr>
          <a:xfrm>
            <a:off x="7223662" y="3369197"/>
            <a:ext cx="1769748" cy="791967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Knowledge Graph Facade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추적 그래프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비즈니스 규칙 카탈로그 조회 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갭 분석 결과 적재 통합 </a:t>
            </a:r>
            <a:r>
              <a:rPr lang="ko-KR" altLang="en-US" dirty="0" err="1">
                <a:latin typeface="+mn-ea"/>
              </a:rPr>
              <a:t>진입점</a:t>
            </a:r>
            <a:endParaRPr dirty="0">
              <a:latin typeface="+mn-ea"/>
            </a:endParaRPr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C3053BF4-2D53-3A24-EEFB-F3947D40DFEF}"/>
              </a:ext>
            </a:extLst>
          </p:cNvPr>
          <p:cNvSpPr/>
          <p:nvPr/>
        </p:nvSpPr>
        <p:spPr>
          <a:xfrm>
            <a:off x="3231227" y="4845113"/>
            <a:ext cx="1740632" cy="1213030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Workflow &amp; Integration</a:t>
            </a:r>
            <a:endParaRPr dirty="0">
              <a:latin typeface="+mn-ea"/>
            </a:endParaRPr>
          </a:p>
        </p:txBody>
      </p:sp>
      <p:sp>
        <p:nvSpPr>
          <p:cNvPr id="16" name="Rectangle 9">
            <a:extLst>
              <a:ext uri="{FF2B5EF4-FFF2-40B4-BE49-F238E27FC236}">
                <a16:creationId xmlns:a16="http://schemas.microsoft.com/office/drawing/2014/main" id="{9508A606-DFA6-81FC-8BCC-F9B04F00DAAE}"/>
              </a:ext>
            </a:extLst>
          </p:cNvPr>
          <p:cNvSpPr/>
          <p:nvPr/>
        </p:nvSpPr>
        <p:spPr>
          <a:xfrm>
            <a:off x="3422315" y="5155171"/>
            <a:ext cx="1344442" cy="791967"/>
          </a:xfrm>
          <a:prstGeom prst="rect">
            <a:avLst/>
          </a:prstGeom>
          <a:solidFill>
            <a:srgbClr val="85BBF0"/>
          </a:solidFill>
          <a:ln w="12700">
            <a:solidFill>
              <a:srgbClr val="85B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Report Formatter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갭 유형별 </a:t>
            </a:r>
            <a:r>
              <a:rPr lang="ko-KR" altLang="en-US" dirty="0" err="1">
                <a:latin typeface="+mn-ea"/>
              </a:rPr>
              <a:t>포맷팅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코드 위치 링크 구성</a:t>
            </a:r>
            <a:endParaRPr dirty="0">
              <a:latin typeface="+mn-ea"/>
            </a:endParaRPr>
          </a:p>
        </p:txBody>
      </p:sp>
      <p:cxnSp>
        <p:nvCxnSpPr>
          <p:cNvPr id="17" name="직선 화살표 연결선 8">
            <a:extLst>
              <a:ext uri="{FF2B5EF4-FFF2-40B4-BE49-F238E27FC236}">
                <a16:creationId xmlns:a16="http://schemas.microsoft.com/office/drawing/2014/main" id="{633E0A3A-4082-4BA6-59C1-33C1188F2F0B}"/>
              </a:ext>
            </a:extLst>
          </p:cNvPr>
          <p:cNvCxnSpPr>
            <a:cxnSpLocks/>
          </p:cNvCxnSpPr>
          <p:nvPr/>
        </p:nvCxnSpPr>
        <p:spPr>
          <a:xfrm>
            <a:off x="1664322" y="1485502"/>
            <a:ext cx="836258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8">
            <a:extLst>
              <a:ext uri="{FF2B5EF4-FFF2-40B4-BE49-F238E27FC236}">
                <a16:creationId xmlns:a16="http://schemas.microsoft.com/office/drawing/2014/main" id="{46DCF740-668E-FEE3-2522-759F7A526C7B}"/>
              </a:ext>
            </a:extLst>
          </p:cNvPr>
          <p:cNvCxnSpPr>
            <a:cxnSpLocks/>
          </p:cNvCxnSpPr>
          <p:nvPr/>
        </p:nvCxnSpPr>
        <p:spPr>
          <a:xfrm flipH="1">
            <a:off x="1664322" y="1769935"/>
            <a:ext cx="836258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72173CC-9A71-71A7-6DE7-BAE6C36AF128}"/>
              </a:ext>
            </a:extLst>
          </p:cNvPr>
          <p:cNvSpPr txBox="1"/>
          <p:nvPr/>
        </p:nvSpPr>
        <p:spPr>
          <a:xfrm>
            <a:off x="1664322" y="1270058"/>
            <a:ext cx="83625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분석 요청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08A85B-9BEB-5C8C-0AC2-A6A7A0ADA4F6}"/>
              </a:ext>
            </a:extLst>
          </p:cNvPr>
          <p:cNvSpPr txBox="1"/>
          <p:nvPr/>
        </p:nvSpPr>
        <p:spPr>
          <a:xfrm>
            <a:off x="1606923" y="1776960"/>
            <a:ext cx="9474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유형별 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결과 요약 표시</a:t>
            </a:r>
          </a:p>
        </p:txBody>
      </p:sp>
      <p:cxnSp>
        <p:nvCxnSpPr>
          <p:cNvPr id="27" name="직선 화살표 연결선 8">
            <a:extLst>
              <a:ext uri="{FF2B5EF4-FFF2-40B4-BE49-F238E27FC236}">
                <a16:creationId xmlns:a16="http://schemas.microsoft.com/office/drawing/2014/main" id="{E8FDFFBB-FFE2-02EA-CCC7-365AC3E7EFF8}"/>
              </a:ext>
            </a:extLst>
          </p:cNvPr>
          <p:cNvCxnSpPr>
            <a:cxnSpLocks/>
          </p:cNvCxnSpPr>
          <p:nvPr/>
        </p:nvCxnSpPr>
        <p:spPr>
          <a:xfrm>
            <a:off x="4007850" y="1485502"/>
            <a:ext cx="109223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8">
            <a:extLst>
              <a:ext uri="{FF2B5EF4-FFF2-40B4-BE49-F238E27FC236}">
                <a16:creationId xmlns:a16="http://schemas.microsoft.com/office/drawing/2014/main" id="{9C05D33B-17C4-DAA2-9CDF-FB318CAF4F6B}"/>
              </a:ext>
            </a:extLst>
          </p:cNvPr>
          <p:cNvCxnSpPr>
            <a:cxnSpLocks/>
          </p:cNvCxnSpPr>
          <p:nvPr/>
        </p:nvCxnSpPr>
        <p:spPr>
          <a:xfrm flipH="1">
            <a:off x="4007372" y="1765589"/>
            <a:ext cx="1092239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A8A3AEA-2967-6D7E-61B5-5B4A0A169832}"/>
              </a:ext>
            </a:extLst>
          </p:cNvPr>
          <p:cNvSpPr txBox="1"/>
          <p:nvPr/>
        </p:nvSpPr>
        <p:spPr>
          <a:xfrm>
            <a:off x="4135601" y="1158040"/>
            <a:ext cx="836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분석 실행 요청 전달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4ABE7A2-F9E0-F4FE-5E6D-7677AA05059F}"/>
              </a:ext>
            </a:extLst>
          </p:cNvPr>
          <p:cNvSpPr txBox="1"/>
          <p:nvPr/>
        </p:nvSpPr>
        <p:spPr>
          <a:xfrm>
            <a:off x="4135601" y="1754478"/>
            <a:ext cx="836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유형별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 결과 요약</a:t>
            </a:r>
          </a:p>
        </p:txBody>
      </p:sp>
      <p:cxnSp>
        <p:nvCxnSpPr>
          <p:cNvPr id="39" name="직선 화살표 연결선 8">
            <a:extLst>
              <a:ext uri="{FF2B5EF4-FFF2-40B4-BE49-F238E27FC236}">
                <a16:creationId xmlns:a16="http://schemas.microsoft.com/office/drawing/2014/main" id="{7993E395-76D5-8AE5-9E3B-70BA4301EA68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 flipH="1">
            <a:off x="2990570" y="1917248"/>
            <a:ext cx="2863153" cy="1846297"/>
          </a:xfrm>
          <a:prstGeom prst="bentConnector4">
            <a:avLst>
              <a:gd name="adj1" fmla="val -16040"/>
              <a:gd name="adj2" fmla="val 60471"/>
            </a:avLst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66FA038-A5A6-47F6-F9B5-C0CA6F9D616B}"/>
              </a:ext>
            </a:extLst>
          </p:cNvPr>
          <p:cNvSpPr txBox="1"/>
          <p:nvPr/>
        </p:nvSpPr>
        <p:spPr>
          <a:xfrm>
            <a:off x="3382066" y="2431623"/>
            <a:ext cx="185287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분석 실행 요청 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 결과 요약 반환</a:t>
            </a:r>
          </a:p>
        </p:txBody>
      </p:sp>
      <p:cxnSp>
        <p:nvCxnSpPr>
          <p:cNvPr id="54" name="직선 화살표 연결선 8">
            <a:extLst>
              <a:ext uri="{FF2B5EF4-FFF2-40B4-BE49-F238E27FC236}">
                <a16:creationId xmlns:a16="http://schemas.microsoft.com/office/drawing/2014/main" id="{3A9CEAE9-01DC-C66B-06A6-CB8B7F9C4669}"/>
              </a:ext>
            </a:extLst>
          </p:cNvPr>
          <p:cNvCxnSpPr>
            <a:cxnSpLocks/>
          </p:cNvCxnSpPr>
          <p:nvPr/>
        </p:nvCxnSpPr>
        <p:spPr>
          <a:xfrm flipV="1">
            <a:off x="5234936" y="3607142"/>
            <a:ext cx="1987861" cy="0"/>
          </a:xfrm>
          <a:prstGeom prst="straightConnector1">
            <a:avLst/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F32BEAD2-671B-B729-0A96-4EDCBC03534E}"/>
              </a:ext>
            </a:extLst>
          </p:cNvPr>
          <p:cNvSpPr txBox="1"/>
          <p:nvPr/>
        </p:nvSpPr>
        <p:spPr>
          <a:xfrm>
            <a:off x="5451145" y="3147470"/>
            <a:ext cx="1548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추적 그래프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 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비즈니스 규칙 카탈로그 조회 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 조회 결과 반환</a:t>
            </a:r>
          </a:p>
        </p:txBody>
      </p:sp>
      <p:cxnSp>
        <p:nvCxnSpPr>
          <p:cNvPr id="71" name="직선 화살표 연결선 8">
            <a:extLst>
              <a:ext uri="{FF2B5EF4-FFF2-40B4-BE49-F238E27FC236}">
                <a16:creationId xmlns:a16="http://schemas.microsoft.com/office/drawing/2014/main" id="{FC29DD99-5DCF-6F51-A55C-57940A5C1A7F}"/>
              </a:ext>
            </a:extLst>
          </p:cNvPr>
          <p:cNvCxnSpPr>
            <a:cxnSpLocks/>
          </p:cNvCxnSpPr>
          <p:nvPr/>
        </p:nvCxnSpPr>
        <p:spPr>
          <a:xfrm flipV="1">
            <a:off x="5234936" y="3941501"/>
            <a:ext cx="1987861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84EB17C1-17EB-7C97-5EBD-EBD7AB66A410}"/>
              </a:ext>
            </a:extLst>
          </p:cNvPr>
          <p:cNvSpPr txBox="1"/>
          <p:nvPr/>
        </p:nvSpPr>
        <p:spPr>
          <a:xfrm>
            <a:off x="5698876" y="3950855"/>
            <a:ext cx="105261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분석 결과 적재</a:t>
            </a:r>
          </a:p>
        </p:txBody>
      </p:sp>
      <p:cxnSp>
        <p:nvCxnSpPr>
          <p:cNvPr id="83" name="직선 화살표 연결선 8">
            <a:extLst>
              <a:ext uri="{FF2B5EF4-FFF2-40B4-BE49-F238E27FC236}">
                <a16:creationId xmlns:a16="http://schemas.microsoft.com/office/drawing/2014/main" id="{A26418A5-1418-AC86-E216-083325D43C56}"/>
              </a:ext>
            </a:extLst>
          </p:cNvPr>
          <p:cNvCxnSpPr>
            <a:cxnSpLocks/>
            <a:stCxn id="13" idx="0"/>
          </p:cNvCxnSpPr>
          <p:nvPr/>
        </p:nvCxnSpPr>
        <p:spPr>
          <a:xfrm rot="5400000" flipH="1" flipV="1">
            <a:off x="9107945" y="2228666"/>
            <a:ext cx="141122" cy="2139941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">
            <a:extLst>
              <a:ext uri="{FF2B5EF4-FFF2-40B4-BE49-F238E27FC236}">
                <a16:creationId xmlns:a16="http://schemas.microsoft.com/office/drawing/2014/main" id="{2545702B-6B56-5DD5-22A5-F24A3B064A05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9107945" y="3161754"/>
            <a:ext cx="141122" cy="2139941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8172ECAA-8732-7C72-321E-42ADC8D0F95F}"/>
              </a:ext>
            </a:extLst>
          </p:cNvPr>
          <p:cNvSpPr txBox="1"/>
          <p:nvPr/>
        </p:nvSpPr>
        <p:spPr>
          <a:xfrm>
            <a:off x="8483042" y="4320058"/>
            <a:ext cx="1176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비즈니스 규칙 </a:t>
            </a:r>
            <a:endParaRPr kumimoji="1" lang="en-US" altLang="ko-KR" sz="800" dirty="0"/>
          </a:p>
          <a:p>
            <a:pPr algn="ctr"/>
            <a:r>
              <a:rPr kumimoji="1" lang="ko-KR" altLang="en-US" sz="800" dirty="0"/>
              <a:t>카탈로그 읽기</a:t>
            </a:r>
          </a:p>
        </p:txBody>
      </p:sp>
      <p:cxnSp>
        <p:nvCxnSpPr>
          <p:cNvPr id="96" name="직선 화살표 연결선 8">
            <a:extLst>
              <a:ext uri="{FF2B5EF4-FFF2-40B4-BE49-F238E27FC236}">
                <a16:creationId xmlns:a16="http://schemas.microsoft.com/office/drawing/2014/main" id="{F421DCFD-91BB-7967-DD12-D4A5C6AF760A}"/>
              </a:ext>
            </a:extLst>
          </p:cNvPr>
          <p:cNvCxnSpPr>
            <a:cxnSpLocks/>
          </p:cNvCxnSpPr>
          <p:nvPr/>
        </p:nvCxnSpPr>
        <p:spPr>
          <a:xfrm>
            <a:off x="8993410" y="3537017"/>
            <a:ext cx="1255067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4752F8DC-0833-F719-42E2-A9DEE89A0EF6}"/>
              </a:ext>
            </a:extLst>
          </p:cNvPr>
          <p:cNvSpPr txBox="1"/>
          <p:nvPr/>
        </p:nvSpPr>
        <p:spPr>
          <a:xfrm>
            <a:off x="8444502" y="3012630"/>
            <a:ext cx="11764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추적 그래프 읽기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EF76146-370C-3826-7ABB-45B8477C3EA7}"/>
              </a:ext>
            </a:extLst>
          </p:cNvPr>
          <p:cNvSpPr txBox="1"/>
          <p:nvPr/>
        </p:nvSpPr>
        <p:spPr>
          <a:xfrm>
            <a:off x="9144294" y="3323191"/>
            <a:ext cx="85276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결과 저장</a:t>
            </a:r>
          </a:p>
        </p:txBody>
      </p:sp>
      <p:cxnSp>
        <p:nvCxnSpPr>
          <p:cNvPr id="103" name="직선 화살표 연결선 8">
            <a:extLst>
              <a:ext uri="{FF2B5EF4-FFF2-40B4-BE49-F238E27FC236}">
                <a16:creationId xmlns:a16="http://schemas.microsoft.com/office/drawing/2014/main" id="{C04F3A26-9A6A-EDF8-9714-42B988420FB1}"/>
              </a:ext>
            </a:extLst>
          </p:cNvPr>
          <p:cNvCxnSpPr>
            <a:cxnSpLocks/>
            <a:endCxn id="16" idx="1"/>
          </p:cNvCxnSpPr>
          <p:nvPr/>
        </p:nvCxnSpPr>
        <p:spPr>
          <a:xfrm rot="5400000">
            <a:off x="2824869" y="4747647"/>
            <a:ext cx="1400954" cy="206062"/>
          </a:xfrm>
          <a:prstGeom prst="bentConnector4">
            <a:avLst>
              <a:gd name="adj1" fmla="val 35867"/>
              <a:gd name="adj2" fmla="val 314878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직선 화살표 연결선 8">
            <a:extLst>
              <a:ext uri="{FF2B5EF4-FFF2-40B4-BE49-F238E27FC236}">
                <a16:creationId xmlns:a16="http://schemas.microsoft.com/office/drawing/2014/main" id="{1A4E04A9-75AD-758C-D0FB-A5576861D2CB}"/>
              </a:ext>
            </a:extLst>
          </p:cNvPr>
          <p:cNvCxnSpPr>
            <a:cxnSpLocks/>
            <a:stCxn id="16" idx="3"/>
          </p:cNvCxnSpPr>
          <p:nvPr/>
        </p:nvCxnSpPr>
        <p:spPr>
          <a:xfrm flipH="1" flipV="1">
            <a:off x="4524879" y="4150201"/>
            <a:ext cx="241878" cy="1400954"/>
          </a:xfrm>
          <a:prstGeom prst="bentConnector4">
            <a:avLst>
              <a:gd name="adj1" fmla="val -172843"/>
              <a:gd name="adj2" fmla="val 64133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E9953242-B1A3-1950-B167-5EF1BC7B92A2}"/>
              </a:ext>
            </a:extLst>
          </p:cNvPr>
          <p:cNvSpPr txBox="1"/>
          <p:nvPr/>
        </p:nvSpPr>
        <p:spPr>
          <a:xfrm>
            <a:off x="1838049" y="4915674"/>
            <a:ext cx="12049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분류 결과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리포트 구성 요청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83F3147-4698-08F2-8BEA-FD2578422020}"/>
              </a:ext>
            </a:extLst>
          </p:cNvPr>
          <p:cNvSpPr txBox="1"/>
          <p:nvPr/>
        </p:nvSpPr>
        <p:spPr>
          <a:xfrm>
            <a:off x="5106236" y="4944301"/>
            <a:ext cx="12049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갭 리포트 초안 반환</a:t>
            </a:r>
          </a:p>
        </p:txBody>
      </p:sp>
    </p:spTree>
    <p:extLst>
      <p:ext uri="{BB962C8B-B14F-4D97-AF65-F5344CB8AC3E}">
        <p14:creationId xmlns:p14="http://schemas.microsoft.com/office/powerpoint/2010/main" val="3390385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10696</TotalTime>
  <Words>174</Words>
  <Application>Microsoft Macintosh PowerPoint</Application>
  <PresentationFormat>와이드스크린</PresentationFormat>
  <Paragraphs>44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Pretendard SemiBold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Tmax</dc:creator>
  <cp:lastModifiedBy>배 석현</cp:lastModifiedBy>
  <cp:revision>292</cp:revision>
  <cp:lastPrinted>2026-01-09T08:14:09Z</cp:lastPrinted>
  <dcterms:created xsi:type="dcterms:W3CDTF">2022-09-15T01:21:24Z</dcterms:created>
  <dcterms:modified xsi:type="dcterms:W3CDTF">2026-04-13T08:28:30Z</dcterms:modified>
</cp:coreProperties>
</file>